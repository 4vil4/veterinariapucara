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Didact Gothic" panose="020B0604020202020204" charset="0"/>
      <p:regular r:id="rId24"/>
    </p:embeddedFont>
    <p:embeddedFont>
      <p:font typeface="DM Sans" panose="020B0604020202020204" charset="0"/>
      <p:regular r:id="rId25"/>
    </p:embeddedFont>
    <p:embeddedFont>
      <p:font typeface="DM Sans Bold" panose="020B0604020202020204" charset="0"/>
      <p:regular r:id="rId26"/>
    </p:embeddedFont>
    <p:embeddedFont>
      <p:font typeface="DM Sans Italics" panose="020B0604020202020204" charset="0"/>
      <p:regular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Montserrat Bold" panose="00000800000000000000" charset="0"/>
      <p:regular r:id="rId32"/>
    </p:embeddedFont>
    <p:embeddedFont>
      <p:font typeface="Oswald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5.pn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18" Type="http://schemas.openxmlformats.org/officeDocument/2006/relationships/image" Target="../media/image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17" Type="http://schemas.openxmlformats.org/officeDocument/2006/relationships/image" Target="../media/image8.png"/><Relationship Id="rId2" Type="http://schemas.openxmlformats.org/officeDocument/2006/relationships/image" Target="../media/image20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4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Relationship Id="rId1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svg"/><Relationship Id="rId3" Type="http://schemas.openxmlformats.org/officeDocument/2006/relationships/image" Target="../media/image4.svg"/><Relationship Id="rId7" Type="http://schemas.openxmlformats.org/officeDocument/2006/relationships/image" Target="../media/image35.svg"/><Relationship Id="rId12" Type="http://schemas.openxmlformats.org/officeDocument/2006/relationships/image" Target="../media/image40.png"/><Relationship Id="rId2" Type="http://schemas.openxmlformats.org/officeDocument/2006/relationships/image" Target="../media/image3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5" Type="http://schemas.openxmlformats.org/officeDocument/2006/relationships/image" Target="../media/image8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Relationship Id="rId1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18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eg"/><Relationship Id="rId11" Type="http://schemas.openxmlformats.org/officeDocument/2006/relationships/image" Target="../media/image6.png"/><Relationship Id="rId5" Type="http://schemas.openxmlformats.org/officeDocument/2006/relationships/image" Target="../media/image15.png"/><Relationship Id="rId10" Type="http://schemas.openxmlformats.org/officeDocument/2006/relationships/image" Target="../media/image8.png"/><Relationship Id="rId4" Type="http://schemas.openxmlformats.org/officeDocument/2006/relationships/image" Target="../media/image19.sv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5.jpe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15.png"/><Relationship Id="rId10" Type="http://schemas.openxmlformats.org/officeDocument/2006/relationships/image" Target="../media/image6.png"/><Relationship Id="rId4" Type="http://schemas.openxmlformats.org/officeDocument/2006/relationships/image" Target="../media/image4.sv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8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15.png"/><Relationship Id="rId10" Type="http://schemas.openxmlformats.org/officeDocument/2006/relationships/image" Target="../media/image6.png"/><Relationship Id="rId4" Type="http://schemas.openxmlformats.org/officeDocument/2006/relationships/image" Target="../media/image19.svg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6.svg"/><Relationship Id="rId7" Type="http://schemas.openxmlformats.org/officeDocument/2006/relationships/image" Target="../media/image60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10" Type="http://schemas.openxmlformats.org/officeDocument/2006/relationships/image" Target="../media/image8.png"/><Relationship Id="rId4" Type="http://schemas.openxmlformats.org/officeDocument/2006/relationships/image" Target="../media/image57.png"/><Relationship Id="rId9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38022" y="0"/>
            <a:ext cx="20211332" cy="11622171"/>
          </a:xfrm>
          <a:custGeom>
            <a:avLst/>
            <a:gdLst/>
            <a:ahLst/>
            <a:cxnLst/>
            <a:rect l="l" t="t" r="r" b="b"/>
            <a:pathLst>
              <a:path w="20211332" h="11622171">
                <a:moveTo>
                  <a:pt x="0" y="0"/>
                </a:moveTo>
                <a:lnTo>
                  <a:pt x="20211332" y="0"/>
                </a:lnTo>
                <a:lnTo>
                  <a:pt x="20211332" y="11622171"/>
                </a:lnTo>
                <a:lnTo>
                  <a:pt x="0" y="11622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43" r="-9743"/>
            </a:stretch>
          </a:blipFill>
        </p:spPr>
      </p:sp>
      <p:sp>
        <p:nvSpPr>
          <p:cNvPr id="4" name="Freeform 4"/>
          <p:cNvSpPr/>
          <p:nvPr/>
        </p:nvSpPr>
        <p:spPr>
          <a:xfrm rot="7659121">
            <a:off x="15091031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734465" y="-3447214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993075" y="2459589"/>
            <a:ext cx="10749137" cy="3619632"/>
            <a:chOff x="0" y="0"/>
            <a:chExt cx="2075833" cy="6990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5833" cy="699010"/>
            </a:xfrm>
            <a:custGeom>
              <a:avLst/>
              <a:gdLst/>
              <a:ahLst/>
              <a:cxnLst/>
              <a:rect l="l" t="t" r="r" b="b"/>
              <a:pathLst>
                <a:path w="2075833" h="699010">
                  <a:moveTo>
                    <a:pt x="0" y="0"/>
                  </a:moveTo>
                  <a:lnTo>
                    <a:pt x="2075833" y="0"/>
                  </a:lnTo>
                  <a:lnTo>
                    <a:pt x="2075833" y="699010"/>
                  </a:lnTo>
                  <a:lnTo>
                    <a:pt x="0" y="6990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5833" cy="718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18740" y="8183806"/>
            <a:ext cx="2916224" cy="1822640"/>
          </a:xfrm>
          <a:custGeom>
            <a:avLst/>
            <a:gdLst/>
            <a:ahLst/>
            <a:cxnLst/>
            <a:rect l="l" t="t" r="r" b="b"/>
            <a:pathLst>
              <a:path w="2916224" h="1822640">
                <a:moveTo>
                  <a:pt x="0" y="0"/>
                </a:moveTo>
                <a:lnTo>
                  <a:pt x="2916225" y="0"/>
                </a:lnTo>
                <a:lnTo>
                  <a:pt x="2916225" y="1822641"/>
                </a:lnTo>
                <a:lnTo>
                  <a:pt x="0" y="18226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280095" y="8510153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4"/>
                </a:lnTo>
                <a:lnTo>
                  <a:pt x="0" y="14962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029536" y="2861806"/>
            <a:ext cx="10676216" cy="3526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5"/>
              </a:lnSpc>
            </a:pPr>
            <a:r>
              <a:rPr lang="en-US" sz="5076" b="1" spc="497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“SITIO WEB PARA CLINICA VETERINARIA PUCARA”</a:t>
            </a:r>
          </a:p>
          <a:p>
            <a:pPr algn="ctr">
              <a:lnSpc>
                <a:spcPts val="7005"/>
              </a:lnSpc>
            </a:pPr>
            <a:r>
              <a:rPr lang="en-US" sz="5076" b="1" spc="497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PRESENTACIÓN FINAL CAPSTONE</a:t>
            </a:r>
          </a:p>
          <a:p>
            <a:pPr algn="ctr">
              <a:lnSpc>
                <a:spcPts val="7005"/>
              </a:lnSpc>
            </a:pPr>
            <a:endParaRPr lang="en-US" sz="5076" b="1" spc="497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674082" y="6720720"/>
            <a:ext cx="9582489" cy="350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2"/>
              </a:lnSpc>
            </a:pPr>
            <a:r>
              <a:rPr lang="en-US" sz="2276" b="1" spc="12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EQUIPO ALUMNOS</a:t>
            </a:r>
          </a:p>
          <a:p>
            <a:pPr algn="ctr">
              <a:lnSpc>
                <a:spcPts val="3142"/>
              </a:lnSpc>
            </a:pPr>
            <a:r>
              <a:rPr lang="en-US" sz="2276" spc="12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Mario Garrido Apellido</a:t>
            </a:r>
          </a:p>
          <a:p>
            <a:pPr algn="ctr">
              <a:lnSpc>
                <a:spcPts val="3142"/>
              </a:lnSpc>
            </a:pPr>
            <a:r>
              <a:rPr lang="en-US" sz="2276" spc="12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Saúl Ávila Bustos</a:t>
            </a:r>
          </a:p>
          <a:p>
            <a:pPr algn="ctr">
              <a:lnSpc>
                <a:spcPts val="3142"/>
              </a:lnSpc>
            </a:pPr>
            <a:endParaRPr lang="en-US" sz="2276" spc="120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3142"/>
              </a:lnSpc>
            </a:pPr>
            <a:r>
              <a:rPr lang="en-US" sz="2276" b="1" spc="12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DUOC UC SEDE SAN BERNARDO </a:t>
            </a:r>
          </a:p>
          <a:p>
            <a:pPr algn="ctr">
              <a:lnSpc>
                <a:spcPts val="3142"/>
              </a:lnSpc>
            </a:pPr>
            <a:r>
              <a:rPr lang="en-US" sz="2276" spc="12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ESCUELA DE INFORMÁTICA Y TELECOMUNICACIONES</a:t>
            </a:r>
          </a:p>
          <a:p>
            <a:pPr algn="ctr">
              <a:lnSpc>
                <a:spcPts val="3142"/>
              </a:lnSpc>
            </a:pPr>
            <a:r>
              <a:rPr lang="en-US" sz="2276" spc="12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INGENIERÍA EN INFORMÁTICA</a:t>
            </a:r>
          </a:p>
          <a:p>
            <a:pPr algn="ctr">
              <a:lnSpc>
                <a:spcPts val="3142"/>
              </a:lnSpc>
            </a:pPr>
            <a:r>
              <a:rPr lang="en-US" sz="2276" spc="12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  <a:p>
            <a:pPr algn="ctr">
              <a:lnSpc>
                <a:spcPts val="3142"/>
              </a:lnSpc>
            </a:pPr>
            <a:endParaRPr lang="en-US" sz="2276" spc="120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61666" y="0"/>
            <a:ext cx="20211332" cy="10287000"/>
          </a:xfrm>
          <a:custGeom>
            <a:avLst/>
            <a:gdLst/>
            <a:ahLst/>
            <a:cxnLst/>
            <a:rect l="l" t="t" r="r" b="b"/>
            <a:pathLst>
              <a:path w="20211332" h="10287000">
                <a:moveTo>
                  <a:pt x="0" y="0"/>
                </a:moveTo>
                <a:lnTo>
                  <a:pt x="20211332" y="0"/>
                </a:lnTo>
                <a:lnTo>
                  <a:pt x="202113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-2880" r="-2880"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065152" y="4736021"/>
            <a:ext cx="6454910" cy="3872946"/>
            <a:chOff x="0" y="0"/>
            <a:chExt cx="6350000" cy="381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4"/>
              <a:stretch>
                <a:fillRect l="-4975" r="-497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5715000" y="19050"/>
                  </a:moveTo>
                  <a:cubicBezTo>
                    <a:pt x="6054090" y="19050"/>
                    <a:pt x="6330950" y="295910"/>
                    <a:pt x="6330950" y="635000"/>
                  </a:cubicBezTo>
                  <a:lnTo>
                    <a:pt x="6330950" y="3175000"/>
                  </a:lnTo>
                  <a:cubicBezTo>
                    <a:pt x="6330950" y="3514090"/>
                    <a:pt x="6054090" y="3790950"/>
                    <a:pt x="5715000" y="3790950"/>
                  </a:cubicBezTo>
                  <a:lnTo>
                    <a:pt x="635000" y="3790950"/>
                  </a:lnTo>
                  <a:cubicBezTo>
                    <a:pt x="295910" y="3790950"/>
                    <a:pt x="19050" y="3514090"/>
                    <a:pt x="19050" y="3175000"/>
                  </a:cubicBezTo>
                  <a:lnTo>
                    <a:pt x="19050" y="635000"/>
                  </a:lnTo>
                  <a:cubicBezTo>
                    <a:pt x="19050" y="295910"/>
                    <a:pt x="295910" y="19050"/>
                    <a:pt x="635000" y="19050"/>
                  </a:cubicBezTo>
                  <a:lnTo>
                    <a:pt x="5715000" y="19050"/>
                  </a:lnTo>
                  <a:moveTo>
                    <a:pt x="5715000" y="0"/>
                  </a:moveTo>
                  <a:lnTo>
                    <a:pt x="635000" y="0"/>
                  </a:lnTo>
                  <a:cubicBezTo>
                    <a:pt x="284480" y="0"/>
                    <a:pt x="0" y="284480"/>
                    <a:pt x="0" y="635000"/>
                  </a:cubicBezTo>
                  <a:lnTo>
                    <a:pt x="0" y="3175000"/>
                  </a:lnTo>
                  <a:cubicBezTo>
                    <a:pt x="0" y="3525520"/>
                    <a:pt x="284480" y="3810000"/>
                    <a:pt x="635000" y="3810000"/>
                  </a:cubicBezTo>
                  <a:lnTo>
                    <a:pt x="5715000" y="3810000"/>
                  </a:lnTo>
                  <a:cubicBezTo>
                    <a:pt x="6065520" y="3810000"/>
                    <a:pt x="6350000" y="3525520"/>
                    <a:pt x="6350000" y="3175000"/>
                  </a:cubicBezTo>
                  <a:lnTo>
                    <a:pt x="6350000" y="635000"/>
                  </a:lnTo>
                  <a:cubicBezTo>
                    <a:pt x="6350000" y="284480"/>
                    <a:pt x="6065520" y="0"/>
                    <a:pt x="5715000" y="0"/>
                  </a:cubicBezTo>
                  <a:lnTo>
                    <a:pt x="571500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</p:grpSp>
      <p:sp>
        <p:nvSpPr>
          <p:cNvPr id="7" name="Freeform 7"/>
          <p:cNvSpPr/>
          <p:nvPr/>
        </p:nvSpPr>
        <p:spPr>
          <a:xfrm rot="7659121">
            <a:off x="15091031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092464" y="1028700"/>
            <a:ext cx="5650621" cy="1629614"/>
            <a:chOff x="0" y="0"/>
            <a:chExt cx="1091227" cy="3147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1227" cy="314705"/>
            </a:xfrm>
            <a:custGeom>
              <a:avLst/>
              <a:gdLst/>
              <a:ahLst/>
              <a:cxnLst/>
              <a:rect l="l" t="t" r="r" b="b"/>
              <a:pathLst>
                <a:path w="1091227" h="314705">
                  <a:moveTo>
                    <a:pt x="0" y="0"/>
                  </a:moveTo>
                  <a:lnTo>
                    <a:pt x="1091227" y="0"/>
                  </a:lnTo>
                  <a:lnTo>
                    <a:pt x="1091227" y="314705"/>
                  </a:lnTo>
                  <a:lnTo>
                    <a:pt x="0" y="3147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091227" cy="333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10188" y="8219081"/>
            <a:ext cx="2696384" cy="1694011"/>
          </a:xfrm>
          <a:custGeom>
            <a:avLst/>
            <a:gdLst/>
            <a:ahLst/>
            <a:cxnLst/>
            <a:rect l="l" t="t" r="r" b="b"/>
            <a:pathLst>
              <a:path w="2696384" h="1694011">
                <a:moveTo>
                  <a:pt x="0" y="0"/>
                </a:moveTo>
                <a:lnTo>
                  <a:pt x="2696384" y="0"/>
                </a:lnTo>
                <a:lnTo>
                  <a:pt x="2696384" y="1694011"/>
                </a:lnTo>
                <a:lnTo>
                  <a:pt x="0" y="16940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497402" y="1354057"/>
            <a:ext cx="10676216" cy="86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5"/>
              </a:lnSpc>
            </a:pPr>
            <a:r>
              <a:rPr lang="en-US" sz="5076" b="1" spc="497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INTRODUCCIÓN</a:t>
            </a:r>
          </a:p>
        </p:txBody>
      </p:sp>
      <p:sp>
        <p:nvSpPr>
          <p:cNvPr id="13" name="Freeform 13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261336" y="-163495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39"/>
                </a:lnTo>
                <a:lnTo>
                  <a:pt x="0" y="48820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58380" y="4340451"/>
            <a:ext cx="7363135" cy="3968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El proyecto consiste en desarrollar una plataforma web moderna, responsive y fácil de usar</a:t>
            </a:r>
          </a:p>
          <a:p>
            <a:pPr algn="l">
              <a:lnSpc>
                <a:spcPts val="3574"/>
              </a:lnSpc>
            </a:pPr>
            <a:endParaRPr lang="en-US" sz="2276" spc="466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 El sistema busca resolver la dependencia actual de herramientas manuales </a:t>
            </a:r>
          </a:p>
          <a:p>
            <a:pPr algn="ctr">
              <a:lnSpc>
                <a:spcPts val="3142"/>
              </a:lnSpc>
            </a:pPr>
            <a:endParaRPr lang="en-US" sz="2276" spc="466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090754" y="543369"/>
            <a:ext cx="3911127" cy="1475943"/>
            <a:chOff x="0" y="0"/>
            <a:chExt cx="755302" cy="285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55302" cy="285029"/>
            </a:xfrm>
            <a:custGeom>
              <a:avLst/>
              <a:gdLst/>
              <a:ahLst/>
              <a:cxnLst/>
              <a:rect l="l" t="t" r="r" b="b"/>
              <a:pathLst>
                <a:path w="755302" h="285029">
                  <a:moveTo>
                    <a:pt x="0" y="0"/>
                  </a:moveTo>
                  <a:lnTo>
                    <a:pt x="755302" y="0"/>
                  </a:lnTo>
                  <a:lnTo>
                    <a:pt x="755302" y="285029"/>
                  </a:lnTo>
                  <a:lnTo>
                    <a:pt x="0" y="2850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755302" cy="304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70328" y="1732699"/>
            <a:ext cx="4244978" cy="8347398"/>
            <a:chOff x="0" y="0"/>
            <a:chExt cx="1118019" cy="21984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8019" cy="2198492"/>
            </a:xfrm>
            <a:custGeom>
              <a:avLst/>
              <a:gdLst/>
              <a:ahLst/>
              <a:cxnLst/>
              <a:rect l="l" t="t" r="r" b="b"/>
              <a:pathLst>
                <a:path w="1118019" h="2198492">
                  <a:moveTo>
                    <a:pt x="0" y="0"/>
                  </a:moveTo>
                  <a:lnTo>
                    <a:pt x="1118019" y="0"/>
                  </a:lnTo>
                  <a:lnTo>
                    <a:pt x="1118019" y="2198492"/>
                  </a:lnTo>
                  <a:lnTo>
                    <a:pt x="0" y="2198492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18019" cy="2217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090754" y="807638"/>
            <a:ext cx="3862905" cy="1764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4"/>
              </a:lnSpc>
            </a:pPr>
            <a:r>
              <a:rPr lang="en-US" sz="5140" b="1" spc="50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CONTEXTO</a:t>
            </a:r>
          </a:p>
          <a:p>
            <a:pPr algn="ctr">
              <a:lnSpc>
                <a:spcPts val="7094"/>
              </a:lnSpc>
            </a:pPr>
            <a:endParaRPr lang="en-US" sz="5140" b="1" spc="503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425179" y="2308240"/>
            <a:ext cx="7196317" cy="7196317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124460" y="124460"/>
              <a:ext cx="6101080" cy="6101080"/>
            </a:xfrm>
            <a:custGeom>
              <a:avLst/>
              <a:gdLst/>
              <a:ahLst/>
              <a:cxnLst/>
              <a:rect l="l" t="t" r="r" b="b"/>
              <a:pathLst>
                <a:path w="6101080" h="6101080">
                  <a:moveTo>
                    <a:pt x="0" y="0"/>
                  </a:moveTo>
                  <a:lnTo>
                    <a:pt x="6101080" y="0"/>
                  </a:lnTo>
                  <a:lnTo>
                    <a:pt x="6101080" y="6101080"/>
                  </a:lnTo>
                  <a:lnTo>
                    <a:pt x="0" y="6101080"/>
                  </a:lnTo>
                  <a:close/>
                </a:path>
              </a:pathLst>
            </a:custGeom>
            <a:blipFill>
              <a:blip r:embed="rId3"/>
              <a:stretch>
                <a:fillRect t="-69" b="-69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6350000"/>
                  </a:moveTo>
                  <a:lnTo>
                    <a:pt x="0" y="6350000"/>
                  </a:lnTo>
                  <a:lnTo>
                    <a:pt x="0" y="0"/>
                  </a:lnTo>
                  <a:lnTo>
                    <a:pt x="6350000" y="0"/>
                  </a:lnTo>
                  <a:lnTo>
                    <a:pt x="6350000" y="6350000"/>
                  </a:lnTo>
                  <a:close/>
                  <a:moveTo>
                    <a:pt x="248920" y="6101080"/>
                  </a:moveTo>
                  <a:lnTo>
                    <a:pt x="6099810" y="6101080"/>
                  </a:lnTo>
                  <a:lnTo>
                    <a:pt x="6099810" y="248920"/>
                  </a:lnTo>
                  <a:lnTo>
                    <a:pt x="248920" y="248920"/>
                  </a:lnTo>
                  <a:lnTo>
                    <a:pt x="248920" y="6101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36463" y="4250477"/>
            <a:ext cx="7363135" cy="352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En Chile existen mas de 3,000 clínicas veterinarias </a:t>
            </a:r>
          </a:p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Cerca de un 80% son clínicas medianas</a:t>
            </a:r>
          </a:p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Van en aumento gracias a la ley de “Tenencia Responsable”</a:t>
            </a:r>
          </a:p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Opera con Herramientas Básicas</a:t>
            </a:r>
          </a:p>
          <a:p>
            <a:pPr algn="ctr">
              <a:lnSpc>
                <a:spcPts val="3142"/>
              </a:lnSpc>
            </a:pPr>
            <a:endParaRPr lang="en-US" sz="2276" spc="466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0032" y="188572"/>
            <a:ext cx="4244978" cy="9909856"/>
            <a:chOff x="0" y="0"/>
            <a:chExt cx="1118019" cy="26100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8019" cy="2610003"/>
            </a:xfrm>
            <a:custGeom>
              <a:avLst/>
              <a:gdLst/>
              <a:ahLst/>
              <a:cxnLst/>
              <a:rect l="l" t="t" r="r" b="b"/>
              <a:pathLst>
                <a:path w="1118019" h="2610003">
                  <a:moveTo>
                    <a:pt x="0" y="0"/>
                  </a:moveTo>
                  <a:lnTo>
                    <a:pt x="1118019" y="0"/>
                  </a:lnTo>
                  <a:lnTo>
                    <a:pt x="1118019" y="2610003"/>
                  </a:lnTo>
                  <a:lnTo>
                    <a:pt x="0" y="2610003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118019" cy="2629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90754" y="543369"/>
            <a:ext cx="3911127" cy="1475943"/>
            <a:chOff x="0" y="0"/>
            <a:chExt cx="755302" cy="2850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55302" cy="285029"/>
            </a:xfrm>
            <a:custGeom>
              <a:avLst/>
              <a:gdLst/>
              <a:ahLst/>
              <a:cxnLst/>
              <a:rect l="l" t="t" r="r" b="b"/>
              <a:pathLst>
                <a:path w="755302" h="285029">
                  <a:moveTo>
                    <a:pt x="0" y="0"/>
                  </a:moveTo>
                  <a:lnTo>
                    <a:pt x="755302" y="0"/>
                  </a:lnTo>
                  <a:lnTo>
                    <a:pt x="755302" y="285029"/>
                  </a:lnTo>
                  <a:lnTo>
                    <a:pt x="0" y="2850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55302" cy="304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717717" y="2991913"/>
            <a:ext cx="6002854" cy="6002854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124460" y="124460"/>
              <a:ext cx="6101080" cy="6101080"/>
            </a:xfrm>
            <a:custGeom>
              <a:avLst/>
              <a:gdLst/>
              <a:ahLst/>
              <a:cxnLst/>
              <a:rect l="l" t="t" r="r" b="b"/>
              <a:pathLst>
                <a:path w="6101080" h="6101080">
                  <a:moveTo>
                    <a:pt x="0" y="0"/>
                  </a:moveTo>
                  <a:lnTo>
                    <a:pt x="6101080" y="0"/>
                  </a:lnTo>
                  <a:lnTo>
                    <a:pt x="6101080" y="6101080"/>
                  </a:lnTo>
                  <a:lnTo>
                    <a:pt x="0" y="6101080"/>
                  </a:lnTo>
                  <a:close/>
                </a:path>
              </a:pathLst>
            </a:custGeom>
            <a:blipFill>
              <a:blip r:embed="rId3"/>
              <a:stretch>
                <a:fillRect t="-12982" b="-1298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6350000"/>
                  </a:moveTo>
                  <a:lnTo>
                    <a:pt x="0" y="6350000"/>
                  </a:lnTo>
                  <a:lnTo>
                    <a:pt x="0" y="0"/>
                  </a:lnTo>
                  <a:lnTo>
                    <a:pt x="6350000" y="0"/>
                  </a:lnTo>
                  <a:lnTo>
                    <a:pt x="6350000" y="6350000"/>
                  </a:lnTo>
                  <a:close/>
                  <a:moveTo>
                    <a:pt x="248920" y="6101080"/>
                  </a:moveTo>
                  <a:lnTo>
                    <a:pt x="6099810" y="6101080"/>
                  </a:lnTo>
                  <a:lnTo>
                    <a:pt x="6099810" y="248920"/>
                  </a:lnTo>
                  <a:lnTo>
                    <a:pt x="248920" y="248920"/>
                  </a:lnTo>
                  <a:lnTo>
                    <a:pt x="248920" y="6101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7090754" y="807638"/>
            <a:ext cx="3862905" cy="86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4"/>
              </a:lnSpc>
            </a:pPr>
            <a:r>
              <a:rPr lang="en-US" sz="5140" b="1" spc="50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PROBLEMA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4090" y="3890582"/>
            <a:ext cx="7363135" cy="307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La Clínica Veterinaria Pucará opera con procesos manuales </a:t>
            </a:r>
          </a:p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endParaRPr lang="en-US" sz="2276" spc="466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La clínica requiere una plataforma digital adaptable y eficiente, una solución a medida.</a:t>
            </a:r>
          </a:p>
          <a:p>
            <a:pPr algn="ctr">
              <a:lnSpc>
                <a:spcPts val="3142"/>
              </a:lnSpc>
            </a:pPr>
            <a:endParaRPr lang="en-US" sz="2276" spc="466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Freeform 14"/>
          <p:cNvSpPr/>
          <p:nvPr/>
        </p:nvSpPr>
        <p:spPr>
          <a:xfrm rot="7659121">
            <a:off x="12942578" y="6275513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092351" y="1623055"/>
            <a:ext cx="6670438" cy="1239727"/>
            <a:chOff x="0" y="0"/>
            <a:chExt cx="1288170" cy="2394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8170" cy="239412"/>
            </a:xfrm>
            <a:custGeom>
              <a:avLst/>
              <a:gdLst/>
              <a:ahLst/>
              <a:cxnLst/>
              <a:rect l="l" t="t" r="r" b="b"/>
              <a:pathLst>
                <a:path w="1288170" h="239412">
                  <a:moveTo>
                    <a:pt x="0" y="0"/>
                  </a:moveTo>
                  <a:lnTo>
                    <a:pt x="1288170" y="0"/>
                  </a:lnTo>
                  <a:lnTo>
                    <a:pt x="1288170" y="239412"/>
                  </a:lnTo>
                  <a:lnTo>
                    <a:pt x="0" y="239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288170" cy="258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95465" y="1713029"/>
            <a:ext cx="4296549" cy="8284665"/>
            <a:chOff x="0" y="0"/>
            <a:chExt cx="1131601" cy="21819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1601" cy="2181969"/>
            </a:xfrm>
            <a:custGeom>
              <a:avLst/>
              <a:gdLst/>
              <a:ahLst/>
              <a:cxnLst/>
              <a:rect l="l" t="t" r="r" b="b"/>
              <a:pathLst>
                <a:path w="1131601" h="2181969">
                  <a:moveTo>
                    <a:pt x="0" y="0"/>
                  </a:moveTo>
                  <a:lnTo>
                    <a:pt x="1131601" y="0"/>
                  </a:lnTo>
                  <a:lnTo>
                    <a:pt x="1131601" y="2181969"/>
                  </a:lnTo>
                  <a:lnTo>
                    <a:pt x="0" y="2181969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31601" cy="2201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092351" y="1738473"/>
            <a:ext cx="6670438" cy="1752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5"/>
              </a:lnSpc>
            </a:pPr>
            <a:r>
              <a:rPr lang="en-US" sz="5076" b="1" spc="497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OBJETIVO GENERAL</a:t>
            </a:r>
          </a:p>
          <a:p>
            <a:pPr algn="ctr">
              <a:lnSpc>
                <a:spcPts val="7005"/>
              </a:lnSpc>
            </a:pPr>
            <a:endParaRPr lang="en-US" sz="5076" b="1" spc="497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2382121" y="5430571"/>
            <a:ext cx="7840547" cy="1774148"/>
          </a:xfrm>
          <a:custGeom>
            <a:avLst/>
            <a:gdLst/>
            <a:ahLst/>
            <a:cxnLst/>
            <a:rect l="l" t="t" r="r" b="b"/>
            <a:pathLst>
              <a:path w="7840547" h="1774148">
                <a:moveTo>
                  <a:pt x="0" y="0"/>
                </a:moveTo>
                <a:lnTo>
                  <a:pt x="7840547" y="0"/>
                </a:lnTo>
                <a:lnTo>
                  <a:pt x="7840547" y="1774148"/>
                </a:lnTo>
                <a:lnTo>
                  <a:pt x="0" y="1774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639" t="-86495" r="-69030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382121" y="3599618"/>
            <a:ext cx="7840547" cy="2718028"/>
            <a:chOff x="0" y="0"/>
            <a:chExt cx="3004053" cy="10413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04053" cy="1041394"/>
            </a:xfrm>
            <a:custGeom>
              <a:avLst/>
              <a:gdLst/>
              <a:ahLst/>
              <a:cxnLst/>
              <a:rect l="l" t="t" r="r" b="b"/>
              <a:pathLst>
                <a:path w="3004053" h="1041394">
                  <a:moveTo>
                    <a:pt x="0" y="0"/>
                  </a:moveTo>
                  <a:lnTo>
                    <a:pt x="3004053" y="0"/>
                  </a:lnTo>
                  <a:lnTo>
                    <a:pt x="3004053" y="1041394"/>
                  </a:lnTo>
                  <a:lnTo>
                    <a:pt x="0" y="1041394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3004053" cy="1060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2779578" y="6598549"/>
            <a:ext cx="8340419" cy="8558266"/>
          </a:xfrm>
          <a:custGeom>
            <a:avLst/>
            <a:gdLst/>
            <a:ahLst/>
            <a:cxnLst/>
            <a:rect l="l" t="t" r="r" b="b"/>
            <a:pathLst>
              <a:path w="8340419" h="8558266">
                <a:moveTo>
                  <a:pt x="0" y="0"/>
                </a:moveTo>
                <a:lnTo>
                  <a:pt x="8340419" y="0"/>
                </a:lnTo>
                <a:lnTo>
                  <a:pt x="8340419" y="8558266"/>
                </a:lnTo>
                <a:lnTo>
                  <a:pt x="0" y="8558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927936" y="3599618"/>
            <a:ext cx="4031606" cy="4031606"/>
          </a:xfrm>
          <a:custGeom>
            <a:avLst/>
            <a:gdLst/>
            <a:ahLst/>
            <a:cxnLst/>
            <a:rect l="l" t="t" r="r" b="b"/>
            <a:pathLst>
              <a:path w="4031606" h="4031606">
                <a:moveTo>
                  <a:pt x="0" y="0"/>
                </a:moveTo>
                <a:lnTo>
                  <a:pt x="4031607" y="0"/>
                </a:lnTo>
                <a:lnTo>
                  <a:pt x="4031607" y="4031606"/>
                </a:lnTo>
                <a:lnTo>
                  <a:pt x="0" y="40316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574660" y="4001448"/>
            <a:ext cx="7455469" cy="2000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8"/>
              </a:lnSpc>
              <a:spcBef>
                <a:spcPct val="0"/>
              </a:spcBef>
            </a:pPr>
            <a:r>
              <a:rPr lang="en-US" sz="2310" b="1" spc="226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Desarrollar un sistema web que centralice la información de pacientes, propietarios y atenciones, permitiendo gestión de agenda y generación automática de certificados.</a:t>
            </a:r>
          </a:p>
          <a:p>
            <a:pPr marL="0" lvl="0" indent="0" algn="l">
              <a:lnSpc>
                <a:spcPts val="3188"/>
              </a:lnSpc>
              <a:spcBef>
                <a:spcPct val="0"/>
              </a:spcBef>
            </a:pPr>
            <a:endParaRPr lang="en-US" sz="2310" b="1" spc="226">
              <a:solidFill>
                <a:srgbClr val="231F2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46"/>
          <p:cNvSpPr/>
          <p:nvPr/>
        </p:nvSpPr>
        <p:spPr>
          <a:xfrm rot="257863">
            <a:off x="-3879167" y="6843821"/>
            <a:ext cx="21273218" cy="9128145"/>
          </a:xfrm>
          <a:custGeom>
            <a:avLst/>
            <a:gdLst/>
            <a:ahLst/>
            <a:cxnLst/>
            <a:rect l="l" t="t" r="r" b="b"/>
            <a:pathLst>
              <a:path w="21273218" h="9128145">
                <a:moveTo>
                  <a:pt x="0" y="0"/>
                </a:moveTo>
                <a:lnTo>
                  <a:pt x="21273218" y="0"/>
                </a:lnTo>
                <a:lnTo>
                  <a:pt x="21273218" y="9128144"/>
                </a:lnTo>
                <a:lnTo>
                  <a:pt x="0" y="9128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5808781" y="889942"/>
            <a:ext cx="6670438" cy="2019500"/>
            <a:chOff x="0" y="0"/>
            <a:chExt cx="1288170" cy="3899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8170" cy="389998"/>
            </a:xfrm>
            <a:custGeom>
              <a:avLst/>
              <a:gdLst/>
              <a:ahLst/>
              <a:cxnLst/>
              <a:rect l="l" t="t" r="r" b="b"/>
              <a:pathLst>
                <a:path w="1288170" h="389998">
                  <a:moveTo>
                    <a:pt x="0" y="0"/>
                  </a:moveTo>
                  <a:lnTo>
                    <a:pt x="1288170" y="0"/>
                  </a:lnTo>
                  <a:lnTo>
                    <a:pt x="1288170" y="389998"/>
                  </a:lnTo>
                  <a:lnTo>
                    <a:pt x="0" y="389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288170" cy="409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467956" y="6471558"/>
            <a:ext cx="3755456" cy="267871"/>
          </a:xfrm>
          <a:custGeom>
            <a:avLst/>
            <a:gdLst/>
            <a:ahLst/>
            <a:cxnLst/>
            <a:rect l="l" t="t" r="r" b="b"/>
            <a:pathLst>
              <a:path w="3755456" h="267871">
                <a:moveTo>
                  <a:pt x="0" y="0"/>
                </a:moveTo>
                <a:lnTo>
                  <a:pt x="3755456" y="0"/>
                </a:lnTo>
                <a:lnTo>
                  <a:pt x="3755456" y="267872"/>
                </a:lnTo>
                <a:lnTo>
                  <a:pt x="0" y="267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2653" b="-24234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481459" y="4206245"/>
            <a:ext cx="3741953" cy="2265314"/>
            <a:chOff x="0" y="0"/>
            <a:chExt cx="1279723" cy="7747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9723" cy="774722"/>
            </a:xfrm>
            <a:custGeom>
              <a:avLst/>
              <a:gdLst/>
              <a:ahLst/>
              <a:cxnLst/>
              <a:rect l="l" t="t" r="r" b="b"/>
              <a:pathLst>
                <a:path w="1279723" h="774722">
                  <a:moveTo>
                    <a:pt x="0" y="0"/>
                  </a:moveTo>
                  <a:lnTo>
                    <a:pt x="1279723" y="0"/>
                  </a:lnTo>
                  <a:lnTo>
                    <a:pt x="1279723" y="774722"/>
                  </a:lnTo>
                  <a:lnTo>
                    <a:pt x="0" y="77472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79723" cy="831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196342" y="6471558"/>
            <a:ext cx="3755456" cy="267871"/>
          </a:xfrm>
          <a:custGeom>
            <a:avLst/>
            <a:gdLst/>
            <a:ahLst/>
            <a:cxnLst/>
            <a:rect l="l" t="t" r="r" b="b"/>
            <a:pathLst>
              <a:path w="3755456" h="267871">
                <a:moveTo>
                  <a:pt x="0" y="0"/>
                </a:moveTo>
                <a:lnTo>
                  <a:pt x="3755456" y="0"/>
                </a:lnTo>
                <a:lnTo>
                  <a:pt x="3755456" y="267872"/>
                </a:lnTo>
                <a:lnTo>
                  <a:pt x="0" y="267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2653" b="-24234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109833" y="4206245"/>
            <a:ext cx="3741953" cy="2265314"/>
            <a:chOff x="0" y="0"/>
            <a:chExt cx="1279723" cy="7747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9723" cy="774722"/>
            </a:xfrm>
            <a:custGeom>
              <a:avLst/>
              <a:gdLst/>
              <a:ahLst/>
              <a:cxnLst/>
              <a:rect l="l" t="t" r="r" b="b"/>
              <a:pathLst>
                <a:path w="1279723" h="774722">
                  <a:moveTo>
                    <a:pt x="0" y="0"/>
                  </a:moveTo>
                  <a:lnTo>
                    <a:pt x="1279723" y="0"/>
                  </a:lnTo>
                  <a:lnTo>
                    <a:pt x="1279723" y="774722"/>
                  </a:lnTo>
                  <a:lnTo>
                    <a:pt x="0" y="77472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279723" cy="831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724337" y="6471558"/>
            <a:ext cx="3755456" cy="267871"/>
          </a:xfrm>
          <a:custGeom>
            <a:avLst/>
            <a:gdLst/>
            <a:ahLst/>
            <a:cxnLst/>
            <a:rect l="l" t="t" r="r" b="b"/>
            <a:pathLst>
              <a:path w="3755456" h="267871">
                <a:moveTo>
                  <a:pt x="0" y="0"/>
                </a:moveTo>
                <a:lnTo>
                  <a:pt x="3755457" y="0"/>
                </a:lnTo>
                <a:lnTo>
                  <a:pt x="3755457" y="267872"/>
                </a:lnTo>
                <a:lnTo>
                  <a:pt x="0" y="267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2653" b="-24234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2737840" y="4206245"/>
            <a:ext cx="3741953" cy="2265314"/>
            <a:chOff x="0" y="0"/>
            <a:chExt cx="1279723" cy="7747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79723" cy="774722"/>
            </a:xfrm>
            <a:custGeom>
              <a:avLst/>
              <a:gdLst/>
              <a:ahLst/>
              <a:cxnLst/>
              <a:rect l="l" t="t" r="r" b="b"/>
              <a:pathLst>
                <a:path w="1279723" h="774722">
                  <a:moveTo>
                    <a:pt x="0" y="0"/>
                  </a:moveTo>
                  <a:lnTo>
                    <a:pt x="1279723" y="0"/>
                  </a:lnTo>
                  <a:lnTo>
                    <a:pt x="1279723" y="774722"/>
                  </a:lnTo>
                  <a:lnTo>
                    <a:pt x="0" y="77472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279723" cy="831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676704" y="3274132"/>
            <a:ext cx="1864225" cy="186422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116"/>
                </a:lnSpc>
                <a:spcBef>
                  <a:spcPct val="0"/>
                </a:spcBef>
              </a:pPr>
              <a:r>
                <a:rPr lang="en-US" sz="5881" i="1" spc="58">
                  <a:solidFill>
                    <a:srgbClr val="FFFFFF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41946" y="3274132"/>
            <a:ext cx="1864225" cy="186422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116"/>
                </a:lnSpc>
                <a:spcBef>
                  <a:spcPct val="0"/>
                </a:spcBef>
              </a:pPr>
              <a:r>
                <a:rPr lang="en-US" sz="5881" i="1" u="none" strike="noStrike" spc="58">
                  <a:solidFill>
                    <a:srgbClr val="FFFFFF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421552" y="3274132"/>
            <a:ext cx="1864225" cy="186422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116"/>
                </a:lnSpc>
                <a:spcBef>
                  <a:spcPct val="0"/>
                </a:spcBef>
              </a:pPr>
              <a:r>
                <a:rPr lang="en-US" sz="5881" i="1" u="none" strike="noStrike" spc="58">
                  <a:solidFill>
                    <a:srgbClr val="FFFFFF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42646" y="7537607"/>
            <a:ext cx="3741953" cy="2265314"/>
            <a:chOff x="0" y="0"/>
            <a:chExt cx="1279723" cy="77472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79723" cy="774722"/>
            </a:xfrm>
            <a:custGeom>
              <a:avLst/>
              <a:gdLst/>
              <a:ahLst/>
              <a:cxnLst/>
              <a:rect l="l" t="t" r="r" b="b"/>
              <a:pathLst>
                <a:path w="1279723" h="774722">
                  <a:moveTo>
                    <a:pt x="0" y="0"/>
                  </a:moveTo>
                  <a:lnTo>
                    <a:pt x="1279723" y="0"/>
                  </a:lnTo>
                  <a:lnTo>
                    <a:pt x="1279723" y="774722"/>
                  </a:lnTo>
                  <a:lnTo>
                    <a:pt x="0" y="77472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279723" cy="831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70653" y="7537607"/>
            <a:ext cx="3741953" cy="2265314"/>
            <a:chOff x="0" y="0"/>
            <a:chExt cx="1279723" cy="77472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79723" cy="774722"/>
            </a:xfrm>
            <a:custGeom>
              <a:avLst/>
              <a:gdLst/>
              <a:ahLst/>
              <a:cxnLst/>
              <a:rect l="l" t="t" r="r" b="b"/>
              <a:pathLst>
                <a:path w="1279723" h="774722">
                  <a:moveTo>
                    <a:pt x="0" y="0"/>
                  </a:moveTo>
                  <a:lnTo>
                    <a:pt x="1279723" y="0"/>
                  </a:lnTo>
                  <a:lnTo>
                    <a:pt x="1279723" y="774722"/>
                  </a:lnTo>
                  <a:lnTo>
                    <a:pt x="0" y="77472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279723" cy="831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09517" y="6605494"/>
            <a:ext cx="1864225" cy="186422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116"/>
                </a:lnSpc>
                <a:spcBef>
                  <a:spcPct val="0"/>
                </a:spcBef>
              </a:pPr>
              <a:r>
                <a:rPr lang="en-US" sz="5881" i="1" u="none" strike="noStrike" spc="58">
                  <a:solidFill>
                    <a:srgbClr val="FFFFFF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4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674759" y="6605494"/>
            <a:ext cx="1864225" cy="1864225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116"/>
                </a:lnSpc>
                <a:spcBef>
                  <a:spcPct val="0"/>
                </a:spcBef>
              </a:pPr>
              <a:r>
                <a:rPr lang="en-US" sz="5881" i="1" u="none" strike="noStrike" spc="58">
                  <a:solidFill>
                    <a:srgbClr val="FFFFFF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5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808781" y="933450"/>
            <a:ext cx="6670438" cy="1752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5"/>
              </a:lnSpc>
            </a:pPr>
            <a:r>
              <a:rPr lang="en-US" sz="5076" b="1" spc="497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OBJETIVOS ESPECÍFICOS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97371" y="5046635"/>
            <a:ext cx="3222892" cy="101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sz="2040" spc="199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Implementar fichas clínicas digitales.</a:t>
            </a:r>
          </a:p>
          <a:p>
            <a:pPr algn="ctr">
              <a:lnSpc>
                <a:spcPts val="2539"/>
              </a:lnSpc>
            </a:pPr>
            <a:endParaRPr lang="en-US" sz="2040" spc="199">
              <a:solidFill>
                <a:srgbClr val="FFFB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362429" y="5046635"/>
            <a:ext cx="3222892" cy="1365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sz="2040" spc="199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Crear módulo de agenda con horarios configurables.</a:t>
            </a:r>
          </a:p>
          <a:p>
            <a:pPr algn="ctr">
              <a:lnSpc>
                <a:spcPts val="2539"/>
              </a:lnSpc>
            </a:pPr>
            <a:endParaRPr lang="en-US" sz="2040" spc="199">
              <a:solidFill>
                <a:srgbClr val="FFFB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734239" y="5046635"/>
            <a:ext cx="3222892" cy="1365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sz="2040" spc="199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Generar certificados, recetas y documentos automáticamente.</a:t>
            </a:r>
          </a:p>
          <a:p>
            <a:pPr algn="ctr">
              <a:lnSpc>
                <a:spcPts val="2539"/>
              </a:lnSpc>
            </a:pPr>
            <a:endParaRPr lang="en-US" sz="2040" spc="199">
              <a:solidFill>
                <a:srgbClr val="FFFB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630184" y="8377997"/>
            <a:ext cx="3222892" cy="104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sz="2040" spc="199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Validar el sistema en un entorno de prueba con la clínica.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995242" y="8377997"/>
            <a:ext cx="3222892" cy="171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sz="2040" spc="199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Capacitar al personal y entregar documentación completa</a:t>
            </a:r>
          </a:p>
          <a:p>
            <a:pPr algn="ctr">
              <a:lnSpc>
                <a:spcPts val="2539"/>
              </a:lnSpc>
            </a:pPr>
            <a:endParaRPr lang="en-US" sz="2040" spc="199">
              <a:solidFill>
                <a:srgbClr val="FFFB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5363902" y="9802920"/>
            <a:ext cx="3755456" cy="267871"/>
          </a:xfrm>
          <a:custGeom>
            <a:avLst/>
            <a:gdLst/>
            <a:ahLst/>
            <a:cxnLst/>
            <a:rect l="l" t="t" r="r" b="b"/>
            <a:pathLst>
              <a:path w="3755456" h="267871">
                <a:moveTo>
                  <a:pt x="0" y="0"/>
                </a:moveTo>
                <a:lnTo>
                  <a:pt x="3755456" y="0"/>
                </a:lnTo>
                <a:lnTo>
                  <a:pt x="3755456" y="267871"/>
                </a:lnTo>
                <a:lnTo>
                  <a:pt x="0" y="267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2653" b="-24234"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9742646" y="9802920"/>
            <a:ext cx="3755456" cy="267871"/>
          </a:xfrm>
          <a:custGeom>
            <a:avLst/>
            <a:gdLst/>
            <a:ahLst/>
            <a:cxnLst/>
            <a:rect l="l" t="t" r="r" b="b"/>
            <a:pathLst>
              <a:path w="3755456" h="267871">
                <a:moveTo>
                  <a:pt x="0" y="0"/>
                </a:moveTo>
                <a:lnTo>
                  <a:pt x="3755456" y="0"/>
                </a:lnTo>
                <a:lnTo>
                  <a:pt x="3755456" y="267871"/>
                </a:lnTo>
                <a:lnTo>
                  <a:pt x="0" y="267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2653" b="-24234"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5504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987362" y="4179173"/>
            <a:ext cx="0" cy="1352933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3" name="Group 3"/>
          <p:cNvGrpSpPr/>
          <p:nvPr/>
        </p:nvGrpSpPr>
        <p:grpSpPr>
          <a:xfrm rot="-5400000">
            <a:off x="2407410" y="3985945"/>
            <a:ext cx="1211216" cy="1597672"/>
            <a:chOff x="0" y="0"/>
            <a:chExt cx="597301" cy="7878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7301" cy="787879"/>
            </a:xfrm>
            <a:custGeom>
              <a:avLst/>
              <a:gdLst/>
              <a:ahLst/>
              <a:cxnLst/>
              <a:rect l="l" t="t" r="r" b="b"/>
              <a:pathLst>
                <a:path w="597301" h="787879">
                  <a:moveTo>
                    <a:pt x="199208" y="768810"/>
                  </a:moveTo>
                  <a:cubicBezTo>
                    <a:pt x="229830" y="780324"/>
                    <a:pt x="264644" y="787879"/>
                    <a:pt x="298812" y="787879"/>
                  </a:cubicBezTo>
                  <a:cubicBezTo>
                    <a:pt x="332981" y="787879"/>
                    <a:pt x="365860" y="781402"/>
                    <a:pt x="396159" y="769888"/>
                  </a:cubicBezTo>
                  <a:cubicBezTo>
                    <a:pt x="396805" y="769529"/>
                    <a:pt x="397449" y="769529"/>
                    <a:pt x="398093" y="769169"/>
                  </a:cubicBezTo>
                  <a:cubicBezTo>
                    <a:pt x="511880" y="723114"/>
                    <a:pt x="595690" y="601500"/>
                    <a:pt x="597301" y="459931"/>
                  </a:cubicBezTo>
                  <a:lnTo>
                    <a:pt x="597301" y="0"/>
                  </a:lnTo>
                  <a:lnTo>
                    <a:pt x="0" y="0"/>
                  </a:lnTo>
                  <a:lnTo>
                    <a:pt x="0" y="459589"/>
                  </a:lnTo>
                  <a:cubicBezTo>
                    <a:pt x="1612" y="602219"/>
                    <a:pt x="84132" y="723834"/>
                    <a:pt x="199208" y="7688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597301" cy="622779"/>
            </a:xfrm>
            <a:prstGeom prst="rect">
              <a:avLst/>
            </a:prstGeom>
          </p:spPr>
          <p:txBody>
            <a:bodyPr lIns="27432" tIns="27432" rIns="27432" bIns="27432" rtlCol="0" anchor="ctr"/>
            <a:lstStyle/>
            <a:p>
              <a:pPr algn="ctr">
                <a:lnSpc>
                  <a:spcPts val="777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987362" y="5480352"/>
            <a:ext cx="0" cy="1371549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7" name="Group 7"/>
          <p:cNvGrpSpPr/>
          <p:nvPr/>
        </p:nvGrpSpPr>
        <p:grpSpPr>
          <a:xfrm rot="-5400000">
            <a:off x="2423742" y="5283578"/>
            <a:ext cx="1184945" cy="1591278"/>
            <a:chOff x="0" y="0"/>
            <a:chExt cx="584346" cy="7847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4346" cy="784726"/>
            </a:xfrm>
            <a:custGeom>
              <a:avLst/>
              <a:gdLst/>
              <a:ahLst/>
              <a:cxnLst/>
              <a:rect l="l" t="t" r="r" b="b"/>
              <a:pathLst>
                <a:path w="584346" h="784726">
                  <a:moveTo>
                    <a:pt x="194887" y="765657"/>
                  </a:moveTo>
                  <a:cubicBezTo>
                    <a:pt x="224845" y="777171"/>
                    <a:pt x="258904" y="784726"/>
                    <a:pt x="292330" y="784726"/>
                  </a:cubicBezTo>
                  <a:cubicBezTo>
                    <a:pt x="325758" y="784726"/>
                    <a:pt x="357924" y="778249"/>
                    <a:pt x="387567" y="766736"/>
                  </a:cubicBezTo>
                  <a:cubicBezTo>
                    <a:pt x="388198" y="766376"/>
                    <a:pt x="388828" y="766376"/>
                    <a:pt x="389459" y="766017"/>
                  </a:cubicBezTo>
                  <a:cubicBezTo>
                    <a:pt x="500778" y="719961"/>
                    <a:pt x="582770" y="598347"/>
                    <a:pt x="584346" y="456848"/>
                  </a:cubicBezTo>
                  <a:lnTo>
                    <a:pt x="584346" y="0"/>
                  </a:lnTo>
                  <a:lnTo>
                    <a:pt x="0" y="0"/>
                  </a:lnTo>
                  <a:lnTo>
                    <a:pt x="0" y="456509"/>
                  </a:lnTo>
                  <a:cubicBezTo>
                    <a:pt x="1577" y="599066"/>
                    <a:pt x="82307" y="720681"/>
                    <a:pt x="194887" y="765657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84346" cy="619626"/>
            </a:xfrm>
            <a:prstGeom prst="rect">
              <a:avLst/>
            </a:prstGeom>
          </p:spPr>
          <p:txBody>
            <a:bodyPr lIns="27432" tIns="27432" rIns="27432" bIns="27432" rtlCol="0" anchor="ctr"/>
            <a:lstStyle/>
            <a:p>
              <a:pPr marL="0" lvl="0" indent="0" algn="ctr">
                <a:lnSpc>
                  <a:spcPts val="77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1987343" y="6747525"/>
            <a:ext cx="0" cy="1354289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11" name="Group 11"/>
          <p:cNvGrpSpPr/>
          <p:nvPr/>
        </p:nvGrpSpPr>
        <p:grpSpPr>
          <a:xfrm rot="-5400000">
            <a:off x="2391613" y="6576488"/>
            <a:ext cx="1249204" cy="1591278"/>
            <a:chOff x="0" y="0"/>
            <a:chExt cx="616035" cy="7847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6035" cy="784726"/>
            </a:xfrm>
            <a:custGeom>
              <a:avLst/>
              <a:gdLst/>
              <a:ahLst/>
              <a:cxnLst/>
              <a:rect l="l" t="t" r="r" b="b"/>
              <a:pathLst>
                <a:path w="616035" h="784726">
                  <a:moveTo>
                    <a:pt x="205456" y="765657"/>
                  </a:moveTo>
                  <a:cubicBezTo>
                    <a:pt x="237039" y="777171"/>
                    <a:pt x="272944" y="784726"/>
                    <a:pt x="308184" y="784726"/>
                  </a:cubicBezTo>
                  <a:cubicBezTo>
                    <a:pt x="343424" y="784726"/>
                    <a:pt x="377335" y="778249"/>
                    <a:pt x="408584" y="766736"/>
                  </a:cubicBezTo>
                  <a:cubicBezTo>
                    <a:pt x="409250" y="766376"/>
                    <a:pt x="409915" y="766376"/>
                    <a:pt x="410579" y="766017"/>
                  </a:cubicBezTo>
                  <a:cubicBezTo>
                    <a:pt x="527935" y="719961"/>
                    <a:pt x="614373" y="598347"/>
                    <a:pt x="616035" y="456848"/>
                  </a:cubicBezTo>
                  <a:lnTo>
                    <a:pt x="616035" y="0"/>
                  </a:lnTo>
                  <a:lnTo>
                    <a:pt x="0" y="0"/>
                  </a:lnTo>
                  <a:lnTo>
                    <a:pt x="0" y="456509"/>
                  </a:lnTo>
                  <a:cubicBezTo>
                    <a:pt x="1662" y="599066"/>
                    <a:pt x="86770" y="720681"/>
                    <a:pt x="205456" y="76565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616035" cy="619626"/>
            </a:xfrm>
            <a:prstGeom prst="rect">
              <a:avLst/>
            </a:prstGeom>
          </p:spPr>
          <p:txBody>
            <a:bodyPr lIns="27432" tIns="27432" rIns="27432" bIns="27432" rtlCol="0" anchor="ctr"/>
            <a:lstStyle/>
            <a:p>
              <a:pPr algn="ctr">
                <a:lnSpc>
                  <a:spcPts val="77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011879" y="4575255"/>
            <a:ext cx="5076183" cy="34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568" lvl="1" indent="-220784" algn="just">
              <a:lnSpc>
                <a:spcPts val="2863"/>
              </a:lnSpc>
              <a:buFont typeface="Arial"/>
              <a:buChar char="•"/>
            </a:pPr>
            <a:r>
              <a:rPr lang="en-US" sz="2045" spc="81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Registro de propietarios y pacientes.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11879" y="5875856"/>
            <a:ext cx="3431126" cy="34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568" lvl="1" indent="-220784" algn="l">
              <a:lnSpc>
                <a:spcPts val="2863"/>
              </a:lnSpc>
              <a:buFont typeface="Arial"/>
              <a:buChar char="•"/>
            </a:pPr>
            <a:r>
              <a:rPr lang="en-US" sz="2045" u="none" strike="noStrike" spc="81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Fichas clínicas digitales.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11879" y="7179027"/>
            <a:ext cx="2760039" cy="34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568" lvl="1" indent="-220784" algn="l">
              <a:lnSpc>
                <a:spcPts val="2863"/>
              </a:lnSpc>
              <a:buFont typeface="Arial"/>
              <a:buChar char="•"/>
            </a:pPr>
            <a:r>
              <a:rPr lang="en-US" sz="2045" u="none" strike="noStrike" spc="81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Agenda de citas.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808781" y="400769"/>
            <a:ext cx="6670438" cy="2019500"/>
            <a:chOff x="0" y="0"/>
            <a:chExt cx="1288170" cy="3899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8170" cy="389998"/>
            </a:xfrm>
            <a:custGeom>
              <a:avLst/>
              <a:gdLst/>
              <a:ahLst/>
              <a:cxnLst/>
              <a:rect l="l" t="t" r="r" b="b"/>
              <a:pathLst>
                <a:path w="1288170" h="389998">
                  <a:moveTo>
                    <a:pt x="0" y="0"/>
                  </a:moveTo>
                  <a:lnTo>
                    <a:pt x="1288170" y="0"/>
                  </a:lnTo>
                  <a:lnTo>
                    <a:pt x="1288170" y="389998"/>
                  </a:lnTo>
                  <a:lnTo>
                    <a:pt x="0" y="389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288170" cy="418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808781" y="417152"/>
            <a:ext cx="6670438" cy="2636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5"/>
              </a:lnSpc>
              <a:spcBef>
                <a:spcPct val="0"/>
              </a:spcBef>
            </a:pPr>
            <a:r>
              <a:rPr lang="en-US" sz="5076" b="1" u="none" strike="noStrike" spc="497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ALCANCES DEL PROYECTO</a:t>
            </a:r>
          </a:p>
          <a:p>
            <a:pPr marL="0" lvl="0" indent="0" algn="ctr">
              <a:lnSpc>
                <a:spcPts val="7005"/>
              </a:lnSpc>
              <a:spcBef>
                <a:spcPct val="0"/>
              </a:spcBef>
            </a:pPr>
            <a:endParaRPr lang="en-US" sz="5076" b="1" u="none" strike="noStrike" spc="497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21" name="AutoShape 21"/>
          <p:cNvSpPr/>
          <p:nvPr/>
        </p:nvSpPr>
        <p:spPr>
          <a:xfrm flipV="1">
            <a:off x="9859606" y="4086733"/>
            <a:ext cx="0" cy="1352933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22" name="Group 22"/>
          <p:cNvGrpSpPr/>
          <p:nvPr/>
        </p:nvGrpSpPr>
        <p:grpSpPr>
          <a:xfrm rot="-5400000">
            <a:off x="10279654" y="3893505"/>
            <a:ext cx="1211216" cy="1597672"/>
            <a:chOff x="0" y="0"/>
            <a:chExt cx="597301" cy="78787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7301" cy="787879"/>
            </a:xfrm>
            <a:custGeom>
              <a:avLst/>
              <a:gdLst/>
              <a:ahLst/>
              <a:cxnLst/>
              <a:rect l="l" t="t" r="r" b="b"/>
              <a:pathLst>
                <a:path w="597301" h="787879">
                  <a:moveTo>
                    <a:pt x="199208" y="768810"/>
                  </a:moveTo>
                  <a:cubicBezTo>
                    <a:pt x="229830" y="780324"/>
                    <a:pt x="264644" y="787879"/>
                    <a:pt x="298812" y="787879"/>
                  </a:cubicBezTo>
                  <a:cubicBezTo>
                    <a:pt x="332981" y="787879"/>
                    <a:pt x="365860" y="781402"/>
                    <a:pt x="396159" y="769888"/>
                  </a:cubicBezTo>
                  <a:cubicBezTo>
                    <a:pt x="396805" y="769529"/>
                    <a:pt x="397449" y="769529"/>
                    <a:pt x="398093" y="769169"/>
                  </a:cubicBezTo>
                  <a:cubicBezTo>
                    <a:pt x="511880" y="723114"/>
                    <a:pt x="595690" y="601500"/>
                    <a:pt x="597301" y="459931"/>
                  </a:cubicBezTo>
                  <a:lnTo>
                    <a:pt x="597301" y="0"/>
                  </a:lnTo>
                  <a:lnTo>
                    <a:pt x="0" y="0"/>
                  </a:lnTo>
                  <a:lnTo>
                    <a:pt x="0" y="459589"/>
                  </a:lnTo>
                  <a:cubicBezTo>
                    <a:pt x="1612" y="602219"/>
                    <a:pt x="84132" y="723834"/>
                    <a:pt x="199208" y="7688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38100"/>
              <a:ext cx="597301" cy="622779"/>
            </a:xfrm>
            <a:prstGeom prst="rect">
              <a:avLst/>
            </a:prstGeom>
          </p:spPr>
          <p:txBody>
            <a:bodyPr lIns="27432" tIns="27432" rIns="27432" bIns="27432" rtlCol="0" anchor="ctr"/>
            <a:lstStyle/>
            <a:p>
              <a:pPr algn="ctr">
                <a:lnSpc>
                  <a:spcPts val="777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 flipV="1">
            <a:off x="9859606" y="5387912"/>
            <a:ext cx="0" cy="1371549"/>
          </a:xfrm>
          <a:prstGeom prst="line">
            <a:avLst/>
          </a:prstGeom>
          <a:ln w="57150" cap="rnd">
            <a:solidFill>
              <a:srgbClr val="343434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26" name="Group 26"/>
          <p:cNvGrpSpPr/>
          <p:nvPr/>
        </p:nvGrpSpPr>
        <p:grpSpPr>
          <a:xfrm rot="-5400000">
            <a:off x="10295987" y="5191139"/>
            <a:ext cx="1184945" cy="1591278"/>
            <a:chOff x="0" y="0"/>
            <a:chExt cx="584346" cy="78472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84346" cy="784726"/>
            </a:xfrm>
            <a:custGeom>
              <a:avLst/>
              <a:gdLst/>
              <a:ahLst/>
              <a:cxnLst/>
              <a:rect l="l" t="t" r="r" b="b"/>
              <a:pathLst>
                <a:path w="584346" h="784726">
                  <a:moveTo>
                    <a:pt x="194887" y="765657"/>
                  </a:moveTo>
                  <a:cubicBezTo>
                    <a:pt x="224845" y="777171"/>
                    <a:pt x="258904" y="784726"/>
                    <a:pt x="292330" y="784726"/>
                  </a:cubicBezTo>
                  <a:cubicBezTo>
                    <a:pt x="325758" y="784726"/>
                    <a:pt x="357924" y="778249"/>
                    <a:pt x="387567" y="766736"/>
                  </a:cubicBezTo>
                  <a:cubicBezTo>
                    <a:pt x="388198" y="766376"/>
                    <a:pt x="388828" y="766376"/>
                    <a:pt x="389459" y="766017"/>
                  </a:cubicBezTo>
                  <a:cubicBezTo>
                    <a:pt x="500778" y="719961"/>
                    <a:pt x="582770" y="598347"/>
                    <a:pt x="584346" y="456848"/>
                  </a:cubicBezTo>
                  <a:lnTo>
                    <a:pt x="584346" y="0"/>
                  </a:lnTo>
                  <a:lnTo>
                    <a:pt x="0" y="0"/>
                  </a:lnTo>
                  <a:lnTo>
                    <a:pt x="0" y="456509"/>
                  </a:lnTo>
                  <a:cubicBezTo>
                    <a:pt x="1577" y="599066"/>
                    <a:pt x="82307" y="720681"/>
                    <a:pt x="194887" y="765657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38100"/>
              <a:ext cx="584346" cy="619626"/>
            </a:xfrm>
            <a:prstGeom prst="rect">
              <a:avLst/>
            </a:prstGeom>
          </p:spPr>
          <p:txBody>
            <a:bodyPr lIns="27432" tIns="27432" rIns="27432" bIns="27432" rtlCol="0" anchor="ctr"/>
            <a:lstStyle/>
            <a:p>
              <a:pPr algn="ctr">
                <a:lnSpc>
                  <a:spcPts val="777"/>
                </a:lnSpc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 flipV="1">
            <a:off x="9859587" y="6655085"/>
            <a:ext cx="0" cy="1354289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30" name="Group 30"/>
          <p:cNvGrpSpPr/>
          <p:nvPr/>
        </p:nvGrpSpPr>
        <p:grpSpPr>
          <a:xfrm rot="-5400000">
            <a:off x="10263857" y="6484048"/>
            <a:ext cx="1249204" cy="1591278"/>
            <a:chOff x="0" y="0"/>
            <a:chExt cx="616035" cy="78472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16035" cy="784726"/>
            </a:xfrm>
            <a:custGeom>
              <a:avLst/>
              <a:gdLst/>
              <a:ahLst/>
              <a:cxnLst/>
              <a:rect l="l" t="t" r="r" b="b"/>
              <a:pathLst>
                <a:path w="616035" h="784726">
                  <a:moveTo>
                    <a:pt x="205456" y="765657"/>
                  </a:moveTo>
                  <a:cubicBezTo>
                    <a:pt x="237039" y="777171"/>
                    <a:pt x="272944" y="784726"/>
                    <a:pt x="308184" y="784726"/>
                  </a:cubicBezTo>
                  <a:cubicBezTo>
                    <a:pt x="343424" y="784726"/>
                    <a:pt x="377335" y="778249"/>
                    <a:pt x="408584" y="766736"/>
                  </a:cubicBezTo>
                  <a:cubicBezTo>
                    <a:pt x="409250" y="766376"/>
                    <a:pt x="409915" y="766376"/>
                    <a:pt x="410579" y="766017"/>
                  </a:cubicBezTo>
                  <a:cubicBezTo>
                    <a:pt x="527935" y="719961"/>
                    <a:pt x="614373" y="598347"/>
                    <a:pt x="616035" y="456848"/>
                  </a:cubicBezTo>
                  <a:lnTo>
                    <a:pt x="616035" y="0"/>
                  </a:lnTo>
                  <a:lnTo>
                    <a:pt x="0" y="0"/>
                  </a:lnTo>
                  <a:lnTo>
                    <a:pt x="0" y="456509"/>
                  </a:lnTo>
                  <a:cubicBezTo>
                    <a:pt x="1662" y="599066"/>
                    <a:pt x="86770" y="720681"/>
                    <a:pt x="205456" y="76565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38100"/>
              <a:ext cx="616035" cy="619626"/>
            </a:xfrm>
            <a:prstGeom prst="rect">
              <a:avLst/>
            </a:prstGeom>
          </p:spPr>
          <p:txBody>
            <a:bodyPr lIns="27432" tIns="27432" rIns="27432" bIns="27432" rtlCol="0" anchor="ctr"/>
            <a:lstStyle/>
            <a:p>
              <a:pPr algn="ctr">
                <a:lnSpc>
                  <a:spcPts val="777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955258" y="4491792"/>
            <a:ext cx="5076183" cy="34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568" lvl="1" indent="-220784" algn="just">
              <a:lnSpc>
                <a:spcPts val="2863"/>
              </a:lnSpc>
              <a:buFont typeface="Arial"/>
              <a:buChar char="•"/>
            </a:pPr>
            <a:r>
              <a:rPr lang="en-US" sz="2045" spc="81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Certificados y recetas médicas.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955258" y="5792393"/>
            <a:ext cx="3431126" cy="34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568" lvl="1" indent="-220784" algn="l">
              <a:lnSpc>
                <a:spcPts val="2863"/>
              </a:lnSpc>
              <a:buFont typeface="Arial"/>
              <a:buChar char="•"/>
            </a:pPr>
            <a:r>
              <a:rPr lang="en-US" sz="2045" spc="81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Usu</a:t>
            </a:r>
            <a:r>
              <a:rPr lang="en-US" sz="2045" u="none" strike="noStrike" spc="81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arios y roles.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955258" y="7095563"/>
            <a:ext cx="3431126" cy="34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568" lvl="1" indent="-220784" algn="l">
              <a:lnSpc>
                <a:spcPts val="2863"/>
              </a:lnSpc>
              <a:buFont typeface="Arial"/>
              <a:buChar char="•"/>
            </a:pPr>
            <a:r>
              <a:rPr lang="en-US" sz="2045" u="none" strike="noStrike" spc="81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Arquitectura escalable.</a:t>
            </a:r>
          </a:p>
        </p:txBody>
      </p:sp>
      <p:sp>
        <p:nvSpPr>
          <p:cNvPr id="36" name="Freeform 36"/>
          <p:cNvSpPr/>
          <p:nvPr/>
        </p:nvSpPr>
        <p:spPr>
          <a:xfrm>
            <a:off x="2414471" y="4322441"/>
            <a:ext cx="833931" cy="767216"/>
          </a:xfrm>
          <a:custGeom>
            <a:avLst/>
            <a:gdLst/>
            <a:ahLst/>
            <a:cxnLst/>
            <a:rect l="l" t="t" r="r" b="b"/>
            <a:pathLst>
              <a:path w="833931" h="767216">
                <a:moveTo>
                  <a:pt x="0" y="0"/>
                </a:moveTo>
                <a:lnTo>
                  <a:pt x="833931" y="0"/>
                </a:lnTo>
                <a:lnTo>
                  <a:pt x="833931" y="767216"/>
                </a:lnTo>
                <a:lnTo>
                  <a:pt x="0" y="767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2550161" y="5732531"/>
            <a:ext cx="698242" cy="672851"/>
          </a:xfrm>
          <a:custGeom>
            <a:avLst/>
            <a:gdLst/>
            <a:ahLst/>
            <a:cxnLst/>
            <a:rect l="l" t="t" r="r" b="b"/>
            <a:pathLst>
              <a:path w="698242" h="672851">
                <a:moveTo>
                  <a:pt x="0" y="0"/>
                </a:moveTo>
                <a:lnTo>
                  <a:pt x="698241" y="0"/>
                </a:lnTo>
                <a:lnTo>
                  <a:pt x="698241" y="672851"/>
                </a:lnTo>
                <a:lnTo>
                  <a:pt x="0" y="672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Freeform 38"/>
          <p:cNvSpPr/>
          <p:nvPr/>
        </p:nvSpPr>
        <p:spPr>
          <a:xfrm>
            <a:off x="2550161" y="6935618"/>
            <a:ext cx="754076" cy="773772"/>
          </a:xfrm>
          <a:custGeom>
            <a:avLst/>
            <a:gdLst/>
            <a:ahLst/>
            <a:cxnLst/>
            <a:rect l="l" t="t" r="r" b="b"/>
            <a:pathLst>
              <a:path w="754076" h="773772">
                <a:moveTo>
                  <a:pt x="0" y="0"/>
                </a:moveTo>
                <a:lnTo>
                  <a:pt x="754076" y="0"/>
                </a:lnTo>
                <a:lnTo>
                  <a:pt x="754076" y="773772"/>
                </a:lnTo>
                <a:lnTo>
                  <a:pt x="0" y="773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9" name="Freeform 39"/>
          <p:cNvSpPr/>
          <p:nvPr/>
        </p:nvSpPr>
        <p:spPr>
          <a:xfrm>
            <a:off x="10337632" y="5573881"/>
            <a:ext cx="877029" cy="805272"/>
          </a:xfrm>
          <a:custGeom>
            <a:avLst/>
            <a:gdLst/>
            <a:ahLst/>
            <a:cxnLst/>
            <a:rect l="l" t="t" r="r" b="b"/>
            <a:pathLst>
              <a:path w="877029" h="805272">
                <a:moveTo>
                  <a:pt x="0" y="0"/>
                </a:moveTo>
                <a:lnTo>
                  <a:pt x="877029" y="0"/>
                </a:lnTo>
                <a:lnTo>
                  <a:pt x="877029" y="805272"/>
                </a:lnTo>
                <a:lnTo>
                  <a:pt x="0" y="8052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/>
          <p:cNvSpPr/>
          <p:nvPr/>
        </p:nvSpPr>
        <p:spPr>
          <a:xfrm>
            <a:off x="10421562" y="6886027"/>
            <a:ext cx="858333" cy="805272"/>
          </a:xfrm>
          <a:custGeom>
            <a:avLst/>
            <a:gdLst/>
            <a:ahLst/>
            <a:cxnLst/>
            <a:rect l="l" t="t" r="r" b="b"/>
            <a:pathLst>
              <a:path w="858333" h="805272">
                <a:moveTo>
                  <a:pt x="0" y="0"/>
                </a:moveTo>
                <a:lnTo>
                  <a:pt x="858333" y="0"/>
                </a:lnTo>
                <a:lnTo>
                  <a:pt x="858333" y="805273"/>
                </a:lnTo>
                <a:lnTo>
                  <a:pt x="0" y="8052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10337632" y="4283094"/>
            <a:ext cx="756841" cy="803596"/>
          </a:xfrm>
          <a:custGeom>
            <a:avLst/>
            <a:gdLst/>
            <a:ahLst/>
            <a:cxnLst/>
            <a:rect l="l" t="t" r="r" b="b"/>
            <a:pathLst>
              <a:path w="756841" h="803596">
                <a:moveTo>
                  <a:pt x="0" y="0"/>
                </a:moveTo>
                <a:lnTo>
                  <a:pt x="756841" y="0"/>
                </a:lnTo>
                <a:lnTo>
                  <a:pt x="756841" y="803596"/>
                </a:lnTo>
                <a:lnTo>
                  <a:pt x="0" y="8035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>
            <a:off x="-2779578" y="6598549"/>
            <a:ext cx="8340419" cy="8558266"/>
          </a:xfrm>
          <a:custGeom>
            <a:avLst/>
            <a:gdLst/>
            <a:ahLst/>
            <a:cxnLst/>
            <a:rect l="l" t="t" r="r" b="b"/>
            <a:pathLst>
              <a:path w="8340419" h="8558266">
                <a:moveTo>
                  <a:pt x="0" y="0"/>
                </a:moveTo>
                <a:lnTo>
                  <a:pt x="8340419" y="0"/>
                </a:lnTo>
                <a:lnTo>
                  <a:pt x="8340419" y="8558266"/>
                </a:lnTo>
                <a:lnTo>
                  <a:pt x="0" y="8558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76723" y="1401707"/>
            <a:ext cx="6227659" cy="1739328"/>
            <a:chOff x="0" y="0"/>
            <a:chExt cx="918283" cy="2564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8283" cy="256468"/>
            </a:xfrm>
            <a:custGeom>
              <a:avLst/>
              <a:gdLst/>
              <a:ahLst/>
              <a:cxnLst/>
              <a:rect l="l" t="t" r="r" b="b"/>
              <a:pathLst>
                <a:path w="918283" h="256468">
                  <a:moveTo>
                    <a:pt x="0" y="0"/>
                  </a:moveTo>
                  <a:lnTo>
                    <a:pt x="918283" y="0"/>
                  </a:lnTo>
                  <a:lnTo>
                    <a:pt x="918283" y="256468"/>
                  </a:lnTo>
                  <a:lnTo>
                    <a:pt x="0" y="25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18283" cy="285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775913" y="1315982"/>
            <a:ext cx="8736174" cy="172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67"/>
              </a:lnSpc>
              <a:spcBef>
                <a:spcPct val="0"/>
              </a:spcBef>
            </a:pPr>
            <a:r>
              <a:rPr lang="en-US" sz="5048" b="1" u="none" strike="noStrike" spc="49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LIMITACIONES DEL PROYECTO</a:t>
            </a:r>
          </a:p>
        </p:txBody>
      </p:sp>
      <p:sp>
        <p:nvSpPr>
          <p:cNvPr id="7" name="Freeform 7"/>
          <p:cNvSpPr/>
          <p:nvPr/>
        </p:nvSpPr>
        <p:spPr>
          <a:xfrm>
            <a:off x="5307472" y="6691457"/>
            <a:ext cx="7673056" cy="7673056"/>
          </a:xfrm>
          <a:custGeom>
            <a:avLst/>
            <a:gdLst/>
            <a:ahLst/>
            <a:cxnLst/>
            <a:rect l="l" t="t" r="r" b="b"/>
            <a:pathLst>
              <a:path w="7673056" h="7673056">
                <a:moveTo>
                  <a:pt x="0" y="0"/>
                </a:moveTo>
                <a:lnTo>
                  <a:pt x="7673056" y="0"/>
                </a:lnTo>
                <a:lnTo>
                  <a:pt x="7673056" y="7673055"/>
                </a:lnTo>
                <a:lnTo>
                  <a:pt x="0" y="7673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024816" y="5742083"/>
            <a:ext cx="2238367" cy="2238367"/>
          </a:xfrm>
          <a:custGeom>
            <a:avLst/>
            <a:gdLst/>
            <a:ahLst/>
            <a:cxnLst/>
            <a:rect l="l" t="t" r="r" b="b"/>
            <a:pathLst>
              <a:path w="2238367" h="2238367">
                <a:moveTo>
                  <a:pt x="0" y="0"/>
                </a:moveTo>
                <a:lnTo>
                  <a:pt x="2238368" y="0"/>
                </a:lnTo>
                <a:lnTo>
                  <a:pt x="2238368" y="2238368"/>
                </a:lnTo>
                <a:lnTo>
                  <a:pt x="0" y="2238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539534" y="7618516"/>
            <a:ext cx="2238367" cy="2238367"/>
          </a:xfrm>
          <a:custGeom>
            <a:avLst/>
            <a:gdLst/>
            <a:ahLst/>
            <a:cxnLst/>
            <a:rect l="l" t="t" r="r" b="b"/>
            <a:pathLst>
              <a:path w="2238367" h="2238367">
                <a:moveTo>
                  <a:pt x="0" y="0"/>
                </a:moveTo>
                <a:lnTo>
                  <a:pt x="2238367" y="0"/>
                </a:lnTo>
                <a:lnTo>
                  <a:pt x="2238367" y="2238367"/>
                </a:lnTo>
                <a:lnTo>
                  <a:pt x="0" y="22383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510099" y="7618516"/>
            <a:ext cx="2238367" cy="2238367"/>
          </a:xfrm>
          <a:custGeom>
            <a:avLst/>
            <a:gdLst/>
            <a:ahLst/>
            <a:cxnLst/>
            <a:rect l="l" t="t" r="r" b="b"/>
            <a:pathLst>
              <a:path w="2238367" h="2238367">
                <a:moveTo>
                  <a:pt x="0" y="0"/>
                </a:moveTo>
                <a:lnTo>
                  <a:pt x="2238367" y="0"/>
                </a:lnTo>
                <a:lnTo>
                  <a:pt x="2238367" y="2238367"/>
                </a:lnTo>
                <a:lnTo>
                  <a:pt x="0" y="22383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833469" y="4755182"/>
            <a:ext cx="3474003" cy="2179798"/>
            <a:chOff x="0" y="0"/>
            <a:chExt cx="914964" cy="5741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964" cy="574103"/>
            </a:xfrm>
            <a:custGeom>
              <a:avLst/>
              <a:gdLst/>
              <a:ahLst/>
              <a:cxnLst/>
              <a:rect l="l" t="t" r="r" b="b"/>
              <a:pathLst>
                <a:path w="914964" h="574103">
                  <a:moveTo>
                    <a:pt x="66856" y="0"/>
                  </a:moveTo>
                  <a:lnTo>
                    <a:pt x="848108" y="0"/>
                  </a:lnTo>
                  <a:cubicBezTo>
                    <a:pt x="885031" y="0"/>
                    <a:pt x="914964" y="29932"/>
                    <a:pt x="914964" y="66856"/>
                  </a:cubicBezTo>
                  <a:lnTo>
                    <a:pt x="914964" y="507247"/>
                  </a:lnTo>
                  <a:cubicBezTo>
                    <a:pt x="914964" y="544171"/>
                    <a:pt x="885031" y="574103"/>
                    <a:pt x="848108" y="574103"/>
                  </a:cubicBezTo>
                  <a:lnTo>
                    <a:pt x="66856" y="574103"/>
                  </a:lnTo>
                  <a:cubicBezTo>
                    <a:pt x="29932" y="574103"/>
                    <a:pt x="0" y="544171"/>
                    <a:pt x="0" y="507247"/>
                  </a:cubicBezTo>
                  <a:lnTo>
                    <a:pt x="0" y="66856"/>
                  </a:lnTo>
                  <a:cubicBezTo>
                    <a:pt x="0" y="29932"/>
                    <a:pt x="29932" y="0"/>
                    <a:pt x="66856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14964" cy="631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b="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 incluye módulo de inventario médico.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351126" y="3350586"/>
            <a:ext cx="3474003" cy="2179798"/>
            <a:chOff x="0" y="0"/>
            <a:chExt cx="914964" cy="5741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964" cy="574103"/>
            </a:xfrm>
            <a:custGeom>
              <a:avLst/>
              <a:gdLst/>
              <a:ahLst/>
              <a:cxnLst/>
              <a:rect l="l" t="t" r="r" b="b"/>
              <a:pathLst>
                <a:path w="914964" h="574103">
                  <a:moveTo>
                    <a:pt x="66856" y="0"/>
                  </a:moveTo>
                  <a:lnTo>
                    <a:pt x="848108" y="0"/>
                  </a:lnTo>
                  <a:cubicBezTo>
                    <a:pt x="885031" y="0"/>
                    <a:pt x="914964" y="29932"/>
                    <a:pt x="914964" y="66856"/>
                  </a:cubicBezTo>
                  <a:lnTo>
                    <a:pt x="914964" y="507247"/>
                  </a:lnTo>
                  <a:cubicBezTo>
                    <a:pt x="914964" y="544171"/>
                    <a:pt x="885031" y="574103"/>
                    <a:pt x="848108" y="574103"/>
                  </a:cubicBezTo>
                  <a:lnTo>
                    <a:pt x="66856" y="574103"/>
                  </a:lnTo>
                  <a:cubicBezTo>
                    <a:pt x="29932" y="574103"/>
                    <a:pt x="0" y="544171"/>
                    <a:pt x="0" y="507247"/>
                  </a:cubicBezTo>
                  <a:lnTo>
                    <a:pt x="0" y="66856"/>
                  </a:lnTo>
                  <a:cubicBezTo>
                    <a:pt x="0" y="29932"/>
                    <a:pt x="29932" y="0"/>
                    <a:pt x="66856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914964" cy="631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b="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 contempla integración con sistemas externos.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531774" y="5530383"/>
            <a:ext cx="3474003" cy="2179798"/>
            <a:chOff x="0" y="0"/>
            <a:chExt cx="914964" cy="5741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964" cy="574103"/>
            </a:xfrm>
            <a:custGeom>
              <a:avLst/>
              <a:gdLst/>
              <a:ahLst/>
              <a:cxnLst/>
              <a:rect l="l" t="t" r="r" b="b"/>
              <a:pathLst>
                <a:path w="914964" h="574103">
                  <a:moveTo>
                    <a:pt x="66856" y="0"/>
                  </a:moveTo>
                  <a:lnTo>
                    <a:pt x="848108" y="0"/>
                  </a:lnTo>
                  <a:cubicBezTo>
                    <a:pt x="885031" y="0"/>
                    <a:pt x="914964" y="29932"/>
                    <a:pt x="914964" y="66856"/>
                  </a:cubicBezTo>
                  <a:lnTo>
                    <a:pt x="914964" y="507247"/>
                  </a:lnTo>
                  <a:cubicBezTo>
                    <a:pt x="914964" y="544171"/>
                    <a:pt x="885031" y="574103"/>
                    <a:pt x="848108" y="574103"/>
                  </a:cubicBezTo>
                  <a:lnTo>
                    <a:pt x="66856" y="574103"/>
                  </a:lnTo>
                  <a:cubicBezTo>
                    <a:pt x="29932" y="574103"/>
                    <a:pt x="0" y="544171"/>
                    <a:pt x="0" y="507247"/>
                  </a:cubicBezTo>
                  <a:lnTo>
                    <a:pt x="0" y="66856"/>
                  </a:lnTo>
                  <a:cubicBezTo>
                    <a:pt x="0" y="29932"/>
                    <a:pt x="29932" y="0"/>
                    <a:pt x="66856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14964" cy="631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b="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App móvil nativa fuera del alcance (solo responsive para clientes).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 rot="-4176364">
            <a:off x="-3785628" y="5987652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902630" y="7892803"/>
            <a:ext cx="1453305" cy="1672213"/>
          </a:xfrm>
          <a:custGeom>
            <a:avLst/>
            <a:gdLst/>
            <a:ahLst/>
            <a:cxnLst/>
            <a:rect l="l" t="t" r="r" b="b"/>
            <a:pathLst>
              <a:path w="1453305" h="1672213">
                <a:moveTo>
                  <a:pt x="0" y="0"/>
                </a:moveTo>
                <a:lnTo>
                  <a:pt x="1453305" y="0"/>
                </a:lnTo>
                <a:lnTo>
                  <a:pt x="1453305" y="1672213"/>
                </a:lnTo>
                <a:lnTo>
                  <a:pt x="0" y="16722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409613" y="6208330"/>
            <a:ext cx="1468773" cy="1305873"/>
          </a:xfrm>
          <a:custGeom>
            <a:avLst/>
            <a:gdLst/>
            <a:ahLst/>
            <a:cxnLst/>
            <a:rect l="l" t="t" r="r" b="b"/>
            <a:pathLst>
              <a:path w="1468773" h="1305873">
                <a:moveTo>
                  <a:pt x="0" y="0"/>
                </a:moveTo>
                <a:lnTo>
                  <a:pt x="1468774" y="0"/>
                </a:lnTo>
                <a:lnTo>
                  <a:pt x="1468774" y="1305873"/>
                </a:lnTo>
                <a:lnTo>
                  <a:pt x="0" y="13058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2026646" y="7980451"/>
            <a:ext cx="1505128" cy="1496918"/>
          </a:xfrm>
          <a:custGeom>
            <a:avLst/>
            <a:gdLst/>
            <a:ahLst/>
            <a:cxnLst/>
            <a:rect l="l" t="t" r="r" b="b"/>
            <a:pathLst>
              <a:path w="1505128" h="1496918">
                <a:moveTo>
                  <a:pt x="0" y="0"/>
                </a:moveTo>
                <a:lnTo>
                  <a:pt x="1505128" y="0"/>
                </a:lnTo>
                <a:lnTo>
                  <a:pt x="1505128" y="1496918"/>
                </a:lnTo>
                <a:lnTo>
                  <a:pt x="0" y="14969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3407869">
            <a:off x="12052165" y="1118883"/>
            <a:ext cx="12471670" cy="5351480"/>
          </a:xfrm>
          <a:custGeom>
            <a:avLst/>
            <a:gdLst/>
            <a:ahLst/>
            <a:cxnLst/>
            <a:rect l="l" t="t" r="r" b="b"/>
            <a:pathLst>
              <a:path w="12471670" h="535148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203215" y="8000346"/>
            <a:ext cx="4876482" cy="516424"/>
          </a:xfrm>
          <a:custGeom>
            <a:avLst/>
            <a:gdLst/>
            <a:ahLst/>
            <a:cxnLst/>
            <a:rect l="l" t="t" r="r" b="b"/>
            <a:pathLst>
              <a:path w="4876482" h="516424">
                <a:moveTo>
                  <a:pt x="0" y="0"/>
                </a:moveTo>
                <a:lnTo>
                  <a:pt x="4876483" y="0"/>
                </a:lnTo>
                <a:lnTo>
                  <a:pt x="4876483" y="516423"/>
                </a:lnTo>
                <a:lnTo>
                  <a:pt x="0" y="5164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6495"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2159668" y="2736972"/>
            <a:ext cx="5926896" cy="5926896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24460" y="124460"/>
              <a:ext cx="6101080" cy="6101080"/>
            </a:xfrm>
            <a:custGeom>
              <a:avLst/>
              <a:gdLst/>
              <a:ahLst/>
              <a:cxnLst/>
              <a:rect l="l" t="t" r="r" b="b"/>
              <a:pathLst>
                <a:path w="6101080" h="6101080">
                  <a:moveTo>
                    <a:pt x="0" y="0"/>
                  </a:moveTo>
                  <a:lnTo>
                    <a:pt x="6101080" y="0"/>
                  </a:lnTo>
                  <a:lnTo>
                    <a:pt x="6101080" y="6101080"/>
                  </a:lnTo>
                  <a:lnTo>
                    <a:pt x="0" y="6101080"/>
                  </a:lnTo>
                  <a:close/>
                </a:path>
              </a:pathLst>
            </a:custGeom>
            <a:blipFill>
              <a:blip r:embed="rId6"/>
              <a:stretch>
                <a:fillRect l="-24931" r="-24931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6350000"/>
                  </a:moveTo>
                  <a:lnTo>
                    <a:pt x="0" y="6350000"/>
                  </a:lnTo>
                  <a:lnTo>
                    <a:pt x="0" y="0"/>
                  </a:lnTo>
                  <a:lnTo>
                    <a:pt x="6350000" y="0"/>
                  </a:lnTo>
                  <a:lnTo>
                    <a:pt x="6350000" y="6350000"/>
                  </a:lnTo>
                  <a:close/>
                  <a:moveTo>
                    <a:pt x="248920" y="6101080"/>
                  </a:moveTo>
                  <a:lnTo>
                    <a:pt x="6099810" y="6101080"/>
                  </a:lnTo>
                  <a:lnTo>
                    <a:pt x="6099810" y="248920"/>
                  </a:lnTo>
                  <a:lnTo>
                    <a:pt x="248920" y="248920"/>
                  </a:lnTo>
                  <a:lnTo>
                    <a:pt x="248920" y="6101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220749" y="3633096"/>
            <a:ext cx="4858949" cy="4367250"/>
            <a:chOff x="0" y="0"/>
            <a:chExt cx="1279723" cy="11502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79723" cy="1150222"/>
            </a:xfrm>
            <a:custGeom>
              <a:avLst/>
              <a:gdLst/>
              <a:ahLst/>
              <a:cxnLst/>
              <a:rect l="l" t="t" r="r" b="b"/>
              <a:pathLst>
                <a:path w="1279723" h="1150222">
                  <a:moveTo>
                    <a:pt x="0" y="0"/>
                  </a:moveTo>
                  <a:lnTo>
                    <a:pt x="1279723" y="0"/>
                  </a:lnTo>
                  <a:lnTo>
                    <a:pt x="1279723" y="1150222"/>
                  </a:lnTo>
                  <a:lnTo>
                    <a:pt x="0" y="115022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279723" cy="120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3407869">
            <a:off x="-4696947" y="10150458"/>
            <a:ext cx="12471670" cy="5351480"/>
          </a:xfrm>
          <a:custGeom>
            <a:avLst/>
            <a:gdLst/>
            <a:ahLst/>
            <a:cxnLst/>
            <a:rect l="l" t="t" r="r" b="b"/>
            <a:pathLst>
              <a:path w="12471670" h="535148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725564" y="3994271"/>
            <a:ext cx="2090304" cy="2148910"/>
          </a:xfrm>
          <a:custGeom>
            <a:avLst/>
            <a:gdLst/>
            <a:ahLst/>
            <a:cxnLst/>
            <a:rect l="l" t="t" r="r" b="b"/>
            <a:pathLst>
              <a:path w="2090304" h="2148910">
                <a:moveTo>
                  <a:pt x="0" y="0"/>
                </a:moveTo>
                <a:lnTo>
                  <a:pt x="2090304" y="0"/>
                </a:lnTo>
                <a:lnTo>
                  <a:pt x="2090304" y="2148910"/>
                </a:lnTo>
                <a:lnTo>
                  <a:pt x="0" y="2148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918031" y="1667628"/>
            <a:ext cx="7241638" cy="84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67"/>
              </a:lnSpc>
              <a:spcBef>
                <a:spcPct val="0"/>
              </a:spcBef>
            </a:pPr>
            <a:r>
              <a:rPr lang="en-US" sz="5048" b="1" u="none" strike="noStrike" spc="49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SOLUCIÓN PROPUESTA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44580" y="4292090"/>
            <a:ext cx="5567815" cy="5686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1615" lvl="1" indent="-270807" algn="l">
              <a:lnSpc>
                <a:spcPts val="3461"/>
              </a:lnSpc>
              <a:buFont typeface="Arial"/>
              <a:buChar char="•"/>
            </a:pPr>
            <a:r>
              <a:rPr lang="en-US" sz="2508" b="1" u="none" spc="245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Gestión completa de pacientes y propietarios.</a:t>
            </a:r>
          </a:p>
          <a:p>
            <a:pPr marL="541615" lvl="1" indent="-270807" algn="l">
              <a:lnSpc>
                <a:spcPts val="3461"/>
              </a:lnSpc>
              <a:buFont typeface="Arial"/>
              <a:buChar char="•"/>
            </a:pPr>
            <a:r>
              <a:rPr lang="en-US" sz="2508" b="1" u="none" spc="245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Registro de atenciones clínicas con historial.</a:t>
            </a:r>
          </a:p>
          <a:p>
            <a:pPr marL="541615" lvl="1" indent="-270807" algn="l">
              <a:lnSpc>
                <a:spcPts val="3461"/>
              </a:lnSpc>
              <a:buFont typeface="Arial"/>
              <a:buChar char="•"/>
            </a:pPr>
            <a:r>
              <a:rPr lang="en-US" sz="2508" b="1" u="none" spc="245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Agenda online con disponibilidad en tiempo real.</a:t>
            </a:r>
          </a:p>
          <a:p>
            <a:pPr marL="541615" lvl="1" indent="-270807" algn="l">
              <a:lnSpc>
                <a:spcPts val="3461"/>
              </a:lnSpc>
              <a:buFont typeface="Arial"/>
              <a:buChar char="•"/>
            </a:pPr>
            <a:r>
              <a:rPr lang="en-US" sz="2508" b="1" u="none" spc="245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Generación automática de certificados, recetas y presupuestos.</a:t>
            </a:r>
          </a:p>
          <a:p>
            <a:pPr marL="541615" lvl="1" indent="-270807" algn="l">
              <a:lnSpc>
                <a:spcPts val="3461"/>
              </a:lnSpc>
              <a:buFont typeface="Arial"/>
              <a:buChar char="•"/>
            </a:pPr>
            <a:r>
              <a:rPr lang="en-US" sz="2508" b="1" u="none" spc="245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Roles: administrador, veterinario y usuario.</a:t>
            </a:r>
          </a:p>
          <a:p>
            <a:pPr algn="l">
              <a:lnSpc>
                <a:spcPts val="3461"/>
              </a:lnSpc>
              <a:spcBef>
                <a:spcPct val="0"/>
              </a:spcBef>
            </a:pPr>
            <a:endParaRPr lang="en-US" sz="2508" b="1" u="none" spc="245">
              <a:solidFill>
                <a:srgbClr val="231F2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498723" y="6590436"/>
            <a:ext cx="4303002" cy="99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951" b="1" spc="289">
                <a:solidFill>
                  <a:srgbClr val="FDFBFB"/>
                </a:solidFill>
                <a:latin typeface="DM Sans Bold"/>
                <a:ea typeface="DM Sans Bold"/>
                <a:cs typeface="DM Sans Bold"/>
                <a:sym typeface="DM Sans Bold"/>
              </a:rPr>
              <a:t>PLATAFORMA WEB QUE INTEGRA</a:t>
            </a:r>
          </a:p>
        </p:txBody>
      </p:sp>
      <p:sp>
        <p:nvSpPr>
          <p:cNvPr id="16" name="Freeform 16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0032" y="188572"/>
            <a:ext cx="4244978" cy="9909856"/>
            <a:chOff x="0" y="0"/>
            <a:chExt cx="1118019" cy="26100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8019" cy="2610003"/>
            </a:xfrm>
            <a:custGeom>
              <a:avLst/>
              <a:gdLst/>
              <a:ahLst/>
              <a:cxnLst/>
              <a:rect l="l" t="t" r="r" b="b"/>
              <a:pathLst>
                <a:path w="1118019" h="2610003">
                  <a:moveTo>
                    <a:pt x="0" y="0"/>
                  </a:moveTo>
                  <a:lnTo>
                    <a:pt x="1118019" y="0"/>
                  </a:lnTo>
                  <a:lnTo>
                    <a:pt x="1118019" y="2610003"/>
                  </a:lnTo>
                  <a:lnTo>
                    <a:pt x="0" y="2610003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118019" cy="2629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79304" y="1514475"/>
            <a:ext cx="4856966" cy="1475943"/>
            <a:chOff x="0" y="0"/>
            <a:chExt cx="937959" cy="2850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7959" cy="285029"/>
            </a:xfrm>
            <a:custGeom>
              <a:avLst/>
              <a:gdLst/>
              <a:ahLst/>
              <a:cxnLst/>
              <a:rect l="l" t="t" r="r" b="b"/>
              <a:pathLst>
                <a:path w="937959" h="285029">
                  <a:moveTo>
                    <a:pt x="0" y="0"/>
                  </a:moveTo>
                  <a:lnTo>
                    <a:pt x="937959" y="0"/>
                  </a:lnTo>
                  <a:lnTo>
                    <a:pt x="937959" y="285029"/>
                  </a:lnTo>
                  <a:lnTo>
                    <a:pt x="0" y="2850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937959" cy="304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107787" y="3393520"/>
            <a:ext cx="7363135" cy="486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276" b="1" spc="466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SCRUM Adaptado</a:t>
            </a:r>
          </a:p>
          <a:p>
            <a:pPr algn="l">
              <a:lnSpc>
                <a:spcPts val="3574"/>
              </a:lnSpc>
            </a:pPr>
            <a:endParaRPr lang="en-US" sz="2276" b="1" spc="466">
              <a:solidFill>
                <a:srgbClr val="231F2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Sprints quincenales</a:t>
            </a:r>
          </a:p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Reuniones breves de avance</a:t>
            </a:r>
          </a:p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Roles definidos: PM y Dev </a:t>
            </a:r>
          </a:p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Entregables incrementales por sprint</a:t>
            </a:r>
          </a:p>
          <a:p>
            <a:pPr marL="491586" lvl="1" indent="-245793" algn="l">
              <a:lnSpc>
                <a:spcPts val="3574"/>
              </a:lnSpc>
              <a:buFont typeface="Arial"/>
              <a:buChar char="•"/>
            </a:pPr>
            <a:r>
              <a:rPr lang="en-US" sz="2276" spc="46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Validación continua con la clienta</a:t>
            </a:r>
          </a:p>
          <a:p>
            <a:pPr algn="l">
              <a:lnSpc>
                <a:spcPts val="3574"/>
              </a:lnSpc>
            </a:pPr>
            <a:endParaRPr lang="en-US" sz="2276" spc="466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3142"/>
              </a:lnSpc>
            </a:pPr>
            <a:endParaRPr lang="en-US" sz="2276" spc="466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Freeform 10"/>
          <p:cNvSpPr/>
          <p:nvPr/>
        </p:nvSpPr>
        <p:spPr>
          <a:xfrm rot="7659121">
            <a:off x="12942578" y="6275513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679304" y="1778744"/>
            <a:ext cx="4856966" cy="84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6"/>
              </a:lnSpc>
            </a:pPr>
            <a:r>
              <a:rPr lang="en-US" sz="5040" b="1" spc="49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METODOLOGIA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28700" y="3832329"/>
            <a:ext cx="6454910" cy="3872946"/>
            <a:chOff x="0" y="0"/>
            <a:chExt cx="6350000" cy="381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5"/>
              <a:stretch>
                <a:fillRect t="-5520" b="-5520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5715000" y="19050"/>
                  </a:moveTo>
                  <a:cubicBezTo>
                    <a:pt x="6054090" y="19050"/>
                    <a:pt x="6330950" y="295910"/>
                    <a:pt x="6330950" y="635000"/>
                  </a:cubicBezTo>
                  <a:lnTo>
                    <a:pt x="6330950" y="3175000"/>
                  </a:lnTo>
                  <a:cubicBezTo>
                    <a:pt x="6330950" y="3514090"/>
                    <a:pt x="6054090" y="3790950"/>
                    <a:pt x="5715000" y="3790950"/>
                  </a:cubicBezTo>
                  <a:lnTo>
                    <a:pt x="635000" y="3790950"/>
                  </a:lnTo>
                  <a:cubicBezTo>
                    <a:pt x="295910" y="3790950"/>
                    <a:pt x="19050" y="3514090"/>
                    <a:pt x="19050" y="3175000"/>
                  </a:cubicBezTo>
                  <a:lnTo>
                    <a:pt x="19050" y="635000"/>
                  </a:lnTo>
                  <a:cubicBezTo>
                    <a:pt x="19050" y="295910"/>
                    <a:pt x="295910" y="19050"/>
                    <a:pt x="635000" y="19050"/>
                  </a:cubicBezTo>
                  <a:lnTo>
                    <a:pt x="5715000" y="19050"/>
                  </a:lnTo>
                  <a:moveTo>
                    <a:pt x="5715000" y="0"/>
                  </a:moveTo>
                  <a:lnTo>
                    <a:pt x="635000" y="0"/>
                  </a:lnTo>
                  <a:cubicBezTo>
                    <a:pt x="284480" y="0"/>
                    <a:pt x="0" y="284480"/>
                    <a:pt x="0" y="635000"/>
                  </a:cubicBezTo>
                  <a:lnTo>
                    <a:pt x="0" y="3175000"/>
                  </a:lnTo>
                  <a:cubicBezTo>
                    <a:pt x="0" y="3525520"/>
                    <a:pt x="284480" y="3810000"/>
                    <a:pt x="635000" y="3810000"/>
                  </a:cubicBezTo>
                  <a:lnTo>
                    <a:pt x="5715000" y="3810000"/>
                  </a:lnTo>
                  <a:cubicBezTo>
                    <a:pt x="6065520" y="3810000"/>
                    <a:pt x="6350000" y="3525520"/>
                    <a:pt x="6350000" y="3175000"/>
                  </a:cubicBezTo>
                  <a:lnTo>
                    <a:pt x="6350000" y="635000"/>
                  </a:lnTo>
                  <a:cubicBezTo>
                    <a:pt x="6350000" y="284480"/>
                    <a:pt x="6065520" y="0"/>
                    <a:pt x="5715000" y="0"/>
                  </a:cubicBezTo>
                  <a:lnTo>
                    <a:pt x="571500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808781" y="889942"/>
            <a:ext cx="6670438" cy="1089771"/>
            <a:chOff x="0" y="0"/>
            <a:chExt cx="1288170" cy="2104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8170" cy="210452"/>
            </a:xfrm>
            <a:custGeom>
              <a:avLst/>
              <a:gdLst/>
              <a:ahLst/>
              <a:cxnLst/>
              <a:rect l="l" t="t" r="r" b="b"/>
              <a:pathLst>
                <a:path w="1288170" h="210452">
                  <a:moveTo>
                    <a:pt x="0" y="0"/>
                  </a:moveTo>
                  <a:lnTo>
                    <a:pt x="1288170" y="0"/>
                  </a:lnTo>
                  <a:lnTo>
                    <a:pt x="1288170" y="210452"/>
                  </a:lnTo>
                  <a:lnTo>
                    <a:pt x="0" y="2104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288170" cy="229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808781" y="933450"/>
            <a:ext cx="6670438" cy="86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5"/>
              </a:lnSpc>
            </a:pPr>
            <a:r>
              <a:rPr lang="en-US" sz="5076" b="1" spc="497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NUESTRO EQUIPO</a:t>
            </a:r>
          </a:p>
        </p:txBody>
      </p:sp>
      <p:sp>
        <p:nvSpPr>
          <p:cNvPr id="7" name="Freeform 7"/>
          <p:cNvSpPr/>
          <p:nvPr/>
        </p:nvSpPr>
        <p:spPr>
          <a:xfrm rot="887923">
            <a:off x="-10553576" y="1095233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580377">
            <a:off x="12702556" y="3897633"/>
            <a:ext cx="12102934" cy="12419055"/>
          </a:xfrm>
          <a:custGeom>
            <a:avLst/>
            <a:gdLst/>
            <a:ahLst/>
            <a:cxnLst/>
            <a:rect l="l" t="t" r="r" b="b"/>
            <a:pathLst>
              <a:path w="12102934" h="12419055">
                <a:moveTo>
                  <a:pt x="0" y="0"/>
                </a:moveTo>
                <a:lnTo>
                  <a:pt x="12102934" y="0"/>
                </a:lnTo>
                <a:lnTo>
                  <a:pt x="12102934" y="12419055"/>
                </a:lnTo>
                <a:lnTo>
                  <a:pt x="0" y="124190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138066" y="4277309"/>
            <a:ext cx="3874203" cy="4914683"/>
            <a:chOff x="0" y="0"/>
            <a:chExt cx="864852" cy="10971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64852" cy="1097122"/>
            </a:xfrm>
            <a:custGeom>
              <a:avLst/>
              <a:gdLst/>
              <a:ahLst/>
              <a:cxnLst/>
              <a:rect l="l" t="t" r="r" b="b"/>
              <a:pathLst>
                <a:path w="864852" h="1097122">
                  <a:moveTo>
                    <a:pt x="0" y="0"/>
                  </a:moveTo>
                  <a:lnTo>
                    <a:pt x="864852" y="0"/>
                  </a:lnTo>
                  <a:lnTo>
                    <a:pt x="864852" y="1097122"/>
                  </a:lnTo>
                  <a:lnTo>
                    <a:pt x="0" y="1097122"/>
                  </a:lnTo>
                  <a:close/>
                </a:path>
              </a:pathLst>
            </a:custGeom>
            <a:solidFill>
              <a:srgbClr val="100F0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64852" cy="1144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82469" y="4277309"/>
            <a:ext cx="3863271" cy="4914683"/>
            <a:chOff x="0" y="0"/>
            <a:chExt cx="862412" cy="109712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2412" cy="1097122"/>
            </a:xfrm>
            <a:custGeom>
              <a:avLst/>
              <a:gdLst/>
              <a:ahLst/>
              <a:cxnLst/>
              <a:rect l="l" t="t" r="r" b="b"/>
              <a:pathLst>
                <a:path w="862412" h="1097122">
                  <a:moveTo>
                    <a:pt x="0" y="0"/>
                  </a:moveTo>
                  <a:lnTo>
                    <a:pt x="862412" y="0"/>
                  </a:lnTo>
                  <a:lnTo>
                    <a:pt x="862412" y="1097122"/>
                  </a:lnTo>
                  <a:lnTo>
                    <a:pt x="0" y="1097122"/>
                  </a:lnTo>
                  <a:close/>
                </a:path>
              </a:pathLst>
            </a:custGeom>
            <a:solidFill>
              <a:srgbClr val="100F0D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62412" cy="1144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928155" y="9191992"/>
            <a:ext cx="3863271" cy="409124"/>
          </a:xfrm>
          <a:custGeom>
            <a:avLst/>
            <a:gdLst/>
            <a:ahLst/>
            <a:cxnLst/>
            <a:rect l="l" t="t" r="r" b="b"/>
            <a:pathLst>
              <a:path w="3863271" h="409124">
                <a:moveTo>
                  <a:pt x="0" y="0"/>
                </a:moveTo>
                <a:lnTo>
                  <a:pt x="3863271" y="0"/>
                </a:lnTo>
                <a:lnTo>
                  <a:pt x="3863271" y="409124"/>
                </a:lnTo>
                <a:lnTo>
                  <a:pt x="0" y="4091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6495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229078" y="9191992"/>
            <a:ext cx="3863271" cy="409124"/>
          </a:xfrm>
          <a:custGeom>
            <a:avLst/>
            <a:gdLst/>
            <a:ahLst/>
            <a:cxnLst/>
            <a:rect l="l" t="t" r="r" b="b"/>
            <a:pathLst>
              <a:path w="3863271" h="409124">
                <a:moveTo>
                  <a:pt x="0" y="0"/>
                </a:moveTo>
                <a:lnTo>
                  <a:pt x="3863271" y="0"/>
                </a:lnTo>
                <a:lnTo>
                  <a:pt x="3863271" y="409124"/>
                </a:lnTo>
                <a:lnTo>
                  <a:pt x="0" y="4091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6495"/>
            </a:stretch>
          </a:blipFill>
        </p:spPr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4138066" y="2787035"/>
            <a:ext cx="3954283" cy="3954283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124460" y="124460"/>
              <a:ext cx="6101080" cy="6101080"/>
            </a:xfrm>
            <a:custGeom>
              <a:avLst/>
              <a:gdLst/>
              <a:ahLst/>
              <a:cxnLst/>
              <a:rect l="l" t="t" r="r" b="b"/>
              <a:pathLst>
                <a:path w="6101080" h="6101080">
                  <a:moveTo>
                    <a:pt x="0" y="0"/>
                  </a:moveTo>
                  <a:lnTo>
                    <a:pt x="6101080" y="0"/>
                  </a:lnTo>
                  <a:lnTo>
                    <a:pt x="6101080" y="6101080"/>
                  </a:lnTo>
                  <a:lnTo>
                    <a:pt x="0" y="610108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6350000"/>
                  </a:moveTo>
                  <a:lnTo>
                    <a:pt x="0" y="6350000"/>
                  </a:lnTo>
                  <a:lnTo>
                    <a:pt x="0" y="0"/>
                  </a:lnTo>
                  <a:lnTo>
                    <a:pt x="6350000" y="0"/>
                  </a:lnTo>
                  <a:lnTo>
                    <a:pt x="6350000" y="6350000"/>
                  </a:lnTo>
                  <a:close/>
                  <a:moveTo>
                    <a:pt x="248920" y="6101080"/>
                  </a:moveTo>
                  <a:lnTo>
                    <a:pt x="6099810" y="6101080"/>
                  </a:lnTo>
                  <a:lnTo>
                    <a:pt x="6099810" y="248920"/>
                  </a:lnTo>
                  <a:lnTo>
                    <a:pt x="248920" y="248920"/>
                  </a:lnTo>
                  <a:lnTo>
                    <a:pt x="248920" y="6101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9891457" y="2787035"/>
            <a:ext cx="3954283" cy="3954283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124460" y="124460"/>
              <a:ext cx="6101080" cy="6101080"/>
            </a:xfrm>
            <a:custGeom>
              <a:avLst/>
              <a:gdLst/>
              <a:ahLst/>
              <a:cxnLst/>
              <a:rect l="l" t="t" r="r" b="b"/>
              <a:pathLst>
                <a:path w="6101080" h="6101080">
                  <a:moveTo>
                    <a:pt x="0" y="0"/>
                  </a:moveTo>
                  <a:lnTo>
                    <a:pt x="6101080" y="0"/>
                  </a:lnTo>
                  <a:lnTo>
                    <a:pt x="6101080" y="6101080"/>
                  </a:lnTo>
                  <a:lnTo>
                    <a:pt x="0" y="6101080"/>
                  </a:lnTo>
                  <a:close/>
                </a:path>
              </a:pathLst>
            </a:custGeom>
            <a:blipFill>
              <a:blip r:embed="rId7"/>
              <a:stretch>
                <a:fillRect t="-1294" b="-1294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6350000"/>
                  </a:moveTo>
                  <a:lnTo>
                    <a:pt x="0" y="6350000"/>
                  </a:lnTo>
                  <a:lnTo>
                    <a:pt x="0" y="0"/>
                  </a:lnTo>
                  <a:lnTo>
                    <a:pt x="6350000" y="0"/>
                  </a:lnTo>
                  <a:lnTo>
                    <a:pt x="6350000" y="6350000"/>
                  </a:lnTo>
                  <a:close/>
                  <a:moveTo>
                    <a:pt x="248920" y="6101080"/>
                  </a:moveTo>
                  <a:lnTo>
                    <a:pt x="6099810" y="6101080"/>
                  </a:lnTo>
                  <a:lnTo>
                    <a:pt x="6099810" y="248920"/>
                  </a:lnTo>
                  <a:lnTo>
                    <a:pt x="248920" y="248920"/>
                  </a:lnTo>
                  <a:lnTo>
                    <a:pt x="248920" y="6101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4338031" y="6833576"/>
            <a:ext cx="3354714" cy="50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6"/>
              </a:lnSpc>
            </a:pPr>
            <a:r>
              <a:rPr lang="en-US" sz="3363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Mario Garrido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01221" y="7515592"/>
            <a:ext cx="2977623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spc="109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Desarrollador principal, arquitectura, frontend y backend.</a:t>
            </a:r>
          </a:p>
          <a:p>
            <a:pPr algn="ctr">
              <a:lnSpc>
                <a:spcPts val="2639"/>
              </a:lnSpc>
            </a:pPr>
            <a:endParaRPr lang="en-US" sz="2199" spc="109">
              <a:solidFill>
                <a:srgbClr val="FFFB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182434" y="6833576"/>
            <a:ext cx="3354714" cy="50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6"/>
              </a:lnSpc>
            </a:pPr>
            <a:r>
              <a:rPr lang="en-US" sz="3363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Saul Avila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95581" y="7515592"/>
            <a:ext cx="2827666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spc="109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PM, documentación, toma de requerimientos, QA.</a:t>
            </a:r>
          </a:p>
          <a:p>
            <a:pPr algn="ctr">
              <a:lnSpc>
                <a:spcPts val="2639"/>
              </a:lnSpc>
            </a:pPr>
            <a:endParaRPr lang="en-US" sz="2199" spc="109">
              <a:solidFill>
                <a:srgbClr val="FFFB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035253">
            <a:off x="15622228" y="6127486"/>
            <a:ext cx="7835077" cy="10939025"/>
          </a:xfrm>
          <a:custGeom>
            <a:avLst/>
            <a:gdLst/>
            <a:ahLst/>
            <a:cxnLst/>
            <a:rect l="l" t="t" r="r" b="b"/>
            <a:pathLst>
              <a:path w="7835077" h="10939025">
                <a:moveTo>
                  <a:pt x="0" y="0"/>
                </a:moveTo>
                <a:lnTo>
                  <a:pt x="7835077" y="0"/>
                </a:lnTo>
                <a:lnTo>
                  <a:pt x="7835077" y="10939026"/>
                </a:lnTo>
                <a:lnTo>
                  <a:pt x="0" y="1093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2468887" y="5317623"/>
            <a:ext cx="1351452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5420663" y="5094698"/>
            <a:ext cx="448204" cy="44820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19898" y="5093521"/>
            <a:ext cx="448204" cy="44820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49417" y="5094698"/>
            <a:ext cx="448204" cy="4482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0799999">
            <a:off x="-2757314" y="-5049635"/>
            <a:ext cx="7835077" cy="10939025"/>
          </a:xfrm>
          <a:custGeom>
            <a:avLst/>
            <a:gdLst/>
            <a:ahLst/>
            <a:cxnLst/>
            <a:rect l="l" t="t" r="r" b="b"/>
            <a:pathLst>
              <a:path w="7835077" h="10939025">
                <a:moveTo>
                  <a:pt x="0" y="0"/>
                </a:moveTo>
                <a:lnTo>
                  <a:pt x="7835077" y="0"/>
                </a:lnTo>
                <a:lnTo>
                  <a:pt x="7835077" y="10939026"/>
                </a:lnTo>
                <a:lnTo>
                  <a:pt x="0" y="1093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153707" y="3248185"/>
            <a:ext cx="1591562" cy="15915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39313" y="3290139"/>
            <a:ext cx="1591562" cy="15915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040736" y="3280613"/>
            <a:ext cx="1591562" cy="15915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31149" y="3248185"/>
            <a:ext cx="1591562" cy="159156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193739" y="6783766"/>
            <a:ext cx="3204526" cy="2838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5027" lvl="1" indent="-177514" algn="ctr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Levantamiento de requerimientos y diseño de arquitectura.</a:t>
            </a:r>
          </a:p>
          <a:p>
            <a:pPr marL="355027" lvl="1" indent="-177514" algn="ctr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Definición del modelo de datos.</a:t>
            </a:r>
          </a:p>
          <a:p>
            <a:pPr marL="355027" lvl="1" indent="-177514" algn="ctr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Implementación de login, formularios de pacientes y agenda básica.</a:t>
            </a:r>
          </a:p>
          <a:p>
            <a:pPr algn="ctr">
              <a:lnSpc>
                <a:spcPts val="2269"/>
              </a:lnSpc>
            </a:pPr>
            <a:endParaRPr lang="en-US" sz="1644" spc="161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245408" y="5718941"/>
            <a:ext cx="3101188" cy="8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40" b="1" spc="258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BASE DEL SISTEMA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08781" y="6805924"/>
            <a:ext cx="3204526" cy="255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5027" lvl="1" indent="-177514" algn="ctr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Configuración de horarios y gestión de usuarios/roles.</a:t>
            </a:r>
          </a:p>
          <a:p>
            <a:pPr marL="355027" lvl="1" indent="-177514" algn="ctr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Desarrollo del backend de ficha clínica.</a:t>
            </a:r>
          </a:p>
          <a:p>
            <a:pPr marL="355027" lvl="1" indent="-177514" algn="ctr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Rediseño backend, integración BD y UI inicial.</a:t>
            </a:r>
          </a:p>
          <a:p>
            <a:pPr algn="ctr">
              <a:lnSpc>
                <a:spcPts val="2269"/>
              </a:lnSpc>
            </a:pPr>
            <a:endParaRPr lang="en-US" sz="1644" spc="161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180108" y="5717673"/>
            <a:ext cx="2423873" cy="8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40" b="1" spc="258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GESTIÓN INTERNA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74693" y="6805924"/>
            <a:ext cx="3204526" cy="19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5027" lvl="1" indent="-177513" algn="ctr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644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644" u="none" strike="noStrike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ertificados PDF, módulo de recetas y subida de archivos.</a:t>
            </a:r>
          </a:p>
          <a:p>
            <a:pPr marL="355027" lvl="1" indent="-177513" algn="ctr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644" u="none" strike="noStrike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Integración FE/BE.</a:t>
            </a:r>
          </a:p>
          <a:p>
            <a:pPr marL="355027" lvl="1" indent="-177513" algn="ctr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644" u="none" strike="noStrike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Pruebas funcionales parciales.</a:t>
            </a:r>
          </a:p>
          <a:p>
            <a:pPr algn="ctr">
              <a:lnSpc>
                <a:spcPts val="2269"/>
              </a:lnSpc>
              <a:spcBef>
                <a:spcPct val="0"/>
              </a:spcBef>
            </a:pPr>
            <a:endParaRPr lang="en-US" sz="1644" u="none" strike="noStrike" spc="161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437494" y="5717678"/>
            <a:ext cx="2423873" cy="8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40" b="1" spc="258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CLÍNICA DIGITAL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736394" y="6807193"/>
            <a:ext cx="3204526" cy="19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5027" lvl="1" indent="-177513" algn="ctr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644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644" u="none" strike="noStrike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eportes, sistema de notificaciones y panel administrativo.</a:t>
            </a:r>
          </a:p>
          <a:p>
            <a:pPr marL="355027" lvl="1" indent="-177513" algn="ctr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644" u="none" strike="noStrike" spc="16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Pruebas finales y documentación en curso.</a:t>
            </a:r>
          </a:p>
          <a:p>
            <a:pPr algn="ctr">
              <a:lnSpc>
                <a:spcPts val="2269"/>
              </a:lnSpc>
              <a:spcBef>
                <a:spcPct val="0"/>
              </a:spcBef>
            </a:pPr>
            <a:endParaRPr lang="en-US" sz="1644" u="none" strike="noStrike" spc="161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3011813" y="5714353"/>
            <a:ext cx="2423873" cy="89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40" b="1" spc="258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CIERRE TÉCNICO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042696" y="3446685"/>
            <a:ext cx="1813585" cy="100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7"/>
              </a:lnSpc>
            </a:pPr>
            <a:r>
              <a:rPr lang="en-US" sz="5925" b="1" spc="580">
                <a:solidFill>
                  <a:srgbClr val="FFFBFB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28301" y="3488640"/>
            <a:ext cx="1813585" cy="100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7"/>
              </a:lnSpc>
            </a:pPr>
            <a:r>
              <a:rPr lang="en-US" sz="5925" b="1" spc="580">
                <a:solidFill>
                  <a:srgbClr val="FFFBFB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29725" y="3479113"/>
            <a:ext cx="1813585" cy="100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7"/>
              </a:lnSpc>
            </a:pPr>
            <a:r>
              <a:rPr lang="en-US" sz="5925" b="1" spc="580">
                <a:solidFill>
                  <a:srgbClr val="FFFBFB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316957" y="3446685"/>
            <a:ext cx="1813585" cy="100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7"/>
              </a:lnSpc>
            </a:pPr>
            <a:r>
              <a:rPr lang="en-US" sz="5925" b="1" spc="580">
                <a:solidFill>
                  <a:srgbClr val="FFFBFB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808781" y="889942"/>
            <a:ext cx="6670438" cy="1966601"/>
            <a:chOff x="0" y="0"/>
            <a:chExt cx="1288170" cy="37978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88170" cy="379783"/>
            </a:xfrm>
            <a:custGeom>
              <a:avLst/>
              <a:gdLst/>
              <a:ahLst/>
              <a:cxnLst/>
              <a:rect l="l" t="t" r="r" b="b"/>
              <a:pathLst>
                <a:path w="1288170" h="379783">
                  <a:moveTo>
                    <a:pt x="0" y="0"/>
                  </a:moveTo>
                  <a:lnTo>
                    <a:pt x="1288170" y="0"/>
                  </a:lnTo>
                  <a:lnTo>
                    <a:pt x="1288170" y="379783"/>
                  </a:lnTo>
                  <a:lnTo>
                    <a:pt x="0" y="3797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1288170" cy="398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5808781" y="902494"/>
            <a:ext cx="6670438" cy="2639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5"/>
              </a:lnSpc>
            </a:pPr>
            <a:r>
              <a:rPr lang="en-US" sz="5076" b="1" spc="497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CRONOGRAMA SPRINTS</a:t>
            </a:r>
          </a:p>
          <a:p>
            <a:pPr algn="ctr">
              <a:lnSpc>
                <a:spcPts val="7005"/>
              </a:lnSpc>
            </a:pPr>
            <a:endParaRPr lang="en-US" sz="5076" b="1" spc="497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923728" y="529428"/>
            <a:ext cx="7810947" cy="1131895"/>
            <a:chOff x="0" y="0"/>
            <a:chExt cx="1599345" cy="2317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99345" cy="231763"/>
            </a:xfrm>
            <a:custGeom>
              <a:avLst/>
              <a:gdLst/>
              <a:ahLst/>
              <a:cxnLst/>
              <a:rect l="l" t="t" r="r" b="b"/>
              <a:pathLst>
                <a:path w="1599345" h="231763">
                  <a:moveTo>
                    <a:pt x="0" y="0"/>
                  </a:moveTo>
                  <a:lnTo>
                    <a:pt x="1599345" y="0"/>
                  </a:lnTo>
                  <a:lnTo>
                    <a:pt x="1599345" y="231763"/>
                  </a:lnTo>
                  <a:lnTo>
                    <a:pt x="0" y="2317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599345" cy="250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216702" y="1753353"/>
            <a:ext cx="13854595" cy="8060450"/>
          </a:xfrm>
          <a:custGeom>
            <a:avLst/>
            <a:gdLst/>
            <a:ahLst/>
            <a:cxnLst/>
            <a:rect l="l" t="t" r="r" b="b"/>
            <a:pathLst>
              <a:path w="13854595" h="8060450">
                <a:moveTo>
                  <a:pt x="0" y="0"/>
                </a:moveTo>
                <a:lnTo>
                  <a:pt x="13854596" y="0"/>
                </a:lnTo>
                <a:lnTo>
                  <a:pt x="13854596" y="8060450"/>
                </a:lnTo>
                <a:lnTo>
                  <a:pt x="0" y="8060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90" t="-32" b="-3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923728" y="545376"/>
            <a:ext cx="7810947" cy="81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7"/>
              </a:lnSpc>
            </a:pPr>
            <a:r>
              <a:rPr lang="en-US" sz="4787" b="1" spc="46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ARQUITECTURA</a:t>
            </a:r>
          </a:p>
        </p:txBody>
      </p:sp>
      <p:sp>
        <p:nvSpPr>
          <p:cNvPr id="8" name="Freeform 8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69157" y="2412801"/>
            <a:ext cx="11474081" cy="7585629"/>
          </a:xfrm>
          <a:custGeom>
            <a:avLst/>
            <a:gdLst/>
            <a:ahLst/>
            <a:cxnLst/>
            <a:rect l="l" t="t" r="r" b="b"/>
            <a:pathLst>
              <a:path w="11474081" h="7585629">
                <a:moveTo>
                  <a:pt x="0" y="0"/>
                </a:moveTo>
                <a:lnTo>
                  <a:pt x="11474081" y="0"/>
                </a:lnTo>
                <a:lnTo>
                  <a:pt x="11474081" y="7585629"/>
                </a:lnTo>
                <a:lnTo>
                  <a:pt x="0" y="7585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226" r="-4100" b="-4226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839552" y="244538"/>
            <a:ext cx="5276041" cy="2016164"/>
            <a:chOff x="0" y="0"/>
            <a:chExt cx="1080306" cy="4128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80306" cy="412823"/>
            </a:xfrm>
            <a:custGeom>
              <a:avLst/>
              <a:gdLst/>
              <a:ahLst/>
              <a:cxnLst/>
              <a:rect l="l" t="t" r="r" b="b"/>
              <a:pathLst>
                <a:path w="1080306" h="412823">
                  <a:moveTo>
                    <a:pt x="0" y="0"/>
                  </a:moveTo>
                  <a:lnTo>
                    <a:pt x="1080306" y="0"/>
                  </a:lnTo>
                  <a:lnTo>
                    <a:pt x="1080306" y="412823"/>
                  </a:lnTo>
                  <a:lnTo>
                    <a:pt x="0" y="412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80306" cy="431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839552" y="260486"/>
            <a:ext cx="5276041" cy="2485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7"/>
              </a:lnSpc>
            </a:pPr>
            <a:r>
              <a:rPr lang="en-US" sz="4787" b="1" spc="46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MODELO DE DATOS</a:t>
            </a:r>
          </a:p>
          <a:p>
            <a:pPr algn="ctr">
              <a:lnSpc>
                <a:spcPts val="6607"/>
              </a:lnSpc>
            </a:pPr>
            <a:endParaRPr lang="en-US" sz="4787" b="1" spc="469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3407869">
            <a:off x="12052165" y="1118883"/>
            <a:ext cx="12471670" cy="5351480"/>
          </a:xfrm>
          <a:custGeom>
            <a:avLst/>
            <a:gdLst/>
            <a:ahLst/>
            <a:cxnLst/>
            <a:rect l="l" t="t" r="r" b="b"/>
            <a:pathLst>
              <a:path w="12471670" h="535148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144000" y="2720820"/>
            <a:ext cx="2730922" cy="6716701"/>
            <a:chOff x="0" y="0"/>
            <a:chExt cx="719255" cy="17690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9255" cy="1769008"/>
            </a:xfrm>
            <a:custGeom>
              <a:avLst/>
              <a:gdLst/>
              <a:ahLst/>
              <a:cxnLst/>
              <a:rect l="l" t="t" r="r" b="b"/>
              <a:pathLst>
                <a:path w="719255" h="1769008">
                  <a:moveTo>
                    <a:pt x="0" y="0"/>
                  </a:moveTo>
                  <a:lnTo>
                    <a:pt x="719255" y="0"/>
                  </a:lnTo>
                  <a:lnTo>
                    <a:pt x="719255" y="1769008"/>
                  </a:lnTo>
                  <a:lnTo>
                    <a:pt x="0" y="176900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719255" cy="1826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8804162" y="9375876"/>
            <a:ext cx="3070760" cy="516424"/>
          </a:xfrm>
          <a:custGeom>
            <a:avLst/>
            <a:gdLst/>
            <a:ahLst/>
            <a:cxnLst/>
            <a:rect l="l" t="t" r="r" b="b"/>
            <a:pathLst>
              <a:path w="3070760" h="516424">
                <a:moveTo>
                  <a:pt x="0" y="0"/>
                </a:moveTo>
                <a:lnTo>
                  <a:pt x="3070760" y="0"/>
                </a:lnTo>
                <a:lnTo>
                  <a:pt x="3070760" y="516423"/>
                </a:lnTo>
                <a:lnTo>
                  <a:pt x="0" y="5164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944" t="-86495" r="-29859"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874922" y="2771468"/>
            <a:ext cx="5820787" cy="5820787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124460" y="124460"/>
              <a:ext cx="6101080" cy="6101080"/>
            </a:xfrm>
            <a:custGeom>
              <a:avLst/>
              <a:gdLst/>
              <a:ahLst/>
              <a:cxnLst/>
              <a:rect l="l" t="t" r="r" b="b"/>
              <a:pathLst>
                <a:path w="6101080" h="6101080">
                  <a:moveTo>
                    <a:pt x="0" y="0"/>
                  </a:moveTo>
                  <a:lnTo>
                    <a:pt x="6101080" y="0"/>
                  </a:lnTo>
                  <a:lnTo>
                    <a:pt x="6101080" y="6101080"/>
                  </a:lnTo>
                  <a:lnTo>
                    <a:pt x="0" y="6101080"/>
                  </a:lnTo>
                  <a:close/>
                </a:path>
              </a:pathLst>
            </a:custGeom>
            <a:blipFill>
              <a:blip r:embed="rId6"/>
              <a:stretch>
                <a:fillRect t="-1334" b="-1334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6350000"/>
                  </a:moveTo>
                  <a:lnTo>
                    <a:pt x="0" y="6350000"/>
                  </a:lnTo>
                  <a:lnTo>
                    <a:pt x="0" y="0"/>
                  </a:lnTo>
                  <a:lnTo>
                    <a:pt x="6350000" y="0"/>
                  </a:lnTo>
                  <a:lnTo>
                    <a:pt x="6350000" y="6350000"/>
                  </a:lnTo>
                  <a:close/>
                  <a:moveTo>
                    <a:pt x="248920" y="6101080"/>
                  </a:moveTo>
                  <a:lnTo>
                    <a:pt x="6099810" y="6101080"/>
                  </a:lnTo>
                  <a:lnTo>
                    <a:pt x="6099810" y="248920"/>
                  </a:lnTo>
                  <a:lnTo>
                    <a:pt x="248920" y="248920"/>
                  </a:lnTo>
                  <a:lnTo>
                    <a:pt x="248920" y="6101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Freeform 11"/>
          <p:cNvSpPr/>
          <p:nvPr/>
        </p:nvSpPr>
        <p:spPr>
          <a:xfrm rot="3407869">
            <a:off x="-5011354" y="10366612"/>
            <a:ext cx="12471670" cy="5351480"/>
          </a:xfrm>
          <a:custGeom>
            <a:avLst/>
            <a:gdLst/>
            <a:ahLst/>
            <a:cxnLst/>
            <a:rect l="l" t="t" r="r" b="b"/>
            <a:pathLst>
              <a:path w="12471670" h="535148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73909" y="1851620"/>
            <a:ext cx="8551041" cy="16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07"/>
              </a:lnSpc>
              <a:spcBef>
                <a:spcPct val="0"/>
              </a:spcBef>
            </a:pPr>
            <a:r>
              <a:rPr lang="en-US" sz="4787" b="1" u="none" strike="noStrike" spc="46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RESULTADOS DEL PROYECTO</a:t>
            </a:r>
          </a:p>
          <a:p>
            <a:pPr marL="0" lvl="0" indent="0" algn="ctr">
              <a:lnSpc>
                <a:spcPts val="6607"/>
              </a:lnSpc>
              <a:spcBef>
                <a:spcPct val="0"/>
              </a:spcBef>
            </a:pPr>
            <a:endParaRPr lang="en-US" sz="4787" b="1" u="none" strike="noStrike" spc="469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9301938" y="3065587"/>
            <a:ext cx="2415047" cy="5784880"/>
          </a:xfrm>
          <a:custGeom>
            <a:avLst/>
            <a:gdLst/>
            <a:ahLst/>
            <a:cxnLst/>
            <a:rect l="l" t="t" r="r" b="b"/>
            <a:pathLst>
              <a:path w="2415047" h="5784880">
                <a:moveTo>
                  <a:pt x="0" y="0"/>
                </a:moveTo>
                <a:lnTo>
                  <a:pt x="2415047" y="0"/>
                </a:lnTo>
                <a:lnTo>
                  <a:pt x="2415047" y="5784880"/>
                </a:lnTo>
                <a:lnTo>
                  <a:pt x="0" y="57848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2673195"/>
            <a:ext cx="7311038" cy="6585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508" spc="24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Plataforma w</a:t>
            </a:r>
            <a:r>
              <a:rPr lang="en-US" sz="2508" u="none" spc="24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eb completa para administración veterinaria.</a:t>
            </a:r>
          </a:p>
          <a:p>
            <a:pPr marL="474979" lvl="1" indent="-237490" algn="l">
              <a:lnSpc>
                <a:spcPts val="3035"/>
              </a:lnSpc>
              <a:buFont typeface="Arial"/>
              <a:buChar char="•"/>
            </a:pPr>
            <a:r>
              <a:rPr lang="en-US" sz="2199" u="none" spc="21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Módulos funcionales:</a:t>
            </a:r>
          </a:p>
          <a:p>
            <a:pPr marL="474979" lvl="1" indent="-237490" algn="l">
              <a:lnSpc>
                <a:spcPts val="3035"/>
              </a:lnSpc>
              <a:buFont typeface="Arial"/>
              <a:buChar char="•"/>
            </a:pPr>
            <a:r>
              <a:rPr lang="en-US" sz="2199" u="none" spc="21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Mascotas</a:t>
            </a:r>
          </a:p>
          <a:p>
            <a:pPr marL="474979" lvl="1" indent="-237490" algn="l">
              <a:lnSpc>
                <a:spcPts val="3035"/>
              </a:lnSpc>
              <a:buFont typeface="Arial"/>
              <a:buChar char="•"/>
            </a:pPr>
            <a:r>
              <a:rPr lang="en-US" sz="2199" u="none" spc="21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Propietarios</a:t>
            </a:r>
          </a:p>
          <a:p>
            <a:pPr marL="474979" lvl="1" indent="-237490" algn="l">
              <a:lnSpc>
                <a:spcPts val="3035"/>
              </a:lnSpc>
              <a:buFont typeface="Arial"/>
              <a:buChar char="•"/>
            </a:pPr>
            <a:r>
              <a:rPr lang="en-US" sz="2199" u="none" spc="21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Citas y Calendario</a:t>
            </a:r>
          </a:p>
          <a:p>
            <a:pPr marL="474979" lvl="1" indent="-237490" algn="l">
              <a:lnSpc>
                <a:spcPts val="3035"/>
              </a:lnSpc>
              <a:buFont typeface="Arial"/>
              <a:buChar char="•"/>
            </a:pPr>
            <a:r>
              <a:rPr lang="en-US" sz="2199" u="none" spc="21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Urgencias</a:t>
            </a:r>
          </a:p>
          <a:p>
            <a:pPr marL="474979" lvl="1" indent="-237490" algn="l">
              <a:lnSpc>
                <a:spcPts val="3035"/>
              </a:lnSpc>
              <a:buFont typeface="Arial"/>
              <a:buChar char="•"/>
            </a:pPr>
            <a:r>
              <a:rPr lang="en-US" sz="2199" u="none" spc="21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Registros clínicos (consulta, control, cirugía, vacunas, etc.)</a:t>
            </a:r>
          </a:p>
          <a:p>
            <a:pPr marL="474979" lvl="1" indent="-237490" algn="l">
              <a:lnSpc>
                <a:spcPts val="3035"/>
              </a:lnSpc>
              <a:buFont typeface="Arial"/>
              <a:buChar char="•"/>
            </a:pPr>
            <a:r>
              <a:rPr lang="en-US" sz="2199" u="none" spc="21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Histórico</a:t>
            </a:r>
          </a:p>
          <a:p>
            <a:pPr algn="l">
              <a:lnSpc>
                <a:spcPts val="3035"/>
              </a:lnSpc>
            </a:pPr>
            <a:r>
              <a:rPr lang="en-US" sz="2199" u="none" spc="21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Sistema de</a:t>
            </a:r>
            <a:r>
              <a:rPr lang="en-US" sz="2199" b="1" u="none" spc="215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 login, registro y recuperación de contraseña.</a:t>
            </a:r>
          </a:p>
          <a:p>
            <a:pPr algn="l">
              <a:lnSpc>
                <a:spcPts val="3035"/>
              </a:lnSpc>
            </a:pPr>
            <a:r>
              <a:rPr lang="en-US" sz="2199" u="none" spc="21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Interfaz moderna, rápida y fácil de usar.</a:t>
            </a:r>
          </a:p>
          <a:p>
            <a:pPr algn="l">
              <a:lnSpc>
                <a:spcPts val="3035"/>
              </a:lnSpc>
            </a:pPr>
            <a:r>
              <a:rPr lang="en-US" sz="2199" u="none" spc="21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API REST modular y lista para escalar e integrar nuevas funciones (certificados, reportes, app móvil, etc.).</a:t>
            </a:r>
          </a:p>
          <a:p>
            <a:pPr algn="l">
              <a:lnSpc>
                <a:spcPts val="3035"/>
              </a:lnSpc>
              <a:spcBef>
                <a:spcPct val="0"/>
              </a:spcBef>
            </a:pPr>
            <a:endParaRPr lang="en-US" sz="2199" u="none" spc="215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1874922" y="8592255"/>
            <a:ext cx="5820787" cy="516424"/>
          </a:xfrm>
          <a:custGeom>
            <a:avLst/>
            <a:gdLst/>
            <a:ahLst/>
            <a:cxnLst/>
            <a:rect l="l" t="t" r="r" b="b"/>
            <a:pathLst>
              <a:path w="5820787" h="516424">
                <a:moveTo>
                  <a:pt x="0" y="0"/>
                </a:moveTo>
                <a:lnTo>
                  <a:pt x="5820787" y="0"/>
                </a:lnTo>
                <a:lnTo>
                  <a:pt x="5820787" y="516424"/>
                </a:lnTo>
                <a:lnTo>
                  <a:pt x="0" y="5164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2926" b="-9682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38022" y="1971921"/>
            <a:ext cx="20211332" cy="11200486"/>
          </a:xfrm>
          <a:custGeom>
            <a:avLst/>
            <a:gdLst/>
            <a:ahLst/>
            <a:cxnLst/>
            <a:rect l="l" t="t" r="r" b="b"/>
            <a:pathLst>
              <a:path w="20211332" h="11200486">
                <a:moveTo>
                  <a:pt x="0" y="0"/>
                </a:moveTo>
                <a:lnTo>
                  <a:pt x="20211332" y="0"/>
                </a:lnTo>
                <a:lnTo>
                  <a:pt x="20211332" y="11200485"/>
                </a:lnTo>
                <a:lnTo>
                  <a:pt x="0" y="11200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75" r="-7575"/>
            </a:stretch>
          </a:blipFill>
        </p:spPr>
      </p:sp>
      <p:sp>
        <p:nvSpPr>
          <p:cNvPr id="4" name="Freeform 4"/>
          <p:cNvSpPr/>
          <p:nvPr/>
        </p:nvSpPr>
        <p:spPr>
          <a:xfrm rot="7659121">
            <a:off x="14973129" y="560536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482617" y="-3600450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457949" y="654580"/>
            <a:ext cx="2084257" cy="1241649"/>
            <a:chOff x="0" y="0"/>
            <a:chExt cx="402504" cy="2397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2504" cy="239783"/>
            </a:xfrm>
            <a:custGeom>
              <a:avLst/>
              <a:gdLst/>
              <a:ahLst/>
              <a:cxnLst/>
              <a:rect l="l" t="t" r="r" b="b"/>
              <a:pathLst>
                <a:path w="402504" h="239783">
                  <a:moveTo>
                    <a:pt x="0" y="0"/>
                  </a:moveTo>
                  <a:lnTo>
                    <a:pt x="402504" y="0"/>
                  </a:lnTo>
                  <a:lnTo>
                    <a:pt x="402504" y="239783"/>
                  </a:lnTo>
                  <a:lnTo>
                    <a:pt x="0" y="2397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402504" cy="258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5991" y="-1412320"/>
            <a:ext cx="4882040" cy="4882040"/>
          </a:xfrm>
          <a:custGeom>
            <a:avLst/>
            <a:gdLst/>
            <a:ahLst/>
            <a:cxnLst/>
            <a:rect l="l" t="t" r="r" b="b"/>
            <a:pathLst>
              <a:path w="4882040" h="4882040">
                <a:moveTo>
                  <a:pt x="0" y="0"/>
                </a:moveTo>
                <a:lnTo>
                  <a:pt x="4882040" y="0"/>
                </a:lnTo>
                <a:lnTo>
                  <a:pt x="4882040" y="4882040"/>
                </a:lnTo>
                <a:lnTo>
                  <a:pt x="0" y="48820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2204065"/>
            <a:ext cx="15995540" cy="7477239"/>
          </a:xfrm>
          <a:custGeom>
            <a:avLst/>
            <a:gdLst/>
            <a:ahLst/>
            <a:cxnLst/>
            <a:rect l="l" t="t" r="r" b="b"/>
            <a:pathLst>
              <a:path w="15995540" h="7477239">
                <a:moveTo>
                  <a:pt x="0" y="0"/>
                </a:moveTo>
                <a:lnTo>
                  <a:pt x="15995540" y="0"/>
                </a:lnTo>
                <a:lnTo>
                  <a:pt x="15995540" y="7477239"/>
                </a:lnTo>
                <a:lnTo>
                  <a:pt x="0" y="74772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161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543634" y="729637"/>
            <a:ext cx="3864503" cy="86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5"/>
              </a:lnSpc>
            </a:pPr>
            <a:r>
              <a:rPr lang="en-US" sz="5076" b="1" spc="497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DEMO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280095" y="8185011"/>
            <a:ext cx="1488292" cy="1496293"/>
          </a:xfrm>
          <a:custGeom>
            <a:avLst/>
            <a:gdLst/>
            <a:ahLst/>
            <a:cxnLst/>
            <a:rect l="l" t="t" r="r" b="b"/>
            <a:pathLst>
              <a:path w="1488292" h="1496293">
                <a:moveTo>
                  <a:pt x="0" y="0"/>
                </a:moveTo>
                <a:lnTo>
                  <a:pt x="1488291" y="0"/>
                </a:lnTo>
                <a:lnTo>
                  <a:pt x="1488291" y="1496293"/>
                </a:lnTo>
                <a:lnTo>
                  <a:pt x="0" y="14962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3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70706" y="-3368517"/>
            <a:ext cx="4959890" cy="49598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33275" y="6245633"/>
            <a:ext cx="8028878" cy="802887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4124135" y="-4845454"/>
            <a:ext cx="9861948" cy="10119537"/>
          </a:xfrm>
          <a:custGeom>
            <a:avLst/>
            <a:gdLst/>
            <a:ahLst/>
            <a:cxnLst/>
            <a:rect l="l" t="t" r="r" b="b"/>
            <a:pathLst>
              <a:path w="9861948" h="10119537">
                <a:moveTo>
                  <a:pt x="0" y="0"/>
                </a:moveTo>
                <a:lnTo>
                  <a:pt x="9861948" y="0"/>
                </a:lnTo>
                <a:lnTo>
                  <a:pt x="9861948" y="10119537"/>
                </a:lnTo>
                <a:lnTo>
                  <a:pt x="0" y="101195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986589">
            <a:off x="14909992" y="-4816546"/>
            <a:ext cx="9894000" cy="10152425"/>
          </a:xfrm>
          <a:custGeom>
            <a:avLst/>
            <a:gdLst/>
            <a:ahLst/>
            <a:cxnLst/>
            <a:rect l="l" t="t" r="r" b="b"/>
            <a:pathLst>
              <a:path w="9894000" h="10152425">
                <a:moveTo>
                  <a:pt x="0" y="0"/>
                </a:moveTo>
                <a:lnTo>
                  <a:pt x="9894000" y="0"/>
                </a:lnTo>
                <a:lnTo>
                  <a:pt x="9894000" y="10152425"/>
                </a:lnTo>
                <a:lnTo>
                  <a:pt x="0" y="101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158825" y="4492834"/>
            <a:ext cx="5355106" cy="2210198"/>
          </a:xfrm>
          <a:custGeom>
            <a:avLst/>
            <a:gdLst/>
            <a:ahLst/>
            <a:cxnLst/>
            <a:rect l="l" t="t" r="r" b="b"/>
            <a:pathLst>
              <a:path w="5355106" h="2210198">
                <a:moveTo>
                  <a:pt x="0" y="0"/>
                </a:moveTo>
                <a:lnTo>
                  <a:pt x="5355106" y="0"/>
                </a:lnTo>
                <a:lnTo>
                  <a:pt x="5355106" y="2210198"/>
                </a:lnTo>
                <a:lnTo>
                  <a:pt x="0" y="2210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85725" cap="rnd">
            <a:solidFill>
              <a:srgbClr val="000000"/>
            </a:solidFill>
            <a:prstDash val="solid"/>
            <a:round/>
          </a:ln>
        </p:spPr>
      </p:sp>
      <p:sp>
        <p:nvSpPr>
          <p:cNvPr id="11" name="TextBox 11"/>
          <p:cNvSpPr txBox="1"/>
          <p:nvPr/>
        </p:nvSpPr>
        <p:spPr>
          <a:xfrm>
            <a:off x="5600260" y="1534548"/>
            <a:ext cx="7942168" cy="1396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49"/>
              </a:lnSpc>
            </a:pPr>
            <a:r>
              <a:rPr lang="en-US" sz="8224" b="1" spc="80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REFLEXION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8513931" y="6703032"/>
            <a:ext cx="5355106" cy="2210198"/>
          </a:xfrm>
          <a:custGeom>
            <a:avLst/>
            <a:gdLst/>
            <a:ahLst/>
            <a:cxnLst/>
            <a:rect l="l" t="t" r="r" b="b"/>
            <a:pathLst>
              <a:path w="5355106" h="2210198">
                <a:moveTo>
                  <a:pt x="0" y="0"/>
                </a:moveTo>
                <a:lnTo>
                  <a:pt x="5355106" y="0"/>
                </a:lnTo>
                <a:lnTo>
                  <a:pt x="5355106" y="2210198"/>
                </a:lnTo>
                <a:lnTo>
                  <a:pt x="0" y="2210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85725" cap="rnd">
            <a:solidFill>
              <a:srgbClr val="000000"/>
            </a:solidFill>
            <a:prstDash val="solid"/>
            <a:round/>
          </a:ln>
        </p:spPr>
      </p:sp>
      <p:sp>
        <p:nvSpPr>
          <p:cNvPr id="13" name="Freeform 13"/>
          <p:cNvSpPr/>
          <p:nvPr/>
        </p:nvSpPr>
        <p:spPr>
          <a:xfrm>
            <a:off x="3158825" y="6703032"/>
            <a:ext cx="5355106" cy="2210198"/>
          </a:xfrm>
          <a:custGeom>
            <a:avLst/>
            <a:gdLst/>
            <a:ahLst/>
            <a:cxnLst/>
            <a:rect l="l" t="t" r="r" b="b"/>
            <a:pathLst>
              <a:path w="5355106" h="2210198">
                <a:moveTo>
                  <a:pt x="0" y="0"/>
                </a:moveTo>
                <a:lnTo>
                  <a:pt x="5355106" y="0"/>
                </a:lnTo>
                <a:lnTo>
                  <a:pt x="5355106" y="2210198"/>
                </a:lnTo>
                <a:lnTo>
                  <a:pt x="0" y="2210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85725" cap="rnd">
            <a:solidFill>
              <a:srgbClr val="000000"/>
            </a:solidFill>
            <a:prstDash val="solid"/>
            <a:round/>
          </a:ln>
        </p:spPr>
      </p:sp>
      <p:sp>
        <p:nvSpPr>
          <p:cNvPr id="14" name="Freeform 14"/>
          <p:cNvSpPr/>
          <p:nvPr/>
        </p:nvSpPr>
        <p:spPr>
          <a:xfrm>
            <a:off x="8513931" y="4492834"/>
            <a:ext cx="5355106" cy="2210198"/>
          </a:xfrm>
          <a:custGeom>
            <a:avLst/>
            <a:gdLst/>
            <a:ahLst/>
            <a:cxnLst/>
            <a:rect l="l" t="t" r="r" b="b"/>
            <a:pathLst>
              <a:path w="5355106" h="2210198">
                <a:moveTo>
                  <a:pt x="0" y="0"/>
                </a:moveTo>
                <a:lnTo>
                  <a:pt x="5355106" y="0"/>
                </a:lnTo>
                <a:lnTo>
                  <a:pt x="5355106" y="2210198"/>
                </a:lnTo>
                <a:lnTo>
                  <a:pt x="0" y="2210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85725" cap="rnd">
            <a:solidFill>
              <a:srgbClr val="000000"/>
            </a:solidFill>
            <a:prstDash val="solid"/>
            <a:round/>
          </a:ln>
        </p:spPr>
      </p:sp>
      <p:sp>
        <p:nvSpPr>
          <p:cNvPr id="15" name="TextBox 15"/>
          <p:cNvSpPr txBox="1"/>
          <p:nvPr/>
        </p:nvSpPr>
        <p:spPr>
          <a:xfrm>
            <a:off x="3888511" y="5264558"/>
            <a:ext cx="4077891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  <a:spcBef>
                <a:spcPct val="0"/>
              </a:spcBef>
            </a:pPr>
            <a:r>
              <a:rPr lang="en-US" sz="4271" b="1" i="1">
                <a:solidFill>
                  <a:srgbClr val="F3F4F4"/>
                </a:solidFill>
                <a:latin typeface="Oswald Bold"/>
                <a:ea typeface="Oswald Bold"/>
                <a:cs typeface="Oswald Bold"/>
                <a:sym typeface="Oswald Bold"/>
              </a:rPr>
              <a:t>PERFIL DE EGRESO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90316" y="4940708"/>
            <a:ext cx="4202337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  <a:spcBef>
                <a:spcPct val="0"/>
              </a:spcBef>
            </a:pPr>
            <a:r>
              <a:rPr lang="en-US" sz="4271" b="1" i="1">
                <a:solidFill>
                  <a:srgbClr val="F3F4F4"/>
                </a:solidFill>
                <a:latin typeface="Oswald Bold"/>
                <a:ea typeface="Oswald Bold"/>
                <a:cs typeface="Oswald Bold"/>
                <a:sym typeface="Oswald Bold"/>
              </a:rPr>
              <a:t>INTERESES PROFESIONALES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4431" y="7474756"/>
            <a:ext cx="2924533" cy="657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  <a:spcBef>
                <a:spcPct val="0"/>
              </a:spcBef>
            </a:pPr>
            <a:r>
              <a:rPr lang="en-US" sz="4271" b="1" i="1" dirty="0">
                <a:solidFill>
                  <a:srgbClr val="F3F4F4"/>
                </a:solidFill>
                <a:latin typeface="Oswald Bold"/>
                <a:ea typeface="Oswald Bold"/>
                <a:cs typeface="Oswald Bold"/>
                <a:sym typeface="Oswald Bold"/>
              </a:rPr>
              <a:t>OBSTACULOS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34681" y="7384806"/>
            <a:ext cx="2183999" cy="657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  <a:spcBef>
                <a:spcPct val="0"/>
              </a:spcBef>
            </a:pPr>
            <a:r>
              <a:rPr lang="en-US" sz="4271" b="1" i="1" dirty="0">
                <a:solidFill>
                  <a:srgbClr val="F3F4F4"/>
                </a:solidFill>
                <a:latin typeface="Oswald Bold"/>
                <a:ea typeface="Oswald Bold"/>
                <a:cs typeface="Oswald Bold"/>
                <a:sym typeface="Oswald Bold"/>
              </a:rPr>
              <a:t>APORTE</a:t>
            </a:r>
          </a:p>
        </p:txBody>
      </p:sp>
      <p:sp>
        <p:nvSpPr>
          <p:cNvPr id="19" name="Freeform 19"/>
          <p:cNvSpPr/>
          <p:nvPr/>
        </p:nvSpPr>
        <p:spPr>
          <a:xfrm>
            <a:off x="6828652" y="6205575"/>
            <a:ext cx="2880245" cy="1188756"/>
          </a:xfrm>
          <a:custGeom>
            <a:avLst/>
            <a:gdLst/>
            <a:ahLst/>
            <a:cxnLst/>
            <a:rect l="l" t="t" r="r" b="b"/>
            <a:pathLst>
              <a:path w="2880245" h="1188756">
                <a:moveTo>
                  <a:pt x="0" y="0"/>
                </a:moveTo>
                <a:lnTo>
                  <a:pt x="2880245" y="0"/>
                </a:lnTo>
                <a:lnTo>
                  <a:pt x="2880245" y="1188756"/>
                </a:lnTo>
                <a:lnTo>
                  <a:pt x="0" y="1188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85725" cap="rnd">
            <a:solidFill>
              <a:srgbClr val="000000"/>
            </a:solidFill>
            <a:prstDash val="solid"/>
            <a:round/>
          </a:ln>
        </p:spPr>
      </p:sp>
      <p:sp>
        <p:nvSpPr>
          <p:cNvPr id="20" name="TextBox 20"/>
          <p:cNvSpPr txBox="1"/>
          <p:nvPr/>
        </p:nvSpPr>
        <p:spPr>
          <a:xfrm>
            <a:off x="7093181" y="6466578"/>
            <a:ext cx="2351187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  <a:spcBef>
                <a:spcPct val="0"/>
              </a:spcBef>
            </a:pPr>
            <a:r>
              <a:rPr lang="en-US" sz="4271" b="1" i="1">
                <a:solidFill>
                  <a:srgbClr val="F3F4F4"/>
                </a:solidFill>
                <a:latin typeface="Oswald Bold"/>
                <a:ea typeface="Oswald Bold"/>
                <a:cs typeface="Oswald Bold"/>
                <a:sym typeface="Oswald Bold"/>
              </a:rPr>
              <a:t>REFLEXIÓN</a:t>
            </a:r>
          </a:p>
        </p:txBody>
      </p:sp>
      <p:sp>
        <p:nvSpPr>
          <p:cNvPr id="21" name="Freeform 21"/>
          <p:cNvSpPr/>
          <p:nvPr/>
        </p:nvSpPr>
        <p:spPr>
          <a:xfrm rot="-10580377">
            <a:off x="10661087" y="6883326"/>
            <a:ext cx="8636299" cy="8861873"/>
          </a:xfrm>
          <a:custGeom>
            <a:avLst/>
            <a:gdLst/>
            <a:ahLst/>
            <a:cxnLst/>
            <a:rect l="l" t="t" r="r" b="b"/>
            <a:pathLst>
              <a:path w="8636299" h="8861873">
                <a:moveTo>
                  <a:pt x="0" y="0"/>
                </a:moveTo>
                <a:lnTo>
                  <a:pt x="8636298" y="0"/>
                </a:lnTo>
                <a:lnTo>
                  <a:pt x="8636298" y="8861873"/>
                </a:lnTo>
                <a:lnTo>
                  <a:pt x="0" y="88618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794823" y="304047"/>
            <a:ext cx="5493177" cy="1449307"/>
          </a:xfrm>
          <a:custGeom>
            <a:avLst/>
            <a:gdLst/>
            <a:ahLst/>
            <a:cxnLst/>
            <a:rect l="l" t="t" r="r" b="b"/>
            <a:pathLst>
              <a:path w="5493177" h="1449307">
                <a:moveTo>
                  <a:pt x="0" y="0"/>
                </a:moveTo>
                <a:lnTo>
                  <a:pt x="5493177" y="0"/>
                </a:lnTo>
                <a:lnTo>
                  <a:pt x="5493177" y="1449306"/>
                </a:lnTo>
                <a:lnTo>
                  <a:pt x="0" y="14493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69367" y="-10264537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68991" y="594928"/>
            <a:ext cx="9897967" cy="1822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76"/>
              </a:lnSpc>
            </a:pPr>
            <a:r>
              <a:rPr lang="en-US" sz="10707" b="1" spc="104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CONCLUSION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3447294" y="-3843198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00489" y="8208756"/>
            <a:ext cx="2605719" cy="1628574"/>
          </a:xfrm>
          <a:custGeom>
            <a:avLst/>
            <a:gdLst/>
            <a:ahLst/>
            <a:cxnLst/>
            <a:rect l="l" t="t" r="r" b="b"/>
            <a:pathLst>
              <a:path w="2605719" h="1628574">
                <a:moveTo>
                  <a:pt x="0" y="0"/>
                </a:moveTo>
                <a:lnTo>
                  <a:pt x="2605719" y="0"/>
                </a:lnTo>
                <a:lnTo>
                  <a:pt x="2605719" y="1628575"/>
                </a:lnTo>
                <a:lnTo>
                  <a:pt x="0" y="1628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85032" y="3840622"/>
            <a:ext cx="9362262" cy="260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  <a:spcBef>
                <a:spcPct val="0"/>
              </a:spcBef>
            </a:pPr>
            <a:r>
              <a:rPr lang="en-US" sz="2464" b="1" i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EL PROYECTO PERMITIÓ DESARROLLAR UNA SOLUCIÓN FUNCIONAL QUE OPTIMIZA LA GESTIÓN DE UNA CLÍNICA VETERINARIA MEDIANTE EL USO DE HERRAMIENTAS TECNOLÓGICAS. </a:t>
            </a:r>
          </a:p>
          <a:p>
            <a:pPr algn="ctr">
              <a:lnSpc>
                <a:spcPts val="2956"/>
              </a:lnSpc>
              <a:spcBef>
                <a:spcPct val="0"/>
              </a:spcBef>
            </a:pPr>
            <a:r>
              <a:rPr lang="en-US" sz="2464" b="1" i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LOS RESULTADOS OBTENIDOS EVIDENCIAN QUE LA IMPLEMENTACIÓN DE SISTEMAS INFORMÁTICOS MEJORA LA ORGANIZACIÓN, LA EFICIENCIA OPERATIVA Y LA TOMA DE DECISIONES, DEMOSTRANDO EL IMPACTO POSITIVO DE LA INFORMÁTICA EN ENTORNOS REALES.</a:t>
            </a:r>
          </a:p>
        </p:txBody>
      </p:sp>
      <p:sp>
        <p:nvSpPr>
          <p:cNvPr id="7" name="Freeform 7"/>
          <p:cNvSpPr/>
          <p:nvPr/>
        </p:nvSpPr>
        <p:spPr>
          <a:xfrm>
            <a:off x="8775995" y="8473778"/>
            <a:ext cx="5887821" cy="1363552"/>
          </a:xfrm>
          <a:custGeom>
            <a:avLst/>
            <a:gdLst/>
            <a:ahLst/>
            <a:cxnLst/>
            <a:rect l="l" t="t" r="r" b="b"/>
            <a:pathLst>
              <a:path w="5887821" h="1363552">
                <a:moveTo>
                  <a:pt x="0" y="0"/>
                </a:moveTo>
                <a:lnTo>
                  <a:pt x="5887821" y="0"/>
                </a:lnTo>
                <a:lnTo>
                  <a:pt x="5887821" y="1363552"/>
                </a:lnTo>
                <a:lnTo>
                  <a:pt x="0" y="1363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131" r="-3795" b="-4577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589</Words>
  <Application>Microsoft Office PowerPoint</Application>
  <PresentationFormat>Personalizado</PresentationFormat>
  <Paragraphs>111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Arial</vt:lpstr>
      <vt:lpstr>Calibri</vt:lpstr>
      <vt:lpstr>Montserrat Bold</vt:lpstr>
      <vt:lpstr>Oswald Bold</vt:lpstr>
      <vt:lpstr>DM Sans Bold</vt:lpstr>
      <vt:lpstr>Montserrat</vt:lpstr>
      <vt:lpstr>Didact Gothic</vt:lpstr>
      <vt:lpstr>DM Sans</vt:lpstr>
      <vt:lpstr>DM Sans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asdasdasd</dc:title>
  <cp:lastModifiedBy>SAUL ELIAS AVILA BUSTOS</cp:lastModifiedBy>
  <cp:revision>3</cp:revision>
  <dcterms:created xsi:type="dcterms:W3CDTF">2006-08-16T00:00:00Z</dcterms:created>
  <dcterms:modified xsi:type="dcterms:W3CDTF">2025-12-02T13:57:06Z</dcterms:modified>
  <dc:identifier>DAG16YtOYrU</dc:identifier>
</cp:coreProperties>
</file>