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0"/>
  </p:notesMasterIdLst>
  <p:handoutMasterIdLst>
    <p:handoutMasterId r:id="rId41"/>
  </p:handoutMasterIdLst>
  <p:sldIdLst>
    <p:sldId id="256" r:id="rId5"/>
    <p:sldId id="275" r:id="rId6"/>
    <p:sldId id="284" r:id="rId7"/>
    <p:sldId id="259" r:id="rId8"/>
    <p:sldId id="300" r:id="rId9"/>
    <p:sldId id="264" r:id="rId10"/>
    <p:sldId id="301" r:id="rId11"/>
    <p:sldId id="285" r:id="rId12"/>
    <p:sldId id="274" r:id="rId13"/>
    <p:sldId id="296" r:id="rId14"/>
    <p:sldId id="262" r:id="rId15"/>
    <p:sldId id="298" r:id="rId16"/>
    <p:sldId id="299" r:id="rId17"/>
    <p:sldId id="271" r:id="rId18"/>
    <p:sldId id="302" r:id="rId19"/>
    <p:sldId id="269" r:id="rId20"/>
    <p:sldId id="287" r:id="rId21"/>
    <p:sldId id="265" r:id="rId22"/>
    <p:sldId id="272" r:id="rId23"/>
    <p:sldId id="303" r:id="rId24"/>
    <p:sldId id="286" r:id="rId25"/>
    <p:sldId id="266" r:id="rId26"/>
    <p:sldId id="273" r:id="rId27"/>
    <p:sldId id="258" r:id="rId28"/>
    <p:sldId id="257" r:id="rId29"/>
    <p:sldId id="290" r:id="rId30"/>
    <p:sldId id="292" r:id="rId31"/>
    <p:sldId id="263" r:id="rId32"/>
    <p:sldId id="270" r:id="rId33"/>
    <p:sldId id="295" r:id="rId34"/>
    <p:sldId id="293" r:id="rId35"/>
    <p:sldId id="268" r:id="rId36"/>
    <p:sldId id="294" r:id="rId37"/>
    <p:sldId id="288" r:id="rId38"/>
    <p:sldId id="289" r:id="rId39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36B55979-CF57-3E4D-B517-0841900D9CDF}">
          <p14:sldIdLst>
            <p14:sldId id="256"/>
            <p14:sldId id="275"/>
            <p14:sldId id="284"/>
            <p14:sldId id="259"/>
            <p14:sldId id="300"/>
          </p14:sldIdLst>
        </p14:section>
        <p14:section name="desarrollo" id="{8242B7A4-26DC-8048-89F6-D0AEF6F5371E}">
          <p14:sldIdLst>
            <p14:sldId id="264"/>
            <p14:sldId id="301"/>
            <p14:sldId id="285"/>
            <p14:sldId id="274"/>
            <p14:sldId id="296"/>
            <p14:sldId id="262"/>
            <p14:sldId id="298"/>
            <p14:sldId id="299"/>
            <p14:sldId id="271"/>
            <p14:sldId id="302"/>
            <p14:sldId id="269"/>
            <p14:sldId id="287"/>
            <p14:sldId id="265"/>
            <p14:sldId id="272"/>
            <p14:sldId id="303"/>
            <p14:sldId id="286"/>
            <p14:sldId id="266"/>
          </p14:sldIdLst>
        </p14:section>
        <p14:section name="ANEXOS" id="{DC46E236-4478-564C-BCE6-36C35994FA64}">
          <p14:sldIdLst>
            <p14:sldId id="273"/>
            <p14:sldId id="258"/>
            <p14:sldId id="257"/>
            <p14:sldId id="290"/>
            <p14:sldId id="292"/>
            <p14:sldId id="263"/>
            <p14:sldId id="270"/>
            <p14:sldId id="295"/>
            <p14:sldId id="293"/>
            <p14:sldId id="268"/>
            <p14:sldId id="294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EBDC7D-B7BE-B1B6-B301-3FAC13B50B97}" v="5" dt="2025-11-20T16:56:31.320"/>
    <p1510:client id="{76C132C2-4A4B-C84F-ACCD-FA09FF25DE39}" v="140" dt="2025-11-20T14:04:46.460"/>
    <p1510:client id="{C31CEDCA-9DE2-51B0-3DC4-0D86A756AB22}" v="60" dt="2025-11-20T14:01:58.3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B54ACC-63ED-4C8B-8A42-E7A22D90B735}" type="doc">
      <dgm:prSet loTypeId="urn:microsoft.com/office/officeart/2005/8/layout/matrix1" loCatId="matrix" qsTypeId="urn:microsoft.com/office/officeart/2005/8/quickstyle/simple5" qsCatId="simple" csTypeId="urn:microsoft.com/office/officeart/2005/8/colors/accent4_1" csCatId="accent4" phldr="1"/>
      <dgm:spPr/>
      <dgm:t>
        <a:bodyPr/>
        <a:lstStyle/>
        <a:p>
          <a:endParaRPr lang="es-CL"/>
        </a:p>
      </dgm:t>
    </dgm:pt>
    <dgm:pt modelId="{64A71EB7-05C4-4257-B513-C28144809A88}">
      <dgm:prSet phldrT="[Texto]"/>
      <dgm:spPr/>
      <dgm:t>
        <a:bodyPr/>
        <a:lstStyle/>
        <a:p>
          <a:r>
            <a:rPr lang="es-MX"/>
            <a:t>Reflexión</a:t>
          </a:r>
          <a:endParaRPr lang="es-CL"/>
        </a:p>
      </dgm:t>
    </dgm:pt>
    <dgm:pt modelId="{935CF139-4C8C-4E2B-8C03-F8016F075A83}" type="parTrans" cxnId="{9FAABE60-BB36-4E0B-A930-C57DD87B9621}">
      <dgm:prSet/>
      <dgm:spPr/>
      <dgm:t>
        <a:bodyPr/>
        <a:lstStyle/>
        <a:p>
          <a:endParaRPr lang="es-CL"/>
        </a:p>
      </dgm:t>
    </dgm:pt>
    <dgm:pt modelId="{331F9D6C-2B70-4C82-A496-1CFA3CC51BA3}" type="sibTrans" cxnId="{9FAABE60-BB36-4E0B-A930-C57DD87B9621}">
      <dgm:prSet/>
      <dgm:spPr/>
      <dgm:t>
        <a:bodyPr/>
        <a:lstStyle/>
        <a:p>
          <a:endParaRPr lang="es-CL"/>
        </a:p>
      </dgm:t>
    </dgm:pt>
    <dgm:pt modelId="{180B22DA-23BB-45ED-B3BA-39C050E7C5B8}">
      <dgm:prSet phldrT="[Texto]"/>
      <dgm:spPr/>
      <dgm:t>
        <a:bodyPr/>
        <a:lstStyle/>
        <a:p>
          <a:endParaRPr lang="es-MX"/>
        </a:p>
        <a:p>
          <a:r>
            <a:rPr lang="es-MX"/>
            <a:t>Perfil de egreso</a:t>
          </a:r>
          <a:endParaRPr lang="es-CL"/>
        </a:p>
      </dgm:t>
    </dgm:pt>
    <dgm:pt modelId="{5C566016-6C78-45D6-9BD7-BDC9B91425BC}" type="parTrans" cxnId="{54732974-5831-4AD3-BB6F-7244695E504C}">
      <dgm:prSet/>
      <dgm:spPr/>
      <dgm:t>
        <a:bodyPr/>
        <a:lstStyle/>
        <a:p>
          <a:endParaRPr lang="es-CL"/>
        </a:p>
      </dgm:t>
    </dgm:pt>
    <dgm:pt modelId="{52D71F07-F1B5-4D81-BD15-040C2133A2B4}" type="sibTrans" cxnId="{54732974-5831-4AD3-BB6F-7244695E504C}">
      <dgm:prSet/>
      <dgm:spPr/>
      <dgm:t>
        <a:bodyPr/>
        <a:lstStyle/>
        <a:p>
          <a:endParaRPr lang="es-CL"/>
        </a:p>
      </dgm:t>
    </dgm:pt>
    <dgm:pt modelId="{F938E01E-485D-4964-AE2B-8AF942F52E7E}">
      <dgm:prSet phldrT="[Texto]"/>
      <dgm:spPr/>
      <dgm:t>
        <a:bodyPr/>
        <a:lstStyle/>
        <a:p>
          <a:endParaRPr lang="es-MX"/>
        </a:p>
        <a:p>
          <a:r>
            <a:rPr lang="es-MX"/>
            <a:t>Intereses profesionales</a:t>
          </a:r>
          <a:endParaRPr lang="es-CL"/>
        </a:p>
      </dgm:t>
    </dgm:pt>
    <dgm:pt modelId="{92E2C396-EA3B-45D5-912B-0FC8DD253705}" type="parTrans" cxnId="{94F18576-9AF0-4AE9-9856-AB3741B65547}">
      <dgm:prSet/>
      <dgm:spPr/>
      <dgm:t>
        <a:bodyPr/>
        <a:lstStyle/>
        <a:p>
          <a:endParaRPr lang="es-CL"/>
        </a:p>
      </dgm:t>
    </dgm:pt>
    <dgm:pt modelId="{B1BD42C3-F89F-4FC7-A8D2-B9306D355A95}" type="sibTrans" cxnId="{94F18576-9AF0-4AE9-9856-AB3741B65547}">
      <dgm:prSet/>
      <dgm:spPr/>
      <dgm:t>
        <a:bodyPr/>
        <a:lstStyle/>
        <a:p>
          <a:endParaRPr lang="es-CL"/>
        </a:p>
      </dgm:t>
    </dgm:pt>
    <dgm:pt modelId="{50ACE60B-271C-4118-8A98-E90E9586C32B}">
      <dgm:prSet phldrT="[Texto]"/>
      <dgm:spPr/>
      <dgm:t>
        <a:bodyPr/>
        <a:lstStyle/>
        <a:p>
          <a:r>
            <a:rPr lang="es-MX"/>
            <a:t>Obstaculos</a:t>
          </a:r>
          <a:endParaRPr lang="es-CL"/>
        </a:p>
      </dgm:t>
    </dgm:pt>
    <dgm:pt modelId="{3CF17C39-9E83-4A36-972A-4F2B871CEDB7}" type="parTrans" cxnId="{368FF900-CC18-4D1E-ADAA-5D0E640F03F1}">
      <dgm:prSet/>
      <dgm:spPr/>
      <dgm:t>
        <a:bodyPr/>
        <a:lstStyle/>
        <a:p>
          <a:endParaRPr lang="es-CL"/>
        </a:p>
      </dgm:t>
    </dgm:pt>
    <dgm:pt modelId="{70ECD15C-56AD-4B1A-A711-F22D6133A77D}" type="sibTrans" cxnId="{368FF900-CC18-4D1E-ADAA-5D0E640F03F1}">
      <dgm:prSet/>
      <dgm:spPr/>
      <dgm:t>
        <a:bodyPr/>
        <a:lstStyle/>
        <a:p>
          <a:endParaRPr lang="es-CL"/>
        </a:p>
      </dgm:t>
    </dgm:pt>
    <dgm:pt modelId="{66D702FB-C595-4DB7-B195-60676278E74F}">
      <dgm:prSet phldrT="[Texto]"/>
      <dgm:spPr/>
      <dgm:t>
        <a:bodyPr/>
        <a:lstStyle/>
        <a:p>
          <a:r>
            <a:rPr lang="es-CL"/>
            <a:t>Aporte</a:t>
          </a:r>
        </a:p>
      </dgm:t>
    </dgm:pt>
    <dgm:pt modelId="{A0A2D367-05FB-4FE5-B8DC-DAA8E8E5DC8E}" type="parTrans" cxnId="{E583E093-5568-4529-9239-56206D27B5DD}">
      <dgm:prSet/>
      <dgm:spPr/>
      <dgm:t>
        <a:bodyPr/>
        <a:lstStyle/>
        <a:p>
          <a:endParaRPr lang="es-CL"/>
        </a:p>
      </dgm:t>
    </dgm:pt>
    <dgm:pt modelId="{7453FE22-4A20-40A6-8E31-C20CB7CF03EC}" type="sibTrans" cxnId="{E583E093-5568-4529-9239-56206D27B5DD}">
      <dgm:prSet/>
      <dgm:spPr/>
      <dgm:t>
        <a:bodyPr/>
        <a:lstStyle/>
        <a:p>
          <a:endParaRPr lang="es-CL"/>
        </a:p>
      </dgm:t>
    </dgm:pt>
    <dgm:pt modelId="{F8BFA88C-EB97-4D5B-A365-3D283091DC9B}" type="pres">
      <dgm:prSet presAssocID="{47B54ACC-63ED-4C8B-8A42-E7A22D90B735}" presName="diagram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866BEAF0-491F-479F-BE20-9F095984C7E6}" type="pres">
      <dgm:prSet presAssocID="{47B54ACC-63ED-4C8B-8A42-E7A22D90B735}" presName="matrix" presStyleCnt="0"/>
      <dgm:spPr/>
    </dgm:pt>
    <dgm:pt modelId="{DE36B29D-D076-484B-923B-2F25F5C41A0D}" type="pres">
      <dgm:prSet presAssocID="{47B54ACC-63ED-4C8B-8A42-E7A22D90B735}" presName="tile1" presStyleLbl="node1" presStyleIdx="0" presStyleCnt="4"/>
      <dgm:spPr/>
    </dgm:pt>
    <dgm:pt modelId="{205093CC-B178-45FD-B4C6-5C5848D64481}" type="pres">
      <dgm:prSet presAssocID="{47B54ACC-63ED-4C8B-8A42-E7A22D90B735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AB3A897D-ED97-4543-BEFE-4B541983D385}" type="pres">
      <dgm:prSet presAssocID="{47B54ACC-63ED-4C8B-8A42-E7A22D90B735}" presName="tile2" presStyleLbl="node1" presStyleIdx="1" presStyleCnt="4"/>
      <dgm:spPr/>
    </dgm:pt>
    <dgm:pt modelId="{43C62A58-FC08-4B23-B420-34A58762BF6D}" type="pres">
      <dgm:prSet presAssocID="{47B54ACC-63ED-4C8B-8A42-E7A22D90B735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8B84C268-7B46-47A4-BCBA-96C88B8AE19B}" type="pres">
      <dgm:prSet presAssocID="{47B54ACC-63ED-4C8B-8A42-E7A22D90B735}" presName="tile3" presStyleLbl="node1" presStyleIdx="2" presStyleCnt="4"/>
      <dgm:spPr/>
    </dgm:pt>
    <dgm:pt modelId="{3D5938AE-3D17-4BC1-AAC0-B59A08F5F9EC}" type="pres">
      <dgm:prSet presAssocID="{47B54ACC-63ED-4C8B-8A42-E7A22D90B735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41FED504-BFF7-48F3-A789-DD1AF0C2F6B3}" type="pres">
      <dgm:prSet presAssocID="{47B54ACC-63ED-4C8B-8A42-E7A22D90B735}" presName="tile4" presStyleLbl="node1" presStyleIdx="3" presStyleCnt="4"/>
      <dgm:spPr/>
    </dgm:pt>
    <dgm:pt modelId="{96A2B153-B3E0-4BBA-B94A-519E9E83A984}" type="pres">
      <dgm:prSet presAssocID="{47B54ACC-63ED-4C8B-8A42-E7A22D90B735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D9FEFA5E-B963-48BC-A740-F15483409A6D}" type="pres">
      <dgm:prSet presAssocID="{47B54ACC-63ED-4C8B-8A42-E7A22D90B735}" presName="centerTile" presStyleLbl="fgShp" presStyleIdx="0" presStyleCnt="1">
        <dgm:presLayoutVars>
          <dgm:chMax val="0"/>
          <dgm:chPref val="0"/>
        </dgm:presLayoutVars>
      </dgm:prSet>
      <dgm:spPr/>
    </dgm:pt>
  </dgm:ptLst>
  <dgm:cxnLst>
    <dgm:cxn modelId="{368FF900-CC18-4D1E-ADAA-5D0E640F03F1}" srcId="{64A71EB7-05C4-4257-B513-C28144809A88}" destId="{50ACE60B-271C-4118-8A98-E90E9586C32B}" srcOrd="2" destOrd="0" parTransId="{3CF17C39-9E83-4A36-972A-4F2B871CEDB7}" sibTransId="{70ECD15C-56AD-4B1A-A711-F22D6133A77D}"/>
    <dgm:cxn modelId="{69FA5526-6C56-4A4D-9C83-C2F043480D0E}" type="presOf" srcId="{F938E01E-485D-4964-AE2B-8AF942F52E7E}" destId="{AB3A897D-ED97-4543-BEFE-4B541983D385}" srcOrd="0" destOrd="0" presId="urn:microsoft.com/office/officeart/2005/8/layout/matrix1"/>
    <dgm:cxn modelId="{3D260436-9776-49D7-AD0A-703BCBE33B09}" type="presOf" srcId="{66D702FB-C595-4DB7-B195-60676278E74F}" destId="{96A2B153-B3E0-4BBA-B94A-519E9E83A984}" srcOrd="1" destOrd="0" presId="urn:microsoft.com/office/officeart/2005/8/layout/matrix1"/>
    <dgm:cxn modelId="{9FAABE60-BB36-4E0B-A930-C57DD87B9621}" srcId="{47B54ACC-63ED-4C8B-8A42-E7A22D90B735}" destId="{64A71EB7-05C4-4257-B513-C28144809A88}" srcOrd="0" destOrd="0" parTransId="{935CF139-4C8C-4E2B-8C03-F8016F075A83}" sibTransId="{331F9D6C-2B70-4C82-A496-1CFA3CC51BA3}"/>
    <dgm:cxn modelId="{2370F164-74CC-46DB-9A78-256D667A7B27}" type="presOf" srcId="{F938E01E-485D-4964-AE2B-8AF942F52E7E}" destId="{43C62A58-FC08-4B23-B420-34A58762BF6D}" srcOrd="1" destOrd="0" presId="urn:microsoft.com/office/officeart/2005/8/layout/matrix1"/>
    <dgm:cxn modelId="{54732974-5831-4AD3-BB6F-7244695E504C}" srcId="{64A71EB7-05C4-4257-B513-C28144809A88}" destId="{180B22DA-23BB-45ED-B3BA-39C050E7C5B8}" srcOrd="0" destOrd="0" parTransId="{5C566016-6C78-45D6-9BD7-BDC9B91425BC}" sibTransId="{52D71F07-F1B5-4D81-BD15-040C2133A2B4}"/>
    <dgm:cxn modelId="{94F18576-9AF0-4AE9-9856-AB3741B65547}" srcId="{64A71EB7-05C4-4257-B513-C28144809A88}" destId="{F938E01E-485D-4964-AE2B-8AF942F52E7E}" srcOrd="1" destOrd="0" parTransId="{92E2C396-EA3B-45D5-912B-0FC8DD253705}" sibTransId="{B1BD42C3-F89F-4FC7-A8D2-B9306D355A95}"/>
    <dgm:cxn modelId="{40358588-4BA9-4C4F-9124-9D7770B03C11}" type="presOf" srcId="{180B22DA-23BB-45ED-B3BA-39C050E7C5B8}" destId="{205093CC-B178-45FD-B4C6-5C5848D64481}" srcOrd="1" destOrd="0" presId="urn:microsoft.com/office/officeart/2005/8/layout/matrix1"/>
    <dgm:cxn modelId="{E583E093-5568-4529-9239-56206D27B5DD}" srcId="{64A71EB7-05C4-4257-B513-C28144809A88}" destId="{66D702FB-C595-4DB7-B195-60676278E74F}" srcOrd="3" destOrd="0" parTransId="{A0A2D367-05FB-4FE5-B8DC-DAA8E8E5DC8E}" sibTransId="{7453FE22-4A20-40A6-8E31-C20CB7CF03EC}"/>
    <dgm:cxn modelId="{08AAB999-AB07-4101-A976-59DBFA686AC1}" type="presOf" srcId="{64A71EB7-05C4-4257-B513-C28144809A88}" destId="{D9FEFA5E-B963-48BC-A740-F15483409A6D}" srcOrd="0" destOrd="0" presId="urn:microsoft.com/office/officeart/2005/8/layout/matrix1"/>
    <dgm:cxn modelId="{BBD6F3BB-ACDF-4434-865B-B68781D2DA84}" type="presOf" srcId="{66D702FB-C595-4DB7-B195-60676278E74F}" destId="{41FED504-BFF7-48F3-A789-DD1AF0C2F6B3}" srcOrd="0" destOrd="0" presId="urn:microsoft.com/office/officeart/2005/8/layout/matrix1"/>
    <dgm:cxn modelId="{894BECC9-E6BC-4369-8B64-85FEFC8AA2B9}" type="presOf" srcId="{50ACE60B-271C-4118-8A98-E90E9586C32B}" destId="{3D5938AE-3D17-4BC1-AAC0-B59A08F5F9EC}" srcOrd="1" destOrd="0" presId="urn:microsoft.com/office/officeart/2005/8/layout/matrix1"/>
    <dgm:cxn modelId="{6066DDDB-0C66-4AA3-8D0E-0C2372A40A1D}" type="presOf" srcId="{47B54ACC-63ED-4C8B-8A42-E7A22D90B735}" destId="{F8BFA88C-EB97-4D5B-A365-3D283091DC9B}" srcOrd="0" destOrd="0" presId="urn:microsoft.com/office/officeart/2005/8/layout/matrix1"/>
    <dgm:cxn modelId="{AD5314DC-3927-4711-B644-F2691E978DB8}" type="presOf" srcId="{180B22DA-23BB-45ED-B3BA-39C050E7C5B8}" destId="{DE36B29D-D076-484B-923B-2F25F5C41A0D}" srcOrd="0" destOrd="0" presId="urn:microsoft.com/office/officeart/2005/8/layout/matrix1"/>
    <dgm:cxn modelId="{12EA96F1-7BEA-4183-B48E-141F74CB71CF}" type="presOf" srcId="{50ACE60B-271C-4118-8A98-E90E9586C32B}" destId="{8B84C268-7B46-47A4-BCBA-96C88B8AE19B}" srcOrd="0" destOrd="0" presId="urn:microsoft.com/office/officeart/2005/8/layout/matrix1"/>
    <dgm:cxn modelId="{12E3A6DC-99A5-4B39-B335-E64EAAB0F3A4}" type="presParOf" srcId="{F8BFA88C-EB97-4D5B-A365-3D283091DC9B}" destId="{866BEAF0-491F-479F-BE20-9F095984C7E6}" srcOrd="0" destOrd="0" presId="urn:microsoft.com/office/officeart/2005/8/layout/matrix1"/>
    <dgm:cxn modelId="{BB484E46-5D96-4A58-8759-359FCEE66B9E}" type="presParOf" srcId="{866BEAF0-491F-479F-BE20-9F095984C7E6}" destId="{DE36B29D-D076-484B-923B-2F25F5C41A0D}" srcOrd="0" destOrd="0" presId="urn:microsoft.com/office/officeart/2005/8/layout/matrix1"/>
    <dgm:cxn modelId="{DFCEB985-B747-4BE2-B1FD-4BE71A9BA8BD}" type="presParOf" srcId="{866BEAF0-491F-479F-BE20-9F095984C7E6}" destId="{205093CC-B178-45FD-B4C6-5C5848D64481}" srcOrd="1" destOrd="0" presId="urn:microsoft.com/office/officeart/2005/8/layout/matrix1"/>
    <dgm:cxn modelId="{430FD9B8-5AFA-42DA-A06D-2D2A3B49C470}" type="presParOf" srcId="{866BEAF0-491F-479F-BE20-9F095984C7E6}" destId="{AB3A897D-ED97-4543-BEFE-4B541983D385}" srcOrd="2" destOrd="0" presId="urn:microsoft.com/office/officeart/2005/8/layout/matrix1"/>
    <dgm:cxn modelId="{6C35AFA4-C75F-4D92-A1CE-D4BE23B219D5}" type="presParOf" srcId="{866BEAF0-491F-479F-BE20-9F095984C7E6}" destId="{43C62A58-FC08-4B23-B420-34A58762BF6D}" srcOrd="3" destOrd="0" presId="urn:microsoft.com/office/officeart/2005/8/layout/matrix1"/>
    <dgm:cxn modelId="{4445D9F1-1A80-46D1-AE88-8A49D01D3246}" type="presParOf" srcId="{866BEAF0-491F-479F-BE20-9F095984C7E6}" destId="{8B84C268-7B46-47A4-BCBA-96C88B8AE19B}" srcOrd="4" destOrd="0" presId="urn:microsoft.com/office/officeart/2005/8/layout/matrix1"/>
    <dgm:cxn modelId="{ADF377BC-37C2-469F-A51E-BB316AED09C7}" type="presParOf" srcId="{866BEAF0-491F-479F-BE20-9F095984C7E6}" destId="{3D5938AE-3D17-4BC1-AAC0-B59A08F5F9EC}" srcOrd="5" destOrd="0" presId="urn:microsoft.com/office/officeart/2005/8/layout/matrix1"/>
    <dgm:cxn modelId="{FDE57B06-7C0D-4A15-B3D3-C854DFA2A2E8}" type="presParOf" srcId="{866BEAF0-491F-479F-BE20-9F095984C7E6}" destId="{41FED504-BFF7-48F3-A789-DD1AF0C2F6B3}" srcOrd="6" destOrd="0" presId="urn:microsoft.com/office/officeart/2005/8/layout/matrix1"/>
    <dgm:cxn modelId="{5ACB1EC9-389C-43CC-A921-52E6D1CF7205}" type="presParOf" srcId="{866BEAF0-491F-479F-BE20-9F095984C7E6}" destId="{96A2B153-B3E0-4BBA-B94A-519E9E83A984}" srcOrd="7" destOrd="0" presId="urn:microsoft.com/office/officeart/2005/8/layout/matrix1"/>
    <dgm:cxn modelId="{43D50B30-66D7-455A-8FA6-9EAD2C36B089}" type="presParOf" srcId="{F8BFA88C-EB97-4D5B-A365-3D283091DC9B}" destId="{D9FEFA5E-B963-48BC-A740-F15483409A6D}" srcOrd="1" destOrd="0" presId="urn:microsoft.com/office/officeart/2005/8/layout/matrix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/>
            <a:t>Nombre de estudiante</a:t>
          </a:r>
          <a:endParaRPr lang="es-CL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/>
            <a:t>Cargo</a:t>
          </a:r>
          <a:endParaRPr lang="es-CL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/>
            <a:t>Nombre de estudiante</a:t>
          </a:r>
          <a:endParaRPr lang="es-CL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MX"/>
            <a:t>Nombre de estudiante</a:t>
          </a:r>
          <a:endParaRPr lang="es-CL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/>
            <a:t>Funciones desempeñadas</a:t>
          </a:r>
          <a:endParaRPr lang="es-CL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/>
            <a:t>Cargo</a:t>
          </a:r>
          <a:endParaRPr lang="es-CL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/>
            <a:t>Funciones desempeñadas</a:t>
          </a:r>
          <a:endParaRPr lang="es-CL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/>
            <a:t>Cargo</a:t>
          </a:r>
          <a:endParaRPr lang="es-CL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/>
            <a:t>Funciones desempeñadas</a:t>
          </a:r>
          <a:endParaRPr lang="es-CL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/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/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/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2" presId="urn:microsoft.com/office/officeart/2005/8/layout/vList4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3F2A6752-A5BB-4F63-B720-93C45E0B4F56}" type="presOf" srcId="{D546635F-000B-49DF-BB26-293CCA777400}" destId="{F36F4ED1-B414-46B8-A8C5-C0FB11F5CFBC}" srcOrd="0" destOrd="2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1C3272C9-C630-4D60-B76B-138907BB4D41}" srcId="{78BFB295-8F5D-4286-B72B-79142F8F0E13}" destId="{2E221207-005F-49CB-81E1-6D036D64322B}" srcOrd="1" destOrd="0" parTransId="{B200B6AA-AA2A-4CB8-80FF-4BB54938E8A5}" sibTransId="{3728DB5E-E904-481D-A1E5-49CF4AFFC0D3}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D1C04ECF-982A-425F-B2B1-9CF15BCEB83B}" type="presOf" srcId="{D546635F-000B-49DF-BB26-293CCA777400}" destId="{0E12AD21-08CC-4736-A269-DD5234F9D874}" srcOrd="1" destOrd="2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2" presId="urn:microsoft.com/office/officeart/2005/8/layout/vList4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36B29D-D076-484B-923B-2F25F5C41A0D}">
      <dsp:nvSpPr>
        <dsp:cNvPr id="0" name=""/>
        <dsp:cNvSpPr/>
      </dsp:nvSpPr>
      <dsp:spPr>
        <a:xfrm rot="16200000">
          <a:off x="1772859" y="-1772859"/>
          <a:ext cx="1632856" cy="517857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500" kern="1200"/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/>
            <a:t>Perfil de egreso</a:t>
          </a:r>
          <a:endParaRPr lang="es-CL" sz="2500" kern="1200"/>
        </a:p>
      </dsp:txBody>
      <dsp:txXfrm rot="5400000">
        <a:off x="-1" y="1"/>
        <a:ext cx="5178576" cy="1224642"/>
      </dsp:txXfrm>
    </dsp:sp>
    <dsp:sp modelId="{AB3A897D-ED97-4543-BEFE-4B541983D385}">
      <dsp:nvSpPr>
        <dsp:cNvPr id="0" name=""/>
        <dsp:cNvSpPr/>
      </dsp:nvSpPr>
      <dsp:spPr>
        <a:xfrm>
          <a:off x="5178576" y="0"/>
          <a:ext cx="5178576" cy="163285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MX" sz="2500" kern="1200"/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/>
            <a:t>Intereses profesionales</a:t>
          </a:r>
          <a:endParaRPr lang="es-CL" sz="2500" kern="1200"/>
        </a:p>
      </dsp:txBody>
      <dsp:txXfrm>
        <a:off x="5178576" y="0"/>
        <a:ext cx="5178576" cy="1224642"/>
      </dsp:txXfrm>
    </dsp:sp>
    <dsp:sp modelId="{8B84C268-7B46-47A4-BCBA-96C88B8AE19B}">
      <dsp:nvSpPr>
        <dsp:cNvPr id="0" name=""/>
        <dsp:cNvSpPr/>
      </dsp:nvSpPr>
      <dsp:spPr>
        <a:xfrm rot="10800000">
          <a:off x="0" y="1632856"/>
          <a:ext cx="5178576" cy="163285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/>
            <a:t>Obstaculos</a:t>
          </a:r>
          <a:endParaRPr lang="es-CL" sz="2500" kern="1200"/>
        </a:p>
      </dsp:txBody>
      <dsp:txXfrm rot="10800000">
        <a:off x="0" y="2041070"/>
        <a:ext cx="5178576" cy="1224642"/>
      </dsp:txXfrm>
    </dsp:sp>
    <dsp:sp modelId="{41FED504-BFF7-48F3-A789-DD1AF0C2F6B3}">
      <dsp:nvSpPr>
        <dsp:cNvPr id="0" name=""/>
        <dsp:cNvSpPr/>
      </dsp:nvSpPr>
      <dsp:spPr>
        <a:xfrm rot="5400000">
          <a:off x="6951435" y="-140003"/>
          <a:ext cx="1632856" cy="5178576"/>
        </a:xfrm>
        <a:prstGeom prst="round1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2500" kern="1200"/>
            <a:t>Aporte</a:t>
          </a:r>
        </a:p>
      </dsp:txBody>
      <dsp:txXfrm rot="-5400000">
        <a:off x="5178575" y="2041070"/>
        <a:ext cx="5178576" cy="1224642"/>
      </dsp:txXfrm>
    </dsp:sp>
    <dsp:sp modelId="{D9FEFA5E-B963-48BC-A740-F15483409A6D}">
      <dsp:nvSpPr>
        <dsp:cNvPr id="0" name=""/>
        <dsp:cNvSpPr/>
      </dsp:nvSpPr>
      <dsp:spPr>
        <a:xfrm>
          <a:off x="3625003" y="1224642"/>
          <a:ext cx="3107145" cy="816428"/>
        </a:xfrm>
        <a:prstGeom prst="roundRect">
          <a:avLst/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tint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500" kern="1200"/>
            <a:t>Reflexión</a:t>
          </a:r>
          <a:endParaRPr lang="es-CL" sz="2500" kern="1200"/>
        </a:p>
      </dsp:txBody>
      <dsp:txXfrm>
        <a:off x="3664858" y="1264497"/>
        <a:ext cx="3027435" cy="73671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Cargo</a:t>
          </a:r>
          <a:endParaRPr lang="es-CL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Funciones desempeñadas</a:t>
          </a:r>
          <a:endParaRPr lang="es-CL" sz="2000" kern="1200"/>
        </a:p>
      </dsp:txBody>
      <dsp:txXfrm>
        <a:off x="1662653" y="0"/>
        <a:ext cx="5970840" cy="1359548"/>
      </dsp:txXfrm>
    </dsp:sp>
    <dsp:sp modelId="{9A7E2690-DE9C-4572-9BE5-B8C9A3B8BBB3}">
      <dsp:nvSpPr>
        <dsp:cNvPr id="0" name=""/>
        <dsp:cNvSpPr/>
      </dsp:nvSpPr>
      <dsp:spPr>
        <a:xfrm>
          <a:off x="135954" y="135954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495502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Cargo</a:t>
          </a:r>
          <a:endParaRPr lang="es-CL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Funciones desempeñadas</a:t>
          </a:r>
          <a:endParaRPr lang="es-CL" sz="2000" kern="1200"/>
        </a:p>
      </dsp:txBody>
      <dsp:txXfrm>
        <a:off x="1662653" y="1495502"/>
        <a:ext cx="5970840" cy="1359548"/>
      </dsp:txXfrm>
    </dsp:sp>
    <dsp:sp modelId="{3F97C059-D720-4D48-953F-B84D04D0BF79}">
      <dsp:nvSpPr>
        <dsp:cNvPr id="0" name=""/>
        <dsp:cNvSpPr/>
      </dsp:nvSpPr>
      <dsp:spPr>
        <a:xfrm>
          <a:off x="135954" y="1631457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2991005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Cargo</a:t>
          </a:r>
          <a:endParaRPr lang="es-CL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Funciones desempeñadas</a:t>
          </a:r>
          <a:endParaRPr lang="es-CL" sz="2000" kern="1200"/>
        </a:p>
      </dsp:txBody>
      <dsp:txXfrm>
        <a:off x="1662653" y="2991005"/>
        <a:ext cx="5970840" cy="1359548"/>
      </dsp:txXfrm>
    </dsp:sp>
    <dsp:sp modelId="{7C6A764B-C67C-494C-B90E-7B3C3DDE54A4}">
      <dsp:nvSpPr>
        <dsp:cNvPr id="0" name=""/>
        <dsp:cNvSpPr/>
      </dsp:nvSpPr>
      <dsp:spPr>
        <a:xfrm>
          <a:off x="135954" y="3126960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342B94C6-A0AC-89AB-20B8-B3C2ED90C4D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9FB8E24-1EB4-D811-C6AC-1F466A69A26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3DD758-0740-654D-95C7-5C2557348F61}" type="datetimeFigureOut">
              <a:rPr lang="es-ES_tradnl" smtClean="0"/>
              <a:t>27/11/2025</a:t>
            </a:fld>
            <a:endParaRPr lang="es-ES_tradn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C14F57A-8650-562E-96AC-CA07AC04C9C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F98777A-A43B-E149-02D3-C6BC3F81B1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BE2524-EC0B-5347-9D16-EE3400F9660A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491712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FC48E-71C3-B448-8946-037788D9B597}" type="datetimeFigureOut">
              <a:rPr lang="es-ES_tradnl" smtClean="0"/>
              <a:t>27/11/2025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2969C0-F669-CC43-9359-372BAF62B9FD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41648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21781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b="1"/>
              <a:t>Objetivos del proyecto</a:t>
            </a:r>
            <a:endParaRPr lang="es-CL"/>
          </a:p>
          <a:p>
            <a:r>
              <a:rPr lang="es-CL"/>
              <a:t>Escribir el Objetivo general</a:t>
            </a:r>
          </a:p>
          <a:p>
            <a:r>
              <a:rPr lang="es-CL"/>
              <a:t>Listar objetivos específicos</a:t>
            </a:r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011698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/>
              <a:t>Esta </a:t>
            </a:r>
            <a:r>
              <a:rPr lang="es-ES_tradnl" err="1"/>
              <a:t>ppt</a:t>
            </a:r>
            <a:r>
              <a:rPr lang="es-ES_tradnl"/>
              <a:t> pude ser opcional propongo que lo digan junto con sus objetivos en pro del tiempo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938666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sz="120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Componentes </a:t>
            </a:r>
          </a:p>
          <a:p>
            <a:r>
              <a:rPr lang="es-CL" sz="120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 decir, el resumen de aspectos relevantes . </a:t>
            </a:r>
          </a:p>
          <a:p>
            <a:endParaRPr lang="es-CL" sz="120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>
                <a:solidFill>
                  <a:srgbClr val="002060"/>
                </a:solidFill>
                <a:latin typeface="Arial" charset="0"/>
                <a:ea typeface="Arial" charset="0"/>
                <a:cs typeface="Arial" charset="0"/>
              </a:rPr>
              <a:t>Esto implica “LISTAR”</a:t>
            </a:r>
          </a:p>
          <a:p>
            <a:r>
              <a:rPr lang="es-CL" sz="1200">
                <a:solidFill>
                  <a:srgbClr val="002060"/>
                </a:solidFill>
                <a:latin typeface="Arial" charset="0"/>
                <a:ea typeface="Arial" charset="0"/>
                <a:cs typeface="Arial" charset="0"/>
              </a:rPr>
              <a:t>Arquitectura, Componentes, Estimaciones de Costo, estudios y otros usado en el estudio, panificación y diseño del proyecto </a:t>
            </a:r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477725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/>
              <a:t>Describir la o las herramientas de planificación utilizada y su relación con el proyecto.</a:t>
            </a:r>
          </a:p>
          <a:p>
            <a:r>
              <a:rPr lang="es-CL"/>
              <a:t>Una diapositiva.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200">
                <a:solidFill>
                  <a:schemeClr val="bg2">
                    <a:lumMod val="50000"/>
                  </a:schemeClr>
                </a:solidFill>
              </a:rPr>
              <a:t>Utilizar cronograma de inicio, indicando el cumplimiento al término del proyecto </a:t>
            </a:r>
            <a:endParaRPr lang="es-CL" sz="800">
              <a:solidFill>
                <a:schemeClr val="bg2">
                  <a:lumMod val="50000"/>
                </a:schemeClr>
              </a:solidFill>
            </a:endParaRPr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11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9017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 primer lugar debes considerar que tal como se mencionó anteriormente, la reflexión nos ayuda a ir consolidando nuestras competencias por cuanto somos capaces de situarnos en distintos escenario. En este sentido, se recomienda iniciar la práctica reflexiva con preguntas que te lleven a la comprensión de lo que realizaste y a la relación con otros componentes del centro de práctica en el que te desempeñas, preguntas tales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como: 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¿Entendí las partes de la tarea que me encargaron y cómo se conectaban?,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¿entiendo la importancia de esta tarea en el contexto de la empresa?, 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¿De qué manera esta actividad se relaciona con otras actividades? 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Luego se puede pasar a preguntas más complejas que refieren al análisis y evaluación de lo que se está realizando, con preguntas como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¿Fueron eficaces las estrategias, habilidades o procedimientos que usé para desarrollar la actividad?  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¿Qué estoy aprendiendo o. aprendí ?  ¿Por qué es importante?</a:t>
            </a:r>
          </a:p>
          <a:p>
            <a:pPr marL="158750" indent="0">
              <a:buNone/>
            </a:pPr>
            <a:r>
              <a:rPr lang="es-CL" sz="12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Finalmente, es importante reflexionar sobre cómo podría mejorar el desempeño, cómo esto aporta a mi perfil profesional, entre otras. Además de analizar cuáles son los espacios de mejora del centro de práctica y cómo desde su rol como especialista puede aportar.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L"/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21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994696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/>
              <a:t>Opcionales a tu presentación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23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42667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MX"/>
              <a:t>Nombre de estudiante</a:t>
            </a:r>
            <a:endParaRPr lang="es-CL"/>
          </a:p>
          <a:p>
            <a:pPr lvl="1"/>
            <a:r>
              <a:rPr lang="es-MX"/>
              <a:t>Cargo</a:t>
            </a:r>
            <a:endParaRPr lang="es-CL"/>
          </a:p>
          <a:p>
            <a:pPr lvl="1"/>
            <a:r>
              <a:rPr lang="es-MX"/>
              <a:t>Funciones desempeñadas</a:t>
            </a:r>
            <a:endParaRPr lang="es-CL"/>
          </a:p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2969C0-F669-CC43-9359-372BAF62B9FD}" type="slidenum">
              <a:rPr lang="es-ES_tradnl" smtClean="0"/>
              <a:t>25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01456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5FE05-B94E-CC4D-AE63-F024CEEF18A6}" type="datetime1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0627" y="170482"/>
            <a:ext cx="4114800" cy="309965"/>
          </a:xfrm>
        </p:spPr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5047F-DDDB-E043-9700-827F2B848BBA}" type="datetime1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A22540-8B8E-EF44-AFDB-CC7FCC242F14}" type="datetime1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E48FF-BF31-804C-8957-685D81D1BE15}" type="datetime1">
              <a:rPr lang="es-CL" smtClean="0"/>
              <a:t>27-11-2025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8FCC-61DD-ED47-953D-48E93003D3C8}" type="datetime1">
              <a:rPr lang="es-CL" smtClean="0"/>
              <a:t>27-11-2025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95B02-1C8A-9149-8F26-44FBF5EF6F5D}" type="datetime1">
              <a:rPr lang="es-CL" smtClean="0"/>
              <a:t>27-11-2025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1754D-E427-1845-AA91-7A8F8726F813}" type="datetime1">
              <a:rPr lang="es-CL" smtClean="0"/>
              <a:t>27-11-2025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01242-642C-E546-B2B2-3A10C6B84BE8}" type="datetime1">
              <a:rPr lang="es-CL" smtClean="0"/>
              <a:t>27-11-2025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A0E8C-6969-ED4F-B557-4A13166634B4}" type="datetime1">
              <a:rPr lang="es-CL" smtClean="0"/>
              <a:t>27-11-2025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8D1E37-06D6-964E-A5DE-22C4D0AFD0A7}" type="datetime1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2ABE33-D22C-1B4B-8C95-99FF87AE5ACF}" type="datetime1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userDrawn="1">
  <p:cSld name="Blank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9548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159DB-B23C-8F49-9C1B-A431A9325AD5}" type="datetime1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s-CL"/>
              <a:t>PROYECTO “NOMBRE DEL PROYECTO”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032A9FD-2796-2B6A-9BDE-A2D7C2969767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5589"/>
            <a:ext cx="1923566" cy="740488"/>
          </a:xfrm>
          <a:prstGeom prst="rect">
            <a:avLst/>
          </a:prstGeom>
        </p:spPr>
      </p:pic>
      <p:pic>
        <p:nvPicPr>
          <p:cNvPr id="9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C3D4805-E575-3883-970B-991A5B6AC79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3617" y="125589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slow">
    <p:wipe/>
  </p:transition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523517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b="1" dirty="0"/>
              <a:t>“SITIO WEB PARA CLINICA VETERINARIA PUCARA”</a:t>
            </a:r>
          </a:p>
          <a:p>
            <a:pPr algn="ctr"/>
            <a:r>
              <a:rPr lang="es-MX" sz="2400" b="1" dirty="0"/>
              <a:t>PRESENTACIÓN FINAL CAPSTONE</a:t>
            </a:r>
            <a:endParaRPr lang="es-CL" sz="2400" b="1" dirty="0"/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E9FD5021-D689-CD28-1A56-C54BC902006B}"/>
              </a:ext>
            </a:extLst>
          </p:cNvPr>
          <p:cNvSpPr txBox="1"/>
          <p:nvPr/>
        </p:nvSpPr>
        <p:spPr>
          <a:xfrm>
            <a:off x="3112376" y="2910998"/>
            <a:ext cx="5967246" cy="38787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endParaRPr lang="es-CL" sz="1867" dirty="0"/>
          </a:p>
          <a:p>
            <a:pPr algn="ctr"/>
            <a:r>
              <a:rPr lang="es-ES" sz="1867" b="1" dirty="0"/>
              <a:t>Docente</a:t>
            </a:r>
            <a:endParaRPr lang="es-CL" sz="1867" b="1" dirty="0"/>
          </a:p>
          <a:p>
            <a:pPr algn="ctr"/>
            <a:r>
              <a:rPr lang="es-ES" sz="1867" dirty="0"/>
              <a:t>Fabian Alcántara </a:t>
            </a:r>
            <a:endParaRPr lang="es-ES" sz="1867" dirty="0">
              <a:ea typeface="Calibri"/>
              <a:cs typeface="Calibri"/>
            </a:endParaRPr>
          </a:p>
          <a:p>
            <a:pPr algn="ctr"/>
            <a:endParaRPr lang="es-CL" sz="1867" dirty="0"/>
          </a:p>
          <a:p>
            <a:pPr algn="ctr"/>
            <a:r>
              <a:rPr lang="es-ES" sz="1867" b="1" dirty="0"/>
              <a:t>Equipo alumnos</a:t>
            </a:r>
            <a:endParaRPr lang="es-CL" sz="1867" b="1" dirty="0"/>
          </a:p>
          <a:p>
            <a:pPr algn="ctr"/>
            <a:r>
              <a:rPr lang="es-ES" sz="1867" dirty="0"/>
              <a:t>Mario Garrido Apellido</a:t>
            </a:r>
          </a:p>
          <a:p>
            <a:pPr algn="ctr"/>
            <a:r>
              <a:rPr lang="es-CL" sz="1867" dirty="0"/>
              <a:t>Saúl Ávila Bustos</a:t>
            </a:r>
          </a:p>
          <a:p>
            <a:pPr algn="ctr"/>
            <a:endParaRPr lang="es-CL" sz="1867" dirty="0"/>
          </a:p>
          <a:p>
            <a:pPr algn="ctr"/>
            <a:r>
              <a:rPr lang="es-ES" sz="1867" b="1" dirty="0"/>
              <a:t>Duoc UC Sede San Bernardo </a:t>
            </a:r>
          </a:p>
          <a:p>
            <a:pPr algn="ctr"/>
            <a:r>
              <a:rPr lang="es-ES" sz="1867" dirty="0"/>
              <a:t>Escuela de Informática y Telecomunicaciones</a:t>
            </a:r>
          </a:p>
          <a:p>
            <a:pPr algn="ctr"/>
            <a:r>
              <a:rPr lang="es-ES" sz="1867" dirty="0"/>
              <a:t>Ingeniería en Informática</a:t>
            </a:r>
          </a:p>
          <a:p>
            <a:pPr algn="ctr"/>
            <a:r>
              <a:rPr lang="es-ES" sz="1867" dirty="0"/>
              <a:t>2025</a:t>
            </a:r>
            <a:endParaRPr lang="es-CL" sz="1867" dirty="0"/>
          </a:p>
          <a:p>
            <a:pPr algn="ctr"/>
            <a:endParaRPr lang="es-CL" sz="1867" dirty="0"/>
          </a:p>
          <a:p>
            <a:pPr algn="ctr"/>
            <a:endParaRPr lang="es-CL" sz="933" dirty="0"/>
          </a:p>
        </p:txBody>
      </p:sp>
      <p:sp>
        <p:nvSpPr>
          <p:cNvPr id="3" name="Freeform 4">
            <a:extLst>
              <a:ext uri="{FF2B5EF4-FFF2-40B4-BE49-F238E27FC236}">
                <a16:creationId xmlns:a16="http://schemas.microsoft.com/office/drawing/2014/main" id="{81F53645-C54C-D3B7-31BC-AD62D417CFD6}"/>
              </a:ext>
            </a:extLst>
          </p:cNvPr>
          <p:cNvSpPr/>
          <p:nvPr/>
        </p:nvSpPr>
        <p:spPr>
          <a:xfrm rot="16200000">
            <a:off x="6154970" y="671069"/>
            <a:ext cx="151882" cy="12192001"/>
          </a:xfrm>
          <a:custGeom>
            <a:avLst/>
            <a:gdLst/>
            <a:ahLst/>
            <a:cxnLst/>
            <a:rect l="l" t="t" r="r" b="b"/>
            <a:pathLst>
              <a:path w="587437" h="5624919">
                <a:moveTo>
                  <a:pt x="0" y="0"/>
                </a:moveTo>
                <a:lnTo>
                  <a:pt x="587437" y="0"/>
                </a:lnTo>
                <a:lnTo>
                  <a:pt x="587437" y="5624919"/>
                </a:lnTo>
                <a:lnTo>
                  <a:pt x="0" y="56249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946303" t="-3435" r="-23115094" b="-21587"/>
            </a:stretch>
          </a:blipFill>
        </p:spPr>
        <p:txBody>
          <a:bodyPr/>
          <a:lstStyle/>
          <a:p>
            <a:endParaRPr lang="es-CL" sz="933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1B07ABA7-380A-39CD-3A5E-BEFD00A8867D}"/>
              </a:ext>
            </a:extLst>
          </p:cNvPr>
          <p:cNvSpPr txBox="1">
            <a:spLocks/>
          </p:cNvSpPr>
          <p:nvPr/>
        </p:nvSpPr>
        <p:spPr>
          <a:xfrm>
            <a:off x="895350" y="2592500"/>
            <a:ext cx="4736012" cy="2651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E3075"/>
              </a:buClr>
              <a:buSzPts val="2800"/>
              <a:buFont typeface="Franklin Gothic"/>
              <a:buChar char="»"/>
              <a:defRPr sz="24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ranklin Gothic"/>
              <a:buChar char="•"/>
              <a:defRPr sz="20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Franklin Gothic"/>
              <a:buChar char="○"/>
              <a:defRPr sz="1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ranklin Gothic"/>
              <a:buChar char="•"/>
              <a:defRPr sz="1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ranklin Gothic"/>
              <a:buChar char="•"/>
              <a:defRPr sz="14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5pPr>
            <a:lvl6pPr marL="2743200" marR="0" lvl="5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Franklin Gothic"/>
              <a:buChar char="•"/>
              <a:defRPr sz="12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Franklin Gothic"/>
              <a:buChar char="•"/>
              <a:defRPr sz="10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7pPr>
            <a:lvl8pPr marL="3657600" marR="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Franklin Gothic"/>
              <a:buChar char="•"/>
              <a:defRPr sz="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8pPr>
            <a:lvl9pPr marL="4114800" marR="0" lvl="8" indent="-2667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600"/>
              <a:buFont typeface="Franklin Gothic"/>
              <a:buChar char="•"/>
              <a:defRPr sz="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9pPr>
          </a:lstStyle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El proyecto consiste en desarrollar una plataforma web moderna, responsive y fácil de usar</a:t>
            </a: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El sistema busca resolver la dependencia actual de herramientas manuales </a:t>
            </a:r>
          </a:p>
          <a:p>
            <a:pPr marL="0" indent="0">
              <a:buNone/>
            </a:pP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285750" indent="-285750">
              <a:buFontTx/>
              <a:buChar char="-"/>
            </a:pP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None/>
            </a:pPr>
            <a:endParaRPr lang="es-CL" sz="22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052F0E3-82B4-9445-E86E-300A214B54DC}"/>
              </a:ext>
            </a:extLst>
          </p:cNvPr>
          <p:cNvSpPr txBox="1"/>
          <p:nvPr/>
        </p:nvSpPr>
        <p:spPr>
          <a:xfrm>
            <a:off x="-152400" y="785232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INTRODUCCIÓN</a:t>
            </a:r>
            <a:endParaRPr lang="es-CL" b="1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CB7E776D-E8CC-4AED-946B-119DD0E92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650" y="1431563"/>
            <a:ext cx="3269316" cy="47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199008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B2769D-C258-4FC0-7837-22F18EBC68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754911" y="376656"/>
            <a:ext cx="12192000" cy="8616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304704" rIns="91440" bIns="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indent="45085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1pPr>
            <a:lvl2pPr marR="0"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2pPr>
            <a:lvl3pPr marR="0" lvl="2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3pPr>
            <a:lvl4pPr marR="0" lvl="3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4pPr>
            <a:lvl5pPr marR="0" lvl="4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5pPr>
            <a:lvl6pPr marR="0" lvl="5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6pPr>
            <a:lvl7pPr marR="0" lvl="6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7pPr>
            <a:lvl8pPr marR="0" lvl="7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8pPr>
            <a:lvl9pPr marR="0" lvl="8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tabLst>
                <a:tab pos="904875" algn="l"/>
                <a:tab pos="1717675" algn="ctr"/>
              </a:tabLst>
              <a:defRPr sz="1400" b="0" i="0" u="none" strike="noStrike" cap="none">
                <a:solidFill>
                  <a:schemeClr val="tx1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defRPr>
            </a:lvl9pPr>
          </a:lstStyle>
          <a:p>
            <a:pPr algn="ctr">
              <a:buClrTx/>
              <a:buFontTx/>
              <a:buNone/>
            </a:pPr>
            <a:r>
              <a:rPr lang="es-ES" altLang="es-ES" sz="3600" b="1" dirty="0" bmk="">
                <a:latin typeface="+mn-lt"/>
                <a:ea typeface="Times New Roman" panose="02020603050405020304" pitchFamily="18" charset="0"/>
                <a:cs typeface="Arial" panose="020B0604020202020204" pitchFamily="34" charset="0"/>
              </a:rPr>
              <a:t>PROBLEMA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EF6508E-6C76-4833-916F-393C8DF9F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703" y="1619249"/>
            <a:ext cx="3474700" cy="4376319"/>
          </a:xfrm>
          <a:prstGeom prst="rect">
            <a:avLst/>
          </a:prstGeom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C3015D47-F627-4CA5-93D1-EBC4B4B54D08}"/>
              </a:ext>
            </a:extLst>
          </p:cNvPr>
          <p:cNvSpPr txBox="1">
            <a:spLocks/>
          </p:cNvSpPr>
          <p:nvPr/>
        </p:nvSpPr>
        <p:spPr>
          <a:xfrm>
            <a:off x="6276975" y="2262187"/>
            <a:ext cx="5048250" cy="233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E3075"/>
              </a:buClr>
              <a:buSzPts val="2800"/>
              <a:buFont typeface="Franklin Gothic"/>
              <a:buChar char="»"/>
              <a:defRPr sz="24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ranklin Gothic"/>
              <a:buChar char="•"/>
              <a:defRPr sz="2000" b="0" i="0" u="none" strike="noStrike" cap="none">
                <a:solidFill>
                  <a:srgbClr val="818990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Franklin Gothic"/>
              <a:buChar char="○"/>
              <a:defRPr sz="1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Franklin Gothic"/>
              <a:buChar char="•"/>
              <a:defRPr sz="1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ranklin Gothic"/>
              <a:buChar char="•"/>
              <a:defRPr sz="14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5pPr>
            <a:lvl6pPr marL="2743200" marR="0" lvl="5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Franklin Gothic"/>
              <a:buChar char="•"/>
              <a:defRPr sz="12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Franklin Gothic"/>
              <a:buChar char="•"/>
              <a:defRPr sz="10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7pPr>
            <a:lvl8pPr marL="3657600" marR="0" lvl="7" indent="-279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Franklin Gothic"/>
              <a:buChar char="•"/>
              <a:defRPr sz="8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8pPr>
            <a:lvl9pPr marL="4114800" marR="0" lvl="8" indent="-2667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600"/>
              <a:buFont typeface="Franklin Gothic"/>
              <a:buChar char="•"/>
              <a:defRPr sz="600" b="0" i="0" u="none" strike="noStrike" cap="none">
                <a:solidFill>
                  <a:schemeClr val="dk2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9pPr>
          </a:lstStyle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La Clínica Veterinaria Pucará opera con procesos manuales </a:t>
            </a: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endParaRPr lang="es-ES" sz="1600" dirty="0">
              <a:solidFill>
                <a:schemeClr val="tx1"/>
              </a:solidFill>
              <a:latin typeface="Arial" charset="0"/>
              <a:ea typeface="Arial" charset="0"/>
              <a:cs typeface="Arial" charset="0"/>
            </a:endParaRPr>
          </a:p>
          <a:p>
            <a:pPr marL="285750" indent="-285750">
              <a:buClrTx/>
              <a:buFont typeface="Courier New" panose="02070309020205020404" pitchFamily="49" charset="0"/>
              <a:buChar char="o"/>
            </a:pPr>
            <a:r>
              <a:rPr lang="es-ES" sz="160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La clínica requiere una plataforma digital adaptable y eficiente, una solución a medida.</a:t>
            </a: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285750" indent="-285750">
              <a:buFontTx/>
              <a:buChar char="-"/>
            </a:pPr>
            <a:endParaRPr lang="es-CL" sz="16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None/>
            </a:pPr>
            <a:endParaRPr lang="es-CL" sz="2200" dirty="0">
              <a:solidFill>
                <a:srgbClr val="002060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8444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24412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OBJETIVO GENERAL</a:t>
            </a:r>
            <a:endParaRPr lang="es-CL" b="1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890" y="2809875"/>
            <a:ext cx="5795436" cy="24642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Desarrollar un sistema web que centralice la información de pacientes, propietarios y atenciones, permitiendo gestión de agenda y generación automática de certificados.</a:t>
            </a:r>
            <a:endParaRPr lang="es-CL" dirty="0"/>
          </a:p>
        </p:txBody>
      </p:sp>
      <p:pic>
        <p:nvPicPr>
          <p:cNvPr id="1031" name="Picture 7" descr="Objetivo con icono de flecha Flecha golpeó el centro del objetivo | Vector  Premium">
            <a:extLst>
              <a:ext uri="{FF2B5EF4-FFF2-40B4-BE49-F238E27FC236}">
                <a16:creationId xmlns:a16="http://schemas.microsoft.com/office/drawing/2014/main" id="{EF01CDDE-575B-4F08-BED8-B05DB81F01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6484" y="2141679"/>
            <a:ext cx="3800626" cy="3800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795C7EFB-E4CB-48EB-AB50-B423C56AD9C8}"/>
              </a:ext>
            </a:extLst>
          </p:cNvPr>
          <p:cNvSpPr txBox="1"/>
          <p:nvPr/>
        </p:nvSpPr>
        <p:spPr>
          <a:xfrm>
            <a:off x="0" y="1066582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OBJETIVOS ESPECIFICOS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65A07205-B763-47DB-BA50-ADA1FF02535F}"/>
              </a:ext>
            </a:extLst>
          </p:cNvPr>
          <p:cNvSpPr/>
          <p:nvPr/>
        </p:nvSpPr>
        <p:spPr>
          <a:xfrm>
            <a:off x="6315075" y="2305050"/>
            <a:ext cx="5195729" cy="345757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Courier New" panose="02070309020205020404" pitchFamily="49" charset="0"/>
              <a:buChar char="o"/>
            </a:pPr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Implementar fichas clínicas digitales.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Crear módulo de agenda con horarios configurables.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Generar certificados, recetas y documentos automáticamente.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Validar el sistema con la clínica en entorno de prueba.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Capacitar al personal y entregar documentación completa</a:t>
            </a:r>
            <a:endParaRPr lang="es-CL" dirty="0"/>
          </a:p>
          <a:p>
            <a:pPr algn="ctr"/>
            <a:endParaRPr lang="es-CL" dirty="0"/>
          </a:p>
        </p:txBody>
      </p:sp>
      <p:pic>
        <p:nvPicPr>
          <p:cNvPr id="3074" name="Picture 2" descr="Objetivos específicos">
            <a:extLst>
              <a:ext uri="{FF2B5EF4-FFF2-40B4-BE49-F238E27FC236}">
                <a16:creationId xmlns:a16="http://schemas.microsoft.com/office/drawing/2014/main" id="{5FD8651C-1468-4D24-9D60-D2CF4934C3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200274"/>
            <a:ext cx="2290410" cy="2944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792671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0948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ALCANCES DEL PROYECTO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2756877-68C0-4FFC-BFEB-98515455B814}"/>
              </a:ext>
            </a:extLst>
          </p:cNvPr>
          <p:cNvSpPr txBox="1"/>
          <p:nvPr/>
        </p:nvSpPr>
        <p:spPr>
          <a:xfrm>
            <a:off x="1209673" y="3031194"/>
            <a:ext cx="50196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Registro de propietarios y pacientes.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Fichas clínicas digitales.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Agenda de citas.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Certificados y recetas médicas.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Usuarios y roles.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Arquitectura escalable.</a:t>
            </a:r>
          </a:p>
        </p:txBody>
      </p:sp>
      <p:pic>
        <p:nvPicPr>
          <p:cNvPr id="4098" name="Picture 2" descr="El alcance, su importancia y eficacia – deGerencia.com">
            <a:extLst>
              <a:ext uri="{FF2B5EF4-FFF2-40B4-BE49-F238E27FC236}">
                <a16:creationId xmlns:a16="http://schemas.microsoft.com/office/drawing/2014/main" id="{24B8933C-CEB3-429B-BCD9-17021E534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852" y="2372108"/>
            <a:ext cx="4800600" cy="3404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874572F5-FD66-4465-BDB4-B1E75B6EA1E3}"/>
              </a:ext>
            </a:extLst>
          </p:cNvPr>
          <p:cNvSpPr txBox="1"/>
          <p:nvPr/>
        </p:nvSpPr>
        <p:spPr>
          <a:xfrm>
            <a:off x="3048000" y="108215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3600" b="1" dirty="0"/>
              <a:t>LIMITACIONES DEL PROYECTO</a:t>
            </a:r>
            <a:endParaRPr lang="es-CL" sz="3600" b="1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69D44F2-9877-4237-844F-0871A9F150CB}"/>
              </a:ext>
            </a:extLst>
          </p:cNvPr>
          <p:cNvSpPr txBox="1"/>
          <p:nvPr/>
        </p:nvSpPr>
        <p:spPr>
          <a:xfrm>
            <a:off x="838199" y="2908460"/>
            <a:ext cx="66675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No incluye módulo de inventario médico.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No contempla integración con sistemas externos.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App móvil nativa fuera del alcance (solo responsive para clientes).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89CDA1C-C9A5-4AA1-AB33-8F2DE1483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879" y="1728490"/>
            <a:ext cx="2816371" cy="429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354337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DCAC5-CA26-DFF1-48AB-3D748AF23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AA39138-0A2B-3F73-8D11-B9940E55E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7FB3E2F-56B6-37A4-5A2F-EE2954751E42}"/>
              </a:ext>
            </a:extLst>
          </p:cNvPr>
          <p:cNvSpPr txBox="1"/>
          <p:nvPr/>
        </p:nvSpPr>
        <p:spPr>
          <a:xfrm>
            <a:off x="1" y="97046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 bmk="">
                <a:cs typeface="Arial" panose="020B0604020202020204" pitchFamily="34" charset="0"/>
              </a:rPr>
              <a:t>PROPUESTA DE SOLUCION</a:t>
            </a:r>
            <a:endParaRPr lang="es-CL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CF061DA-89D0-114A-05FF-9CF2C26A8C7E}"/>
              </a:ext>
            </a:extLst>
          </p:cNvPr>
          <p:cNvSpPr txBox="1"/>
          <p:nvPr/>
        </p:nvSpPr>
        <p:spPr>
          <a:xfrm>
            <a:off x="657073" y="1811338"/>
            <a:ext cx="3895877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s-ES" dirty="0"/>
              <a:t>Plataforma web que integra: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Gestión completa de pacientes y propietarios.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Registro de atenciones clínicas con historial.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Agenda online con disponibilidad en tiempo real.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Generación automática de certificados, recetas y presupuestos.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Roles: administrador, veterinario y usuario.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A4C115-C758-46BB-9DE4-A8AD06FDC9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826" y="2228849"/>
            <a:ext cx="6611732" cy="281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272095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4841-FA31-2D8C-DBF5-375861782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BAC45A0-B54D-A699-D7AD-0FC9218EA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5C143A6-90E7-2F59-4F1A-D7CAF3F96260}"/>
              </a:ext>
            </a:extLst>
          </p:cNvPr>
          <p:cNvSpPr txBox="1"/>
          <p:nvPr/>
        </p:nvSpPr>
        <p:spPr>
          <a:xfrm>
            <a:off x="0" y="1095490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METODOLOGIA</a:t>
            </a:r>
            <a:endParaRPr lang="es-CL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008634F-722A-7955-D7AD-FC944BC87CD6}"/>
              </a:ext>
            </a:extLst>
          </p:cNvPr>
          <p:cNvSpPr txBox="1"/>
          <p:nvPr/>
        </p:nvSpPr>
        <p:spPr>
          <a:xfrm>
            <a:off x="1266079" y="2659081"/>
            <a:ext cx="458194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SCRUM Adaptado</a:t>
            </a:r>
          </a:p>
          <a:p>
            <a:endParaRPr lang="es-ES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 err="1"/>
              <a:t>Sprints</a:t>
            </a:r>
            <a:r>
              <a:rPr lang="es-ES" dirty="0"/>
              <a:t> quincenales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Reuniones breves de avance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Roles definidos: PM y Dev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Entregables incrementales por sprint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s-ES" dirty="0"/>
              <a:t>Validación continua con la clienta</a:t>
            </a:r>
          </a:p>
        </p:txBody>
      </p:sp>
      <p:sp>
        <p:nvSpPr>
          <p:cNvPr id="12" name="Marcador de pie de página 11">
            <a:extLst>
              <a:ext uri="{FF2B5EF4-FFF2-40B4-BE49-F238E27FC236}">
                <a16:creationId xmlns:a16="http://schemas.microsoft.com/office/drawing/2014/main" id="{65C369E9-11B7-9782-F687-3A5442D08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pic>
        <p:nvPicPr>
          <p:cNvPr id="6148" name="Picture 4" descr="Agil Scrum Animaciones – Descarga Gratis en GIF, Lottie JSON">
            <a:extLst>
              <a:ext uri="{FF2B5EF4-FFF2-40B4-BE49-F238E27FC236}">
                <a16:creationId xmlns:a16="http://schemas.microsoft.com/office/drawing/2014/main" id="{41E428CB-8429-4BF3-9CD7-60AFD6EBD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075" y="2356864"/>
            <a:ext cx="3810000" cy="2931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601162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812078-C25D-46BC-AF5A-054C3E2E82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3253" y="5219606"/>
            <a:ext cx="2495549" cy="973231"/>
          </a:xfrm>
        </p:spPr>
        <p:txBody>
          <a:bodyPr>
            <a:normAutofit fontScale="55000" lnSpcReduction="20000"/>
          </a:bodyPr>
          <a:lstStyle/>
          <a:p>
            <a:pPr marL="0" indent="0" algn="ctr">
              <a:buNone/>
            </a:pPr>
            <a:r>
              <a:rPr lang="es-ES" sz="3100" b="1" dirty="0"/>
              <a:t>Mario Garrido</a:t>
            </a:r>
            <a:r>
              <a:rPr lang="es-ES" sz="3100" dirty="0"/>
              <a:t>  </a:t>
            </a:r>
          </a:p>
          <a:p>
            <a:pPr marL="0" indent="0">
              <a:buNone/>
            </a:pPr>
            <a:r>
              <a:rPr lang="es-ES" sz="3100" dirty="0"/>
              <a:t>Desarrollador principal, arquitectura, </a:t>
            </a:r>
            <a:r>
              <a:rPr lang="es-ES" sz="3100" dirty="0" err="1"/>
              <a:t>frontend</a:t>
            </a:r>
            <a:r>
              <a:rPr lang="es-ES" sz="3100" dirty="0"/>
              <a:t> y </a:t>
            </a:r>
            <a:r>
              <a:rPr lang="es-ES" sz="3100" dirty="0" err="1"/>
              <a:t>backend</a:t>
            </a:r>
            <a:r>
              <a:rPr lang="es-ES" sz="3100" dirty="0"/>
              <a:t>.</a:t>
            </a:r>
          </a:p>
          <a:p>
            <a:endParaRPr lang="es-CL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BBA38F8-0E2C-4DEC-96B7-1C6E18BB3BC9}"/>
              </a:ext>
            </a:extLst>
          </p:cNvPr>
          <p:cNvSpPr txBox="1"/>
          <p:nvPr/>
        </p:nvSpPr>
        <p:spPr>
          <a:xfrm>
            <a:off x="0" y="120235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NUESTRO EQUIPO</a:t>
            </a:r>
            <a:endParaRPr lang="es-CL" b="1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6FC36E27-8BC8-43B3-ACCE-6F533B8D2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61" y="2400300"/>
            <a:ext cx="2586351" cy="2659592"/>
          </a:xfrm>
          <a:prstGeom prst="rect">
            <a:avLst/>
          </a:prstGeom>
        </p:spPr>
      </p:pic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D6C87D63-2810-46DB-953D-5DED9864DCEA}"/>
              </a:ext>
            </a:extLst>
          </p:cNvPr>
          <p:cNvSpPr txBox="1">
            <a:spLocks/>
          </p:cNvSpPr>
          <p:nvPr/>
        </p:nvSpPr>
        <p:spPr>
          <a:xfrm>
            <a:off x="7200960" y="5219606"/>
            <a:ext cx="2586351" cy="8769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000" b="1" dirty="0"/>
              <a:t>Saúl Ávila</a:t>
            </a:r>
            <a:r>
              <a:rPr lang="es-ES" sz="2000" dirty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" sz="2000" dirty="0"/>
              <a:t> PM, documentación, toma de requerimientos, QA.</a:t>
            </a:r>
          </a:p>
          <a:p>
            <a:endParaRPr lang="es-CL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8520D23A-AF24-434D-9029-A6DF742C9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016" y="2253611"/>
            <a:ext cx="2800024" cy="280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24422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992902"/>
            <a:ext cx="1219199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3600" b="1" dirty="0"/>
              <a:t>CRONOGRAMA POR FASES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E69D9683-12DD-56AA-CB5F-A73503AAC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1298A6A-A476-416C-A859-4FEC15088D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58" y="2220021"/>
            <a:ext cx="11544300" cy="3161545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8C7866A9-C146-4AEA-B154-AD68B63390F8}"/>
              </a:ext>
            </a:extLst>
          </p:cNvPr>
          <p:cNvSpPr txBox="1"/>
          <p:nvPr/>
        </p:nvSpPr>
        <p:spPr>
          <a:xfrm>
            <a:off x="45408" y="5830373"/>
            <a:ext cx="12191999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2800" dirty="0"/>
              <a:t>FASES 1</a:t>
            </a:r>
          </a:p>
        </p:txBody>
      </p:sp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38F35A58-C0BA-4B8D-B78F-86A70EA4E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04" y="1924050"/>
            <a:ext cx="11364800" cy="3785136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B116A69E-E86A-4C2D-B761-1CC7FAF03E73}"/>
              </a:ext>
            </a:extLst>
          </p:cNvPr>
          <p:cNvSpPr txBox="1"/>
          <p:nvPr/>
        </p:nvSpPr>
        <p:spPr>
          <a:xfrm>
            <a:off x="45408" y="5830373"/>
            <a:ext cx="12191999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2800" dirty="0"/>
              <a:t>FASES 2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EF51E35-94E2-467B-A917-78B2E0EFF694}"/>
              </a:ext>
            </a:extLst>
          </p:cNvPr>
          <p:cNvSpPr txBox="1"/>
          <p:nvPr/>
        </p:nvSpPr>
        <p:spPr>
          <a:xfrm>
            <a:off x="1" y="992902"/>
            <a:ext cx="1219199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3600" b="1" dirty="0"/>
              <a:t>CRONOGRAMA POR FASES</a:t>
            </a:r>
          </a:p>
        </p:txBody>
      </p:sp>
    </p:spTree>
    <p:extLst>
      <p:ext uri="{BB962C8B-B14F-4D97-AF65-F5344CB8AC3E}">
        <p14:creationId xmlns:p14="http://schemas.microsoft.com/office/powerpoint/2010/main" val="1411492039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09CED64B-4161-40F0-8AFC-3C6BF4838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75" y="2167163"/>
            <a:ext cx="11296650" cy="2740911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D52ADE26-2965-4985-A614-62A63C83934A}"/>
              </a:ext>
            </a:extLst>
          </p:cNvPr>
          <p:cNvSpPr txBox="1"/>
          <p:nvPr/>
        </p:nvSpPr>
        <p:spPr>
          <a:xfrm>
            <a:off x="45408" y="5830373"/>
            <a:ext cx="12191999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2800" dirty="0"/>
              <a:t>FASES 3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55BF684-188B-4C9E-9F60-0502D61D7EA4}"/>
              </a:ext>
            </a:extLst>
          </p:cNvPr>
          <p:cNvSpPr txBox="1"/>
          <p:nvPr/>
        </p:nvSpPr>
        <p:spPr>
          <a:xfrm>
            <a:off x="1" y="992902"/>
            <a:ext cx="12191999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MX" sz="3600" b="1" dirty="0"/>
              <a:t>CRONOGRAMA POR FASES</a:t>
            </a:r>
          </a:p>
        </p:txBody>
      </p:sp>
    </p:spTree>
    <p:extLst>
      <p:ext uri="{BB962C8B-B14F-4D97-AF65-F5344CB8AC3E}">
        <p14:creationId xmlns:p14="http://schemas.microsoft.com/office/powerpoint/2010/main" val="1083638909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6A72F-3A41-8885-1F63-DB7E7A572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Arquitectura Cliente - Servidor Semana 4 by Julio Cesar Arenas Mejia on  Prezi Design">
            <a:extLst>
              <a:ext uri="{FF2B5EF4-FFF2-40B4-BE49-F238E27FC236}">
                <a16:creationId xmlns:a16="http://schemas.microsoft.com/office/drawing/2014/main" id="{BAC78224-9E63-4CBD-A71B-024448448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3240" y="2196520"/>
            <a:ext cx="4430318" cy="3538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2521CDE-6D7E-508B-B65E-B05F1B591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9A6F3AF-FE77-ACA5-0FFD-B0989DAA3CDC}"/>
              </a:ext>
            </a:extLst>
          </p:cNvPr>
          <p:cNvSpPr txBox="1"/>
          <p:nvPr/>
        </p:nvSpPr>
        <p:spPr>
          <a:xfrm>
            <a:off x="0" y="103773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ARQUITECTURA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0CC629C-17A1-8D46-EB93-4E4E8F525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9A595A1-5A09-4332-A532-88F49B80C002}"/>
              </a:ext>
            </a:extLst>
          </p:cNvPr>
          <p:cNvSpPr txBox="1"/>
          <p:nvPr/>
        </p:nvSpPr>
        <p:spPr>
          <a:xfrm>
            <a:off x="736350" y="2318738"/>
            <a:ext cx="71690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/>
              <a:t>Arquitectura del Sistema – Clínica Veterinaria Pucará</a:t>
            </a:r>
          </a:p>
          <a:p>
            <a:endParaRPr lang="es-CL" dirty="0"/>
          </a:p>
          <a:p>
            <a:r>
              <a:rPr lang="es-CL" dirty="0"/>
              <a:t>Arquitectura </a:t>
            </a:r>
            <a:r>
              <a:rPr lang="es-CL" b="1" dirty="0"/>
              <a:t>Cliente–Servidor</a:t>
            </a:r>
            <a:r>
              <a:rPr lang="es-CL" dirty="0"/>
              <a:t>.</a:t>
            </a:r>
          </a:p>
          <a:p>
            <a:r>
              <a:rPr lang="es-CL" b="1" dirty="0" err="1"/>
              <a:t>Frontend</a:t>
            </a:r>
            <a:r>
              <a:rPr lang="es-CL" b="1" dirty="0"/>
              <a:t> SPA</a:t>
            </a:r>
            <a:r>
              <a:rPr lang="es-CL" dirty="0"/>
              <a:t> con HTML, CSS, JS y Bootstrap.</a:t>
            </a:r>
          </a:p>
          <a:p>
            <a:r>
              <a:rPr lang="es-CL" dirty="0"/>
              <a:t>Carga dinámica de vistas (mascotas, propietarios, citas, registros, etc.).</a:t>
            </a:r>
          </a:p>
          <a:p>
            <a:r>
              <a:rPr lang="es-CL" b="1" dirty="0" err="1"/>
              <a:t>Backend</a:t>
            </a:r>
            <a:r>
              <a:rPr lang="es-CL" b="1" dirty="0"/>
              <a:t> API REST</a:t>
            </a:r>
            <a:r>
              <a:rPr lang="es-CL" dirty="0"/>
              <a:t> en Node.js + Express.</a:t>
            </a:r>
          </a:p>
          <a:p>
            <a:r>
              <a:rPr lang="es-CL" b="1" dirty="0"/>
              <a:t>Base de Datos MySQL</a:t>
            </a:r>
            <a:r>
              <a:rPr lang="es-CL" dirty="0"/>
              <a:t> con tablas para mascotas, propietarios, citas y registros clínicos.</a:t>
            </a:r>
          </a:p>
          <a:p>
            <a:r>
              <a:rPr lang="es-CL" dirty="0"/>
              <a:t>Autenticación mediante </a:t>
            </a:r>
            <a:r>
              <a:rPr lang="es-CL" b="1" dirty="0"/>
              <a:t>JWT</a:t>
            </a:r>
            <a:r>
              <a:rPr lang="es-CL" dirty="0"/>
              <a:t> y protección de rutas.</a:t>
            </a:r>
          </a:p>
          <a:p>
            <a:r>
              <a:rPr lang="es-CL" dirty="0"/>
              <a:t>Flujo general:</a:t>
            </a:r>
            <a:br>
              <a:rPr lang="es-CL" dirty="0"/>
            </a:br>
            <a:r>
              <a:rPr lang="es-CL" b="1" dirty="0"/>
              <a:t>Cliente Web → API REST → MySQL</a:t>
            </a:r>
            <a:r>
              <a:rPr lang="es-CL" dirty="0"/>
              <a:t>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721745747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Node Js Advantages And Disadvantages - Codetru">
            <a:extLst>
              <a:ext uri="{FF2B5EF4-FFF2-40B4-BE49-F238E27FC236}">
                <a16:creationId xmlns:a16="http://schemas.microsoft.com/office/drawing/2014/main" id="{A8760FD0-B247-4719-9035-39B6EEE6C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734" y="5247373"/>
            <a:ext cx="1121518" cy="1121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MySQL logo PNG transparent image download, size: 1280x1280px">
            <a:extLst>
              <a:ext uri="{FF2B5EF4-FFF2-40B4-BE49-F238E27FC236}">
                <a16:creationId xmlns:a16="http://schemas.microsoft.com/office/drawing/2014/main" id="{08093616-8FFE-4A77-937D-BD723A78E7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9544" y="5263754"/>
            <a:ext cx="1023700" cy="1023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8" name="Picture 10" descr="Html, Css And Javascript Logo - Html5 Css3 Js Logo Clipart - Large Size Png  Image - PikPng">
            <a:extLst>
              <a:ext uri="{FF2B5EF4-FFF2-40B4-BE49-F238E27FC236}">
                <a16:creationId xmlns:a16="http://schemas.microsoft.com/office/drawing/2014/main" id="{043F282F-F511-40B2-8015-90EFCEA80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4828" y="5165686"/>
            <a:ext cx="2879722" cy="1121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F122FE9D-5202-414B-9910-64E788014F7B}"/>
              </a:ext>
            </a:extLst>
          </p:cNvPr>
          <p:cNvSpPr txBox="1"/>
          <p:nvPr/>
        </p:nvSpPr>
        <p:spPr>
          <a:xfrm>
            <a:off x="1" y="1131430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TECNOLOGIAS UTILIZADAS</a:t>
            </a:r>
          </a:p>
        </p:txBody>
      </p:sp>
      <p:pic>
        <p:nvPicPr>
          <p:cNvPr id="7180" name="Picture 12" descr="Bootstrap Original Wordmark PNG Logo — Download Free Transparent Logo">
            <a:extLst>
              <a:ext uri="{FF2B5EF4-FFF2-40B4-BE49-F238E27FC236}">
                <a16:creationId xmlns:a16="http://schemas.microsoft.com/office/drawing/2014/main" id="{68E08E9C-85B7-4EB2-96CA-F7C00428F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8386" y="5410539"/>
            <a:ext cx="876915" cy="876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F319DAC-543E-7E99-F3C3-E75D1A77B437}"/>
              </a:ext>
            </a:extLst>
          </p:cNvPr>
          <p:cNvSpPr txBox="1"/>
          <p:nvPr/>
        </p:nvSpPr>
        <p:spPr>
          <a:xfrm>
            <a:off x="1438915" y="2470691"/>
            <a:ext cx="418698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 err="1"/>
              <a:t>Frontend</a:t>
            </a:r>
            <a:r>
              <a:rPr lang="es-CL" b="1" dirty="0"/>
              <a:t>:</a:t>
            </a:r>
            <a:endParaRPr lang="es-CL" dirty="0"/>
          </a:p>
          <a:p>
            <a:r>
              <a:rPr lang="es-CL" dirty="0"/>
              <a:t>HTML5, CSS3, JavaScript</a:t>
            </a:r>
          </a:p>
          <a:p>
            <a:r>
              <a:rPr lang="es-CL" dirty="0"/>
              <a:t>Bootstrap</a:t>
            </a:r>
          </a:p>
          <a:p>
            <a:r>
              <a:rPr lang="es-CL" dirty="0" err="1"/>
              <a:t>Fetch</a:t>
            </a:r>
            <a:r>
              <a:rPr lang="es-CL" dirty="0"/>
              <a:t> API</a:t>
            </a:r>
          </a:p>
          <a:p>
            <a:endParaRPr lang="es-CL" dirty="0"/>
          </a:p>
          <a:p>
            <a:r>
              <a:rPr lang="es-CL" b="1" dirty="0" err="1"/>
              <a:t>Backend</a:t>
            </a:r>
            <a:r>
              <a:rPr lang="es-CL" b="1" dirty="0"/>
              <a:t>:</a:t>
            </a:r>
            <a:endParaRPr lang="es-CL" dirty="0"/>
          </a:p>
          <a:p>
            <a:r>
              <a:rPr lang="es-CL" dirty="0"/>
              <a:t>Node.js</a:t>
            </a:r>
          </a:p>
          <a:p>
            <a:r>
              <a:rPr lang="es-CL" dirty="0"/>
              <a:t>Express.js</a:t>
            </a:r>
          </a:p>
          <a:p>
            <a:endParaRPr lang="es-CL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2D8261A-36A7-2E7A-39F0-FC6C9E9A2E36}"/>
              </a:ext>
            </a:extLst>
          </p:cNvPr>
          <p:cNvSpPr txBox="1"/>
          <p:nvPr/>
        </p:nvSpPr>
        <p:spPr>
          <a:xfrm>
            <a:off x="7006967" y="2470691"/>
            <a:ext cx="418698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/>
              <a:t>Base de Datos:</a:t>
            </a:r>
            <a:endParaRPr lang="es-CL" dirty="0"/>
          </a:p>
          <a:p>
            <a:r>
              <a:rPr lang="es-CL" dirty="0"/>
              <a:t>MySQL</a:t>
            </a:r>
          </a:p>
          <a:p>
            <a:endParaRPr lang="es-CL" dirty="0"/>
          </a:p>
          <a:p>
            <a:r>
              <a:rPr lang="es-CL" b="1" dirty="0"/>
              <a:t>Otros:</a:t>
            </a:r>
            <a:endParaRPr lang="es-CL" dirty="0"/>
          </a:p>
          <a:p>
            <a:r>
              <a:rPr lang="es-CL" dirty="0"/>
              <a:t>JSON Web Tokens (JWT)</a:t>
            </a:r>
          </a:p>
          <a:p>
            <a:r>
              <a:rPr lang="es-CL" dirty="0"/>
              <a:t>Manejo de archivos (fotos de mascotas)</a:t>
            </a:r>
          </a:p>
          <a:p>
            <a:r>
              <a:rPr lang="es-CL" dirty="0" err="1"/>
              <a:t>Router</a:t>
            </a:r>
            <a:r>
              <a:rPr lang="es-CL" dirty="0"/>
              <a:t> SPA para navegación interna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037670095"/>
      </p:ext>
    </p:extLst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0581B8B-36FF-4E74-B036-40DCA23A3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773" y="600226"/>
            <a:ext cx="9038852" cy="6220809"/>
          </a:xfrm>
          <a:prstGeom prst="rect">
            <a:avLst/>
          </a:prstGeom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3635168" y="207550"/>
            <a:ext cx="44401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MODELO DE DATOS</a:t>
            </a:r>
          </a:p>
        </p:txBody>
      </p: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4ED60-6D9C-9328-B742-A7D217313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0653CCC0-828C-D7F0-B514-4384DE9C9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3F859BD-0021-8FB6-3052-80BE144EA131}"/>
              </a:ext>
            </a:extLst>
          </p:cNvPr>
          <p:cNvSpPr txBox="1"/>
          <p:nvPr/>
        </p:nvSpPr>
        <p:spPr>
          <a:xfrm>
            <a:off x="0" y="110948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RESULTADOS DEL PROYECTO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A87F922-E7BE-7CC7-36D6-E6E51FE38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542CEE5-3559-6D33-F468-FADAFEDDA455}"/>
              </a:ext>
            </a:extLst>
          </p:cNvPr>
          <p:cNvSpPr txBox="1"/>
          <p:nvPr/>
        </p:nvSpPr>
        <p:spPr>
          <a:xfrm>
            <a:off x="576497" y="2332191"/>
            <a:ext cx="681490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Plataforma web completa para administración veterinaria.</a:t>
            </a:r>
          </a:p>
          <a:p>
            <a:r>
              <a:rPr lang="es-ES" dirty="0"/>
              <a:t>Módulos funcionales:</a:t>
            </a:r>
          </a:p>
          <a:p>
            <a:pPr lvl="1"/>
            <a:r>
              <a:rPr lang="es-ES" dirty="0"/>
              <a:t>Mascotas</a:t>
            </a:r>
          </a:p>
          <a:p>
            <a:pPr lvl="1"/>
            <a:r>
              <a:rPr lang="es-ES" dirty="0"/>
              <a:t>Propietarios</a:t>
            </a:r>
          </a:p>
          <a:p>
            <a:pPr lvl="1"/>
            <a:r>
              <a:rPr lang="es-ES" dirty="0"/>
              <a:t>Citas y Calendario</a:t>
            </a:r>
          </a:p>
          <a:p>
            <a:pPr lvl="1"/>
            <a:r>
              <a:rPr lang="es-ES" dirty="0"/>
              <a:t>Urgencias</a:t>
            </a:r>
          </a:p>
          <a:p>
            <a:pPr lvl="1"/>
            <a:r>
              <a:rPr lang="es-ES" dirty="0"/>
              <a:t>Registros clínicos (consulta, control, cirugía, vacunas, etc.)</a:t>
            </a:r>
          </a:p>
          <a:p>
            <a:pPr lvl="1"/>
            <a:r>
              <a:rPr lang="es-ES" dirty="0"/>
              <a:t>Histórico</a:t>
            </a:r>
          </a:p>
          <a:p>
            <a:r>
              <a:rPr lang="es-ES" dirty="0"/>
              <a:t>Sistema de </a:t>
            </a:r>
            <a:r>
              <a:rPr lang="es-ES" b="1" dirty="0" err="1"/>
              <a:t>login</a:t>
            </a:r>
            <a:r>
              <a:rPr lang="es-ES" b="1" dirty="0"/>
              <a:t>, registro y recuperación de contraseña</a:t>
            </a:r>
            <a:r>
              <a:rPr lang="es-ES" dirty="0"/>
              <a:t>.</a:t>
            </a:r>
          </a:p>
          <a:p>
            <a:r>
              <a:rPr lang="es-ES" dirty="0"/>
              <a:t>Interfaz moderna, rápida y fácil de usar.</a:t>
            </a:r>
          </a:p>
          <a:p>
            <a:r>
              <a:rPr lang="es-ES" dirty="0"/>
              <a:t>API REST modular y lista para escalar e integrar nuevas funciones (certificados, reportes, app móvil, etc.).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D470B07-D1C3-4408-B7A2-0A8163AC8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8930" y="2332191"/>
            <a:ext cx="1306294" cy="313932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A83DA683-7833-4B0F-B785-9E5E173250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0481" y="2332191"/>
            <a:ext cx="2973077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66948"/>
      </p:ext>
    </p:extLst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D84B45F-7E60-465C-B03D-B7B33A526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660" y="1612397"/>
            <a:ext cx="9972675" cy="4744433"/>
          </a:xfrm>
          <a:prstGeom prst="rect">
            <a:avLst/>
          </a:prstGeom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-1" y="82704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b="1" dirty="0"/>
              <a:t>DEMO</a:t>
            </a:r>
            <a:endParaRPr lang="es-CL" sz="2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37CAE2D1-98AA-DBD2-405C-B2665A255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40342-18FA-B98C-80A6-30D722009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0418AE1-A4AD-D529-EE1F-4C3BEB35F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98BDEDDB-F1AE-3849-D380-CFCCE6605F38}"/>
              </a:ext>
            </a:extLst>
          </p:cNvPr>
          <p:cNvSpPr txBox="1"/>
          <p:nvPr/>
        </p:nvSpPr>
        <p:spPr>
          <a:xfrm>
            <a:off x="1" y="992902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b="1" dirty="0"/>
              <a:t>CONCLUSION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C37B9F-2BAB-6CA1-E807-C5A9B54E915E}"/>
              </a:ext>
            </a:extLst>
          </p:cNvPr>
          <p:cNvSpPr txBox="1"/>
          <p:nvPr/>
        </p:nvSpPr>
        <p:spPr>
          <a:xfrm>
            <a:off x="2443162" y="2305615"/>
            <a:ext cx="730567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/>
              <a:t>El proyecto permitió desarrollar una solución funcional que optimiza la gestión de una clínica veterinaria mediante el uso de herramientas tecnológicas. </a:t>
            </a:r>
          </a:p>
          <a:p>
            <a:r>
              <a:rPr lang="es-ES" sz="2000" dirty="0"/>
              <a:t>Los resultados obtenidos evidencian que la implementación de sistemas informáticos mejora la organización, la eficiencia operativa y la toma de decisiones, demostrando el impacto positivo de la informática en entornos reales.</a:t>
            </a:r>
            <a:endParaRPr lang="es-ES_tradnl" sz="2000" dirty="0"/>
          </a:p>
        </p:txBody>
      </p:sp>
      <p:pic>
        <p:nvPicPr>
          <p:cNvPr id="2058" name="Picture 10" descr="Sello De Goma De La Conclusión Ilustración del Vector - Ilustración de  final, prueba: 102486827">
            <a:extLst>
              <a:ext uri="{FF2B5EF4-FFF2-40B4-BE49-F238E27FC236}">
                <a16:creationId xmlns:a16="http://schemas.microsoft.com/office/drawing/2014/main" id="{18310B83-E986-49A7-BB05-8B688854D4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0731" y="5095656"/>
            <a:ext cx="3033645" cy="152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2986154"/>
      </p:ext>
    </p:extLst>
  </p:cSld>
  <p:clrMapOvr>
    <a:masterClrMapping/>
  </p:clrMapOvr>
  <p:transition spd="slow">
    <p:wip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CF9B32-3FBA-404F-9773-6907F36F8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F3AF0A-7794-4F4B-B65A-2C49909B3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C6B8EE9-7C17-4939-BF8F-7FAB5715A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2075167656"/>
      </p:ext>
    </p:extLst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62C86-56A5-421A-49EC-B6FB58F15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0FC4DE63-D86C-37ED-A3B6-DAE1F68A2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45DB7E3-ACB5-93B9-ACEE-7C61701D3C76}"/>
              </a:ext>
            </a:extLst>
          </p:cNvPr>
          <p:cNvSpPr txBox="1"/>
          <p:nvPr/>
        </p:nvSpPr>
        <p:spPr>
          <a:xfrm>
            <a:off x="1" y="720918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Reflexión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7559269A-F4DB-9345-3EFF-727B0A302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F5151C0A-9B71-3768-11A0-0CF45CC2FA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16371828"/>
              </p:ext>
            </p:extLst>
          </p:nvPr>
        </p:nvGraphicFramePr>
        <p:xfrm>
          <a:off x="917424" y="1842643"/>
          <a:ext cx="10357152" cy="32657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B2FA0B7B-4A95-886E-1585-1702DCCCA1CF}"/>
              </a:ext>
            </a:extLst>
          </p:cNvPr>
          <p:cNvSpPr txBox="1"/>
          <p:nvPr/>
        </p:nvSpPr>
        <p:spPr>
          <a:xfrm>
            <a:off x="2958659" y="5213752"/>
            <a:ext cx="7534274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L" sz="5400" b="1">
                <a:solidFill>
                  <a:schemeClr val="accent6"/>
                </a:solidFill>
                <a:latin typeface="Dreaming Outloud Pro" panose="020F0502020204030204" pitchFamily="34" charset="0"/>
                <a:cs typeface="Dreaming Outloud Pro" panose="020F0502020204030204" pitchFamily="34" charset="0"/>
              </a:rPr>
              <a:t>Ejemplo de reflexión </a:t>
            </a:r>
          </a:p>
        </p:txBody>
      </p:sp>
    </p:spTree>
    <p:extLst>
      <p:ext uri="{BB962C8B-B14F-4D97-AF65-F5344CB8AC3E}">
        <p14:creationId xmlns:p14="http://schemas.microsoft.com/office/powerpoint/2010/main" val="3461351765"/>
      </p:ext>
    </p:extLst>
  </p:cSld>
  <p:clrMapOvr>
    <a:masterClrMapping/>
  </p:clrMapOvr>
  <p:transition spd="slow"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PREGUNTAS DE LA COMISIÓN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D0190D99-6462-D075-A029-8F6592FA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FB496-EC21-381C-224C-5030B8CD1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CC29CB3-921A-B5F0-802B-6DB646853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86F04551-2CD8-3F76-B777-C23B9F8DDD02}"/>
              </a:ext>
            </a:extLst>
          </p:cNvPr>
          <p:cNvSpPr txBox="1"/>
          <p:nvPr/>
        </p:nvSpPr>
        <p:spPr>
          <a:xfrm>
            <a:off x="0" y="3044279"/>
            <a:ext cx="12191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8800"/>
              <a:t>ANEXOS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643B80C5-0531-CD8B-2A76-001459CA4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5F1CE97-B9D5-0817-F62F-2E7596D7DF1F}"/>
              </a:ext>
            </a:extLst>
          </p:cNvPr>
          <p:cNvSpPr txBox="1"/>
          <p:nvPr/>
        </p:nvSpPr>
        <p:spPr>
          <a:xfrm>
            <a:off x="5156791" y="4805916"/>
            <a:ext cx="2959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/>
              <a:t>Opcionales a tu presentación </a:t>
            </a:r>
          </a:p>
        </p:txBody>
      </p:sp>
    </p:spTree>
    <p:extLst>
      <p:ext uri="{BB962C8B-B14F-4D97-AF65-F5344CB8AC3E}">
        <p14:creationId xmlns:p14="http://schemas.microsoft.com/office/powerpoint/2010/main" val="3997773879"/>
      </p:ext>
    </p:extLst>
  </p:cSld>
  <p:clrMapOvr>
    <a:masterClrMapping/>
  </p:clrMapOvr>
  <p:transition spd="slow">
    <p:wip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3850938" y="135056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DESCRIPCIÓN DEL PROYECTO</a:t>
            </a:r>
            <a:endParaRPr lang="es-CL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/>
              <a:t>Problema o dolor</a:t>
            </a:r>
          </a:p>
          <a:p>
            <a:pPr lvl="0" algn="ctr"/>
            <a:endParaRPr lang="es-MX" u="sng"/>
          </a:p>
          <a:p>
            <a:pPr algn="just"/>
            <a:r>
              <a:rPr lang="es-MX" sz="1800"/>
              <a:t>Descripción</a:t>
            </a:r>
            <a:endParaRPr lang="es-CL" sz="1800"/>
          </a:p>
          <a:p>
            <a:pPr lvl="0" algn="ctr"/>
            <a:endParaRPr lang="es-CL" sz="1800" u="sng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/>
              <a:t>Propuesta de solución</a:t>
            </a:r>
          </a:p>
          <a:p>
            <a:pPr lvl="0" algn="ctr"/>
            <a:endParaRPr lang="es-MX" u="sng"/>
          </a:p>
          <a:p>
            <a:pPr lvl="0" algn="just"/>
            <a:r>
              <a:rPr lang="es-MX"/>
              <a:t>Descripción</a:t>
            </a:r>
            <a:endParaRPr lang="es-CL" sz="180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09683936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INTEGRANTES DEL PROYECTO</a:t>
            </a:r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BAAE739-7F26-470E-607B-D260BEECA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95382" y="334066"/>
            <a:ext cx="4114800" cy="309965"/>
          </a:xfrm>
        </p:spPr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C5201-462F-BE9C-C8A6-612BB989A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2B44149-0F1E-FBF9-CCCA-8A40527CCC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4B9B3AA-EB95-89B7-1641-DDC8DC02DCF2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Artefactos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68D4821C-4DFA-6D0B-F32F-F20576EDD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1837487978"/>
      </p:ext>
    </p:extLst>
  </p:cSld>
  <p:clrMapOvr>
    <a:masterClrMapping/>
  </p:clrMapOvr>
  <p:transition spd="slow">
    <p:wip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ADF8E-6CAB-F2B0-1E58-26F84B4E5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BA191C2-7999-680E-17E9-E74660C0E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5D95F258-BD18-2A6F-264C-ED9454AD7C2E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Requerimientos 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3980DC77-AFE3-717C-3A11-192DF3FDB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3222620221"/>
      </p:ext>
    </p:extLst>
  </p:cSld>
  <p:clrMapOvr>
    <a:masterClrMapping/>
  </p:clrMapOvr>
  <p:transition spd="slow">
    <p:wip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Arquitectura  del software</a:t>
            </a:r>
          </a:p>
          <a:p>
            <a:pPr algn="ctr"/>
            <a:r>
              <a:rPr lang="es-MX" sz="2400">
                <a:solidFill>
                  <a:schemeClr val="bg2">
                    <a:lumMod val="50000"/>
                  </a:schemeClr>
                </a:solidFill>
              </a:rPr>
              <a:t>*Presentar esquema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400CE75E-604D-8CB8-975A-BDDE46573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D73E3C04-5D99-DE0C-43D0-B1A156116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4"/>
          <p:cNvSpPr txBox="1"/>
          <p:nvPr/>
        </p:nvSpPr>
        <p:spPr>
          <a:xfrm>
            <a:off x="3847521" y="3030942"/>
            <a:ext cx="8049408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PRIVACIDAD Y SEGURIDAD</a:t>
            </a:r>
          </a:p>
        </p:txBody>
      </p:sp>
    </p:spTree>
  </p:cSld>
  <p:clrMapOvr>
    <a:masterClrMapping/>
  </p:clrMapOvr>
  <p:transition spd="slow">
    <p:wip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080FE-5B36-27E7-66FF-917CF8293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84742654-C0DA-AEDE-9A35-74A12EF4FA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C8636DA-9441-117F-C062-E406B7FF00F8}"/>
              </a:ext>
            </a:extLst>
          </p:cNvPr>
          <p:cNvSpPr txBox="1"/>
          <p:nvPr/>
        </p:nvSpPr>
        <p:spPr>
          <a:xfrm>
            <a:off x="1809427" y="1825079"/>
            <a:ext cx="121919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799"/>
              </a:lnSpc>
            </a:pPr>
            <a:r>
              <a:rPr lang="en-US" sz="4400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INNOVACIÓN, </a:t>
            </a:r>
          </a:p>
          <a:p>
            <a:pPr>
              <a:lnSpc>
                <a:spcPts val="4799"/>
              </a:lnSpc>
            </a:pPr>
            <a:r>
              <a:rPr lang="en-US" sz="4400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FACTIBILIDAD Y VIABILIDAD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53B093F7-BB59-53A1-469D-8C7CE85A6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2335733073"/>
      </p:ext>
    </p:extLst>
  </p:cSld>
  <p:clrMapOvr>
    <a:masterClrMapping/>
  </p:clrMapOvr>
  <p:transition spd="slow">
    <p:wip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/>
              <a:t>Obstáculos presentados durante el desarrollo</a:t>
            </a: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2CFF888F-F7AD-B91E-00EE-7F90F19F8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E6FF-0E2F-3EBF-4EEB-8BEE5633F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C030713-5193-4193-6831-38D1064B4C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734F2E2-DF9C-43D5-BCDC-72EB6562D0FB}"/>
              </a:ext>
            </a:extLst>
          </p:cNvPr>
          <p:cNvSpPr txBox="1"/>
          <p:nvPr/>
        </p:nvSpPr>
        <p:spPr>
          <a:xfrm>
            <a:off x="1809427" y="1825079"/>
            <a:ext cx="121919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799"/>
              </a:lnSpc>
            </a:pPr>
            <a:r>
              <a:rPr lang="en-US" sz="4400" b="1">
                <a:solidFill>
                  <a:srgbClr val="252525"/>
                </a:solidFill>
                <a:latin typeface="Now Bold"/>
                <a:ea typeface="Now Bold"/>
                <a:cs typeface="Now Bold"/>
                <a:sym typeface="Now Bold"/>
              </a:rPr>
              <a:t>APORTES Y BENEFICIOS</a:t>
            </a:r>
          </a:p>
          <a:p>
            <a:pPr>
              <a:lnSpc>
                <a:spcPts val="4799"/>
              </a:lnSpc>
            </a:pPr>
            <a:endParaRPr lang="en-US" sz="4400" b="1">
              <a:solidFill>
                <a:srgbClr val="252525"/>
              </a:solidFill>
              <a:latin typeface="Now Bold"/>
              <a:ea typeface="Now Bold"/>
              <a:cs typeface="Now Bold"/>
              <a:sym typeface="Now Bold"/>
            </a:endParaRPr>
          </a:p>
        </p:txBody>
      </p:sp>
      <p:sp>
        <p:nvSpPr>
          <p:cNvPr id="2" name="Marcador de pie de página 1">
            <a:extLst>
              <a:ext uri="{FF2B5EF4-FFF2-40B4-BE49-F238E27FC236}">
                <a16:creationId xmlns:a16="http://schemas.microsoft.com/office/drawing/2014/main" id="{5DBFFA7E-C42A-9A48-F0A4-827762D57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CL"/>
              <a:t>PROYECTO “NOMBRE DEL PROYECTO”</a:t>
            </a:r>
          </a:p>
        </p:txBody>
      </p:sp>
    </p:spTree>
    <p:extLst>
      <p:ext uri="{BB962C8B-B14F-4D97-AF65-F5344CB8AC3E}">
        <p14:creationId xmlns:p14="http://schemas.microsoft.com/office/powerpoint/2010/main" val="315149576"/>
      </p:ext>
    </p:extLst>
  </p:cSld>
  <p:clrMapOvr>
    <a:masterClrMapping/>
  </p:clrMapOvr>
  <p:transition spd="slow">
    <p:wip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5FB51-F87D-FF3C-7385-348E847DA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7">
            <a:extLst>
              <a:ext uri="{FF2B5EF4-FFF2-40B4-BE49-F238E27FC236}">
                <a16:creationId xmlns:a16="http://schemas.microsoft.com/office/drawing/2014/main" id="{1E8D6BCD-4A94-5CB2-5AFA-6C51F754ADEA}"/>
              </a:ext>
            </a:extLst>
          </p:cNvPr>
          <p:cNvSpPr txBox="1"/>
          <p:nvPr/>
        </p:nvSpPr>
        <p:spPr>
          <a:xfrm>
            <a:off x="1102133" y="1066567"/>
            <a:ext cx="7425583" cy="646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4"/>
              </a:lnSpc>
            </a:pP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Modelo</a:t>
            </a:r>
            <a:r>
              <a:rPr lang="en-US" sz="3200" b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 de </a:t>
            </a: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Sustentabilidad</a:t>
            </a:r>
            <a:endParaRPr lang="en-US" sz="3200" b="1">
              <a:solidFill>
                <a:srgbClr val="001D54"/>
              </a:solidFill>
              <a:latin typeface="HK Grotesk Bold"/>
              <a:ea typeface="HK Grotesk Bold"/>
              <a:cs typeface="HK Grotesk Bold"/>
              <a:sym typeface="HK Grotesk Bol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2A1D4EE-9B33-CB12-C865-3CD610A40569}"/>
              </a:ext>
            </a:extLst>
          </p:cNvPr>
          <p:cNvSpPr txBox="1"/>
          <p:nvPr/>
        </p:nvSpPr>
        <p:spPr>
          <a:xfrm>
            <a:off x="609600" y="1803400"/>
            <a:ext cx="9550400" cy="2175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867" i="1" dirty="0">
                <a:solidFill>
                  <a:schemeClr val="bg1">
                    <a:lumMod val="65000"/>
                  </a:schemeClr>
                </a:solidFill>
              </a:rPr>
              <a:t>(Favor elimine este texto al desarrollar su presentación)</a:t>
            </a:r>
          </a:p>
          <a:p>
            <a:pPr algn="just"/>
            <a:endParaRPr lang="es-ES" sz="1667" dirty="0"/>
          </a:p>
          <a:p>
            <a:pPr algn="just"/>
            <a:r>
              <a:rPr lang="es-ES" sz="1667" b="1" u="sng" dirty="0"/>
              <a:t>NOTA: </a:t>
            </a:r>
            <a:r>
              <a:rPr lang="es-ES" sz="1667" dirty="0"/>
              <a:t>Explicar cómo el proyecto puede mantenerse en el tiempo. Ejemplos: continuidad en la empresa, apoyo institucional, comunidad activa, escalabilidad futura. El mensaje clave es demostrar que el proyecto no termina con el curso, sino que tiene proyección.</a:t>
            </a:r>
          </a:p>
          <a:p>
            <a:pPr algn="just"/>
            <a:br>
              <a:rPr lang="es-ES" sz="1667" dirty="0"/>
            </a:br>
            <a:br>
              <a:rPr lang="es-ES" sz="1667" dirty="0"/>
            </a:br>
            <a:r>
              <a:rPr lang="es-ES" sz="1667" b="1" dirty="0">
                <a:solidFill>
                  <a:srgbClr val="FF0000"/>
                </a:solidFill>
              </a:rPr>
              <a:t>DURACIÓN: 1 MINUTO</a:t>
            </a:r>
            <a:endParaRPr lang="es-ES" sz="1667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2478310"/>
      </p:ext>
    </p:extLst>
  </p:cSld>
  <p:clrMapOvr>
    <a:masterClrMapping/>
  </p:clrMapOvr>
  <p:transition spd="slow">
    <p:wip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68F8C-AE5E-A25B-04CC-CE079695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7">
            <a:extLst>
              <a:ext uri="{FF2B5EF4-FFF2-40B4-BE49-F238E27FC236}">
                <a16:creationId xmlns:a16="http://schemas.microsoft.com/office/drawing/2014/main" id="{B2E0E426-A6AD-3BB4-073B-1F0B53652C2A}"/>
              </a:ext>
            </a:extLst>
          </p:cNvPr>
          <p:cNvSpPr txBox="1"/>
          <p:nvPr/>
        </p:nvSpPr>
        <p:spPr>
          <a:xfrm>
            <a:off x="813375" y="934220"/>
            <a:ext cx="7425583" cy="646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94"/>
              </a:lnSpc>
            </a:pP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Modelo</a:t>
            </a:r>
            <a:r>
              <a:rPr lang="en-US" sz="3200" b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 de </a:t>
            </a:r>
            <a:r>
              <a:rPr lang="en-US" sz="3200" b="1" err="1">
                <a:solidFill>
                  <a:srgbClr val="001D54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Negocio</a:t>
            </a:r>
            <a:endParaRPr lang="en-US" sz="3200" b="1">
              <a:solidFill>
                <a:srgbClr val="001D54"/>
              </a:solidFill>
              <a:latin typeface="HK Grotesk Bold"/>
              <a:ea typeface="HK Grotesk Bold"/>
              <a:cs typeface="HK Grotesk Bold"/>
              <a:sym typeface="HK Grotesk Bol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A5B5B13-1E2B-36B3-B3BE-1D06D44E017D}"/>
              </a:ext>
            </a:extLst>
          </p:cNvPr>
          <p:cNvSpPr txBox="1"/>
          <p:nvPr/>
        </p:nvSpPr>
        <p:spPr>
          <a:xfrm>
            <a:off x="609600" y="1803400"/>
            <a:ext cx="9550400" cy="1918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867" i="1">
                <a:solidFill>
                  <a:schemeClr val="bg1">
                    <a:lumMod val="65000"/>
                  </a:schemeClr>
                </a:solidFill>
              </a:rPr>
              <a:t>(Favor elimine este texto al desarrollar su presentación)</a:t>
            </a:r>
          </a:p>
          <a:p>
            <a:pPr algn="just"/>
            <a:endParaRPr lang="es-ES" sz="1667"/>
          </a:p>
          <a:p>
            <a:pPr algn="just"/>
            <a:r>
              <a:rPr lang="es-ES" sz="1667" b="1" u="sng"/>
              <a:t>NOTA: </a:t>
            </a:r>
            <a:r>
              <a:rPr lang="es-ES" sz="1667"/>
              <a:t>Responder de manera simple:¿Qué es el proyecto y cómo se diferencia?¿Para quién está hecho?¿Cómo entrega valor?¿Qué costos/ahorros/generación de valor produce? Puede apoyarse en un mini esquema de modelo </a:t>
            </a:r>
            <a:r>
              <a:rPr lang="es-ES" sz="1667" err="1"/>
              <a:t>Canvas</a:t>
            </a:r>
            <a:r>
              <a:rPr lang="es-ES" sz="1667"/>
              <a:t> simplificado.</a:t>
            </a:r>
          </a:p>
          <a:p>
            <a:pPr algn="just"/>
            <a:endParaRPr lang="es-ES" sz="1667" i="1"/>
          </a:p>
          <a:p>
            <a:pPr algn="just"/>
            <a:r>
              <a:rPr lang="es-ES" sz="1667" b="1">
                <a:solidFill>
                  <a:srgbClr val="FF0000"/>
                </a:solidFill>
              </a:rPr>
              <a:t>DURACIÓN: 1 MINUTO APROX.</a:t>
            </a:r>
            <a:endParaRPr lang="es-ES" sz="1667" i="1"/>
          </a:p>
        </p:txBody>
      </p:sp>
    </p:spTree>
    <p:extLst>
      <p:ext uri="{BB962C8B-B14F-4D97-AF65-F5344CB8AC3E}">
        <p14:creationId xmlns:p14="http://schemas.microsoft.com/office/powerpoint/2010/main" val="3712313757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207de38-6240-49aa-a18d-3d687e12b195">
      <Terms xmlns="http://schemas.microsoft.com/office/infopath/2007/PartnerControls"/>
    </lcf76f155ced4ddcb4097134ff3c332f>
    <TaxCatchAll xmlns="76d44502-01ec-4767-9a78-33267ae0588f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5ED6F46882F47419E8EA90B7B52D56C" ma:contentTypeVersion="11" ma:contentTypeDescription="Crear nuevo documento." ma:contentTypeScope="" ma:versionID="10e1f1c393bdce134fa782f550805e9d">
  <xsd:schema xmlns:xsd="http://www.w3.org/2001/XMLSchema" xmlns:xs="http://www.w3.org/2001/XMLSchema" xmlns:p="http://schemas.microsoft.com/office/2006/metadata/properties" xmlns:ns2="e207de38-6240-49aa-a18d-3d687e12b195" xmlns:ns3="76d44502-01ec-4767-9a78-33267ae0588f" targetNamespace="http://schemas.microsoft.com/office/2006/metadata/properties" ma:root="true" ma:fieldsID="27d443b6348fe2c3196b54c0d2566859" ns2:_="" ns3:_="">
    <xsd:import namespace="e207de38-6240-49aa-a18d-3d687e12b195"/>
    <xsd:import namespace="76d44502-01ec-4767-9a78-33267ae058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07de38-6240-49aa-a18d-3d687e12b1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e2f773bf-f00b-42a6-8b07-050935be226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d44502-01ec-4767-9a78-33267ae0588f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add5ee15-c2f8-4f17-94c5-c09ac0bfc6ae}" ma:internalName="TaxCatchAll" ma:showField="CatchAllData" ma:web="76d44502-01ec-4767-9a78-33267ae0588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3B41038-42F1-4CC4-8B79-6C70AEFF24AE}">
  <ds:schemaRefs>
    <ds:schemaRef ds:uri="76d44502-01ec-4767-9a78-33267ae0588f"/>
    <ds:schemaRef ds:uri="e207de38-6240-49aa-a18d-3d687e12b1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C77C354-8890-401F-947C-9D07AC3CA284}">
  <ds:schemaRefs>
    <ds:schemaRef ds:uri="76d44502-01ec-4767-9a78-33267ae0588f"/>
    <ds:schemaRef ds:uri="e207de38-6240-49aa-a18d-3d687e12b19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374F7F8-6426-4C14-8F30-DE1C9808906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7769</TotalTime>
  <Words>1239</Words>
  <Application>Microsoft Office PowerPoint</Application>
  <PresentationFormat>Panorámica</PresentationFormat>
  <Paragraphs>215</Paragraphs>
  <Slides>35</Slides>
  <Notes>8</Notes>
  <HiddenSlides>3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45" baseType="lpstr">
      <vt:lpstr>Aptos</vt:lpstr>
      <vt:lpstr>Arial</vt:lpstr>
      <vt:lpstr>Calibri</vt:lpstr>
      <vt:lpstr>Calibri Light</vt:lpstr>
      <vt:lpstr>Courier New</vt:lpstr>
      <vt:lpstr>Dreaming Outloud Pro</vt:lpstr>
      <vt:lpstr>Franklin Gothic</vt:lpstr>
      <vt:lpstr>HK Grotesk Bold</vt:lpstr>
      <vt:lpstr>Now Bold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SAUL ELIAS AVILA BUSTOS</cp:lastModifiedBy>
  <cp:revision>40</cp:revision>
  <dcterms:created xsi:type="dcterms:W3CDTF">2023-10-28T21:12:11Z</dcterms:created>
  <dcterms:modified xsi:type="dcterms:W3CDTF">2025-11-28T01:46:04Z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0x01010015ED6F46882F47419E8EA90B7B52D56C</vt:lpwstr>
  </property>
  <property fmtid="{D5CDD505-2E9C-101B-9397-08002B2CF9AE}" pid="3" name="MediaServiceImageTags">
    <vt:lpwstr/>
  </property>
</Properties>
</file>