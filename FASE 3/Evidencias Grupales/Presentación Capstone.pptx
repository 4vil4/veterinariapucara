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9"/>
  </p:notesMasterIdLst>
  <p:handoutMasterIdLst>
    <p:handoutMasterId r:id="rId40"/>
  </p:handoutMasterIdLst>
  <p:sldIdLst>
    <p:sldId id="256" r:id="rId5"/>
    <p:sldId id="275" r:id="rId6"/>
    <p:sldId id="284" r:id="rId7"/>
    <p:sldId id="259" r:id="rId8"/>
    <p:sldId id="300" r:id="rId9"/>
    <p:sldId id="264" r:id="rId10"/>
    <p:sldId id="301" r:id="rId11"/>
    <p:sldId id="285" r:id="rId12"/>
    <p:sldId id="274" r:id="rId13"/>
    <p:sldId id="296" r:id="rId14"/>
    <p:sldId id="262" r:id="rId15"/>
    <p:sldId id="298" r:id="rId16"/>
    <p:sldId id="299" r:id="rId17"/>
    <p:sldId id="271" r:id="rId18"/>
    <p:sldId id="302" r:id="rId19"/>
    <p:sldId id="269" r:id="rId20"/>
    <p:sldId id="287" r:id="rId21"/>
    <p:sldId id="265" r:id="rId22"/>
    <p:sldId id="272" r:id="rId23"/>
    <p:sldId id="286" r:id="rId24"/>
    <p:sldId id="266" r:id="rId25"/>
    <p:sldId id="273" r:id="rId26"/>
    <p:sldId id="258" r:id="rId27"/>
    <p:sldId id="257" r:id="rId28"/>
    <p:sldId id="290" r:id="rId29"/>
    <p:sldId id="292" r:id="rId30"/>
    <p:sldId id="263" r:id="rId31"/>
    <p:sldId id="270" r:id="rId32"/>
    <p:sldId id="295" r:id="rId33"/>
    <p:sldId id="293" r:id="rId34"/>
    <p:sldId id="268" r:id="rId35"/>
    <p:sldId id="294" r:id="rId36"/>
    <p:sldId id="288" r:id="rId37"/>
    <p:sldId id="289" r:id="rId38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36B55979-CF57-3E4D-B517-0841900D9CDF}">
          <p14:sldIdLst>
            <p14:sldId id="256"/>
            <p14:sldId id="275"/>
            <p14:sldId id="284"/>
            <p14:sldId id="259"/>
            <p14:sldId id="300"/>
          </p14:sldIdLst>
        </p14:section>
        <p14:section name="desarrollo" id="{8242B7A4-26DC-8048-89F6-D0AEF6F5371E}">
          <p14:sldIdLst>
            <p14:sldId id="264"/>
            <p14:sldId id="301"/>
            <p14:sldId id="285"/>
            <p14:sldId id="274"/>
            <p14:sldId id="296"/>
            <p14:sldId id="262"/>
            <p14:sldId id="298"/>
            <p14:sldId id="299"/>
            <p14:sldId id="271"/>
            <p14:sldId id="302"/>
            <p14:sldId id="269"/>
            <p14:sldId id="287"/>
            <p14:sldId id="265"/>
            <p14:sldId id="272"/>
            <p14:sldId id="286"/>
            <p14:sldId id="266"/>
          </p14:sldIdLst>
        </p14:section>
        <p14:section name="ANEXOS" id="{DC46E236-4478-564C-BCE6-36C35994FA64}">
          <p14:sldIdLst>
            <p14:sldId id="273"/>
            <p14:sldId id="258"/>
            <p14:sldId id="257"/>
            <p14:sldId id="290"/>
            <p14:sldId id="292"/>
            <p14:sldId id="263"/>
            <p14:sldId id="270"/>
            <p14:sldId id="295"/>
            <p14:sldId id="293"/>
            <p14:sldId id="268"/>
            <p14:sldId id="294"/>
            <p14:sldId id="288"/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EBDC7D-B7BE-B1B6-B301-3FAC13B50B97}" v="5" dt="2025-11-20T16:56:31.320"/>
    <p1510:client id="{76C132C2-4A4B-C84F-ACCD-FA09FF25DE39}" v="140" dt="2025-11-20T14:04:46.460"/>
    <p1510:client id="{C31CEDCA-9DE2-51B0-3DC4-0D86A756AB22}" v="60" dt="2025-11-20T14:01:58.3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32" y="16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handoutMaster" Target="handoutMasters/handoutMaster1.xml"/><Relationship Id="rId45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7B54ACC-63ED-4C8B-8A42-E7A22D90B735}" type="doc">
      <dgm:prSet loTypeId="urn:microsoft.com/office/officeart/2005/8/layout/matrix1" loCatId="matrix" qsTypeId="urn:microsoft.com/office/officeart/2005/8/quickstyle/simple5" qsCatId="simple" csTypeId="urn:microsoft.com/office/officeart/2005/8/colors/accent4_1" csCatId="accent4" phldr="1"/>
      <dgm:spPr/>
      <dgm:t>
        <a:bodyPr/>
        <a:lstStyle/>
        <a:p>
          <a:endParaRPr lang="es-CL"/>
        </a:p>
      </dgm:t>
    </dgm:pt>
    <dgm:pt modelId="{64A71EB7-05C4-4257-B513-C28144809A88}">
      <dgm:prSet phldrT="[Texto]"/>
      <dgm:spPr/>
      <dgm:t>
        <a:bodyPr/>
        <a:lstStyle/>
        <a:p>
          <a:r>
            <a:rPr lang="es-MX"/>
            <a:t>Reflexión</a:t>
          </a:r>
          <a:endParaRPr lang="es-CL"/>
        </a:p>
      </dgm:t>
    </dgm:pt>
    <dgm:pt modelId="{935CF139-4C8C-4E2B-8C03-F8016F075A83}" type="parTrans" cxnId="{9FAABE60-BB36-4E0B-A930-C57DD87B9621}">
      <dgm:prSet/>
      <dgm:spPr/>
      <dgm:t>
        <a:bodyPr/>
        <a:lstStyle/>
        <a:p>
          <a:endParaRPr lang="es-CL"/>
        </a:p>
      </dgm:t>
    </dgm:pt>
    <dgm:pt modelId="{331F9D6C-2B70-4C82-A496-1CFA3CC51BA3}" type="sibTrans" cxnId="{9FAABE60-BB36-4E0B-A930-C57DD87B9621}">
      <dgm:prSet/>
      <dgm:spPr/>
      <dgm:t>
        <a:bodyPr/>
        <a:lstStyle/>
        <a:p>
          <a:endParaRPr lang="es-CL"/>
        </a:p>
      </dgm:t>
    </dgm:pt>
    <dgm:pt modelId="{180B22DA-23BB-45ED-B3BA-39C050E7C5B8}">
      <dgm:prSet phldrT="[Texto]"/>
      <dgm:spPr/>
      <dgm:t>
        <a:bodyPr/>
        <a:lstStyle/>
        <a:p>
          <a:endParaRPr lang="es-MX"/>
        </a:p>
        <a:p>
          <a:r>
            <a:rPr lang="es-MX"/>
            <a:t>Perfil de egreso</a:t>
          </a:r>
          <a:endParaRPr lang="es-CL"/>
        </a:p>
      </dgm:t>
    </dgm:pt>
    <dgm:pt modelId="{5C566016-6C78-45D6-9BD7-BDC9B91425BC}" type="parTrans" cxnId="{54732974-5831-4AD3-BB6F-7244695E504C}">
      <dgm:prSet/>
      <dgm:spPr/>
      <dgm:t>
        <a:bodyPr/>
        <a:lstStyle/>
        <a:p>
          <a:endParaRPr lang="es-CL"/>
        </a:p>
      </dgm:t>
    </dgm:pt>
    <dgm:pt modelId="{52D71F07-F1B5-4D81-BD15-040C2133A2B4}" type="sibTrans" cxnId="{54732974-5831-4AD3-BB6F-7244695E504C}">
      <dgm:prSet/>
      <dgm:spPr/>
      <dgm:t>
        <a:bodyPr/>
        <a:lstStyle/>
        <a:p>
          <a:endParaRPr lang="es-CL"/>
        </a:p>
      </dgm:t>
    </dgm:pt>
    <dgm:pt modelId="{F938E01E-485D-4964-AE2B-8AF942F52E7E}">
      <dgm:prSet phldrT="[Texto]"/>
      <dgm:spPr/>
      <dgm:t>
        <a:bodyPr/>
        <a:lstStyle/>
        <a:p>
          <a:endParaRPr lang="es-MX"/>
        </a:p>
        <a:p>
          <a:r>
            <a:rPr lang="es-MX"/>
            <a:t>Intereses profesionales</a:t>
          </a:r>
          <a:endParaRPr lang="es-CL"/>
        </a:p>
      </dgm:t>
    </dgm:pt>
    <dgm:pt modelId="{92E2C396-EA3B-45D5-912B-0FC8DD253705}" type="parTrans" cxnId="{94F18576-9AF0-4AE9-9856-AB3741B65547}">
      <dgm:prSet/>
      <dgm:spPr/>
      <dgm:t>
        <a:bodyPr/>
        <a:lstStyle/>
        <a:p>
          <a:endParaRPr lang="es-CL"/>
        </a:p>
      </dgm:t>
    </dgm:pt>
    <dgm:pt modelId="{B1BD42C3-F89F-4FC7-A8D2-B9306D355A95}" type="sibTrans" cxnId="{94F18576-9AF0-4AE9-9856-AB3741B65547}">
      <dgm:prSet/>
      <dgm:spPr/>
      <dgm:t>
        <a:bodyPr/>
        <a:lstStyle/>
        <a:p>
          <a:endParaRPr lang="es-CL"/>
        </a:p>
      </dgm:t>
    </dgm:pt>
    <dgm:pt modelId="{50ACE60B-271C-4118-8A98-E90E9586C32B}">
      <dgm:prSet phldrT="[Texto]"/>
      <dgm:spPr/>
      <dgm:t>
        <a:bodyPr/>
        <a:lstStyle/>
        <a:p>
          <a:r>
            <a:rPr lang="es-MX"/>
            <a:t>Obstaculos</a:t>
          </a:r>
          <a:endParaRPr lang="es-CL"/>
        </a:p>
      </dgm:t>
    </dgm:pt>
    <dgm:pt modelId="{3CF17C39-9E83-4A36-972A-4F2B871CEDB7}" type="parTrans" cxnId="{368FF900-CC18-4D1E-ADAA-5D0E640F03F1}">
      <dgm:prSet/>
      <dgm:spPr/>
      <dgm:t>
        <a:bodyPr/>
        <a:lstStyle/>
        <a:p>
          <a:endParaRPr lang="es-CL"/>
        </a:p>
      </dgm:t>
    </dgm:pt>
    <dgm:pt modelId="{70ECD15C-56AD-4B1A-A711-F22D6133A77D}" type="sibTrans" cxnId="{368FF900-CC18-4D1E-ADAA-5D0E640F03F1}">
      <dgm:prSet/>
      <dgm:spPr/>
      <dgm:t>
        <a:bodyPr/>
        <a:lstStyle/>
        <a:p>
          <a:endParaRPr lang="es-CL"/>
        </a:p>
      </dgm:t>
    </dgm:pt>
    <dgm:pt modelId="{66D702FB-C595-4DB7-B195-60676278E74F}">
      <dgm:prSet phldrT="[Texto]"/>
      <dgm:spPr/>
      <dgm:t>
        <a:bodyPr/>
        <a:lstStyle/>
        <a:p>
          <a:r>
            <a:rPr lang="es-CL"/>
            <a:t>Aporte</a:t>
          </a:r>
        </a:p>
      </dgm:t>
    </dgm:pt>
    <dgm:pt modelId="{A0A2D367-05FB-4FE5-B8DC-DAA8E8E5DC8E}" type="parTrans" cxnId="{E583E093-5568-4529-9239-56206D27B5DD}">
      <dgm:prSet/>
      <dgm:spPr/>
      <dgm:t>
        <a:bodyPr/>
        <a:lstStyle/>
        <a:p>
          <a:endParaRPr lang="es-CL"/>
        </a:p>
      </dgm:t>
    </dgm:pt>
    <dgm:pt modelId="{7453FE22-4A20-40A6-8E31-C20CB7CF03EC}" type="sibTrans" cxnId="{E583E093-5568-4529-9239-56206D27B5DD}">
      <dgm:prSet/>
      <dgm:spPr/>
      <dgm:t>
        <a:bodyPr/>
        <a:lstStyle/>
        <a:p>
          <a:endParaRPr lang="es-CL"/>
        </a:p>
      </dgm:t>
    </dgm:pt>
    <dgm:pt modelId="{F8BFA88C-EB97-4D5B-A365-3D283091DC9B}" type="pres">
      <dgm:prSet presAssocID="{47B54ACC-63ED-4C8B-8A42-E7A22D90B735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866BEAF0-491F-479F-BE20-9F095984C7E6}" type="pres">
      <dgm:prSet presAssocID="{47B54ACC-63ED-4C8B-8A42-E7A22D90B735}" presName="matrix" presStyleCnt="0"/>
      <dgm:spPr/>
    </dgm:pt>
    <dgm:pt modelId="{DE36B29D-D076-484B-923B-2F25F5C41A0D}" type="pres">
      <dgm:prSet presAssocID="{47B54ACC-63ED-4C8B-8A42-E7A22D90B735}" presName="tile1" presStyleLbl="node1" presStyleIdx="0" presStyleCnt="4"/>
      <dgm:spPr/>
    </dgm:pt>
    <dgm:pt modelId="{205093CC-B178-45FD-B4C6-5C5848D64481}" type="pres">
      <dgm:prSet presAssocID="{47B54ACC-63ED-4C8B-8A42-E7A22D90B735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B3A897D-ED97-4543-BEFE-4B541983D385}" type="pres">
      <dgm:prSet presAssocID="{47B54ACC-63ED-4C8B-8A42-E7A22D90B735}" presName="tile2" presStyleLbl="node1" presStyleIdx="1" presStyleCnt="4"/>
      <dgm:spPr/>
    </dgm:pt>
    <dgm:pt modelId="{43C62A58-FC08-4B23-B420-34A58762BF6D}" type="pres">
      <dgm:prSet presAssocID="{47B54ACC-63ED-4C8B-8A42-E7A22D90B735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8B84C268-7B46-47A4-BCBA-96C88B8AE19B}" type="pres">
      <dgm:prSet presAssocID="{47B54ACC-63ED-4C8B-8A42-E7A22D90B735}" presName="tile3" presStyleLbl="node1" presStyleIdx="2" presStyleCnt="4"/>
      <dgm:spPr/>
    </dgm:pt>
    <dgm:pt modelId="{3D5938AE-3D17-4BC1-AAC0-B59A08F5F9EC}" type="pres">
      <dgm:prSet presAssocID="{47B54ACC-63ED-4C8B-8A42-E7A22D90B735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1FED504-BFF7-48F3-A789-DD1AF0C2F6B3}" type="pres">
      <dgm:prSet presAssocID="{47B54ACC-63ED-4C8B-8A42-E7A22D90B735}" presName="tile4" presStyleLbl="node1" presStyleIdx="3" presStyleCnt="4"/>
      <dgm:spPr/>
    </dgm:pt>
    <dgm:pt modelId="{96A2B153-B3E0-4BBA-B94A-519E9E83A984}" type="pres">
      <dgm:prSet presAssocID="{47B54ACC-63ED-4C8B-8A42-E7A22D90B735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D9FEFA5E-B963-48BC-A740-F15483409A6D}" type="pres">
      <dgm:prSet presAssocID="{47B54ACC-63ED-4C8B-8A42-E7A22D90B735}" presName="centerTile" presStyleLbl="fgShp" presStyleIdx="0" presStyleCnt="1">
        <dgm:presLayoutVars>
          <dgm:chMax val="0"/>
          <dgm:chPref val="0"/>
        </dgm:presLayoutVars>
      </dgm:prSet>
      <dgm:spPr/>
    </dgm:pt>
  </dgm:ptLst>
  <dgm:cxnLst>
    <dgm:cxn modelId="{368FF900-CC18-4D1E-ADAA-5D0E640F03F1}" srcId="{64A71EB7-05C4-4257-B513-C28144809A88}" destId="{50ACE60B-271C-4118-8A98-E90E9586C32B}" srcOrd="2" destOrd="0" parTransId="{3CF17C39-9E83-4A36-972A-4F2B871CEDB7}" sibTransId="{70ECD15C-56AD-4B1A-A711-F22D6133A77D}"/>
    <dgm:cxn modelId="{69FA5526-6C56-4A4D-9C83-C2F043480D0E}" type="presOf" srcId="{F938E01E-485D-4964-AE2B-8AF942F52E7E}" destId="{AB3A897D-ED97-4543-BEFE-4B541983D385}" srcOrd="0" destOrd="0" presId="urn:microsoft.com/office/officeart/2005/8/layout/matrix1"/>
    <dgm:cxn modelId="{3D260436-9776-49D7-AD0A-703BCBE33B09}" type="presOf" srcId="{66D702FB-C595-4DB7-B195-60676278E74F}" destId="{96A2B153-B3E0-4BBA-B94A-519E9E83A984}" srcOrd="1" destOrd="0" presId="urn:microsoft.com/office/officeart/2005/8/layout/matrix1"/>
    <dgm:cxn modelId="{9FAABE60-BB36-4E0B-A930-C57DD87B9621}" srcId="{47B54ACC-63ED-4C8B-8A42-E7A22D90B735}" destId="{64A71EB7-05C4-4257-B513-C28144809A88}" srcOrd="0" destOrd="0" parTransId="{935CF139-4C8C-4E2B-8C03-F8016F075A83}" sibTransId="{331F9D6C-2B70-4C82-A496-1CFA3CC51BA3}"/>
    <dgm:cxn modelId="{2370F164-74CC-46DB-9A78-256D667A7B27}" type="presOf" srcId="{F938E01E-485D-4964-AE2B-8AF942F52E7E}" destId="{43C62A58-FC08-4B23-B420-34A58762BF6D}" srcOrd="1" destOrd="0" presId="urn:microsoft.com/office/officeart/2005/8/layout/matrix1"/>
    <dgm:cxn modelId="{54732974-5831-4AD3-BB6F-7244695E504C}" srcId="{64A71EB7-05C4-4257-B513-C28144809A88}" destId="{180B22DA-23BB-45ED-B3BA-39C050E7C5B8}" srcOrd="0" destOrd="0" parTransId="{5C566016-6C78-45D6-9BD7-BDC9B91425BC}" sibTransId="{52D71F07-F1B5-4D81-BD15-040C2133A2B4}"/>
    <dgm:cxn modelId="{94F18576-9AF0-4AE9-9856-AB3741B65547}" srcId="{64A71EB7-05C4-4257-B513-C28144809A88}" destId="{F938E01E-485D-4964-AE2B-8AF942F52E7E}" srcOrd="1" destOrd="0" parTransId="{92E2C396-EA3B-45D5-912B-0FC8DD253705}" sibTransId="{B1BD42C3-F89F-4FC7-A8D2-B9306D355A95}"/>
    <dgm:cxn modelId="{40358588-4BA9-4C4F-9124-9D7770B03C11}" type="presOf" srcId="{180B22DA-23BB-45ED-B3BA-39C050E7C5B8}" destId="{205093CC-B178-45FD-B4C6-5C5848D64481}" srcOrd="1" destOrd="0" presId="urn:microsoft.com/office/officeart/2005/8/layout/matrix1"/>
    <dgm:cxn modelId="{E583E093-5568-4529-9239-56206D27B5DD}" srcId="{64A71EB7-05C4-4257-B513-C28144809A88}" destId="{66D702FB-C595-4DB7-B195-60676278E74F}" srcOrd="3" destOrd="0" parTransId="{A0A2D367-05FB-4FE5-B8DC-DAA8E8E5DC8E}" sibTransId="{7453FE22-4A20-40A6-8E31-C20CB7CF03EC}"/>
    <dgm:cxn modelId="{08AAB999-AB07-4101-A976-59DBFA686AC1}" type="presOf" srcId="{64A71EB7-05C4-4257-B513-C28144809A88}" destId="{D9FEFA5E-B963-48BC-A740-F15483409A6D}" srcOrd="0" destOrd="0" presId="urn:microsoft.com/office/officeart/2005/8/layout/matrix1"/>
    <dgm:cxn modelId="{BBD6F3BB-ACDF-4434-865B-B68781D2DA84}" type="presOf" srcId="{66D702FB-C595-4DB7-B195-60676278E74F}" destId="{41FED504-BFF7-48F3-A789-DD1AF0C2F6B3}" srcOrd="0" destOrd="0" presId="urn:microsoft.com/office/officeart/2005/8/layout/matrix1"/>
    <dgm:cxn modelId="{894BECC9-E6BC-4369-8B64-85FEFC8AA2B9}" type="presOf" srcId="{50ACE60B-271C-4118-8A98-E90E9586C32B}" destId="{3D5938AE-3D17-4BC1-AAC0-B59A08F5F9EC}" srcOrd="1" destOrd="0" presId="urn:microsoft.com/office/officeart/2005/8/layout/matrix1"/>
    <dgm:cxn modelId="{6066DDDB-0C66-4AA3-8D0E-0C2372A40A1D}" type="presOf" srcId="{47B54ACC-63ED-4C8B-8A42-E7A22D90B735}" destId="{F8BFA88C-EB97-4D5B-A365-3D283091DC9B}" srcOrd="0" destOrd="0" presId="urn:microsoft.com/office/officeart/2005/8/layout/matrix1"/>
    <dgm:cxn modelId="{AD5314DC-3927-4711-B644-F2691E978DB8}" type="presOf" srcId="{180B22DA-23BB-45ED-B3BA-39C050E7C5B8}" destId="{DE36B29D-D076-484B-923B-2F25F5C41A0D}" srcOrd="0" destOrd="0" presId="urn:microsoft.com/office/officeart/2005/8/layout/matrix1"/>
    <dgm:cxn modelId="{12EA96F1-7BEA-4183-B48E-141F74CB71CF}" type="presOf" srcId="{50ACE60B-271C-4118-8A98-E90E9586C32B}" destId="{8B84C268-7B46-47A4-BCBA-96C88B8AE19B}" srcOrd="0" destOrd="0" presId="urn:microsoft.com/office/officeart/2005/8/layout/matrix1"/>
    <dgm:cxn modelId="{12E3A6DC-99A5-4B39-B335-E64EAAB0F3A4}" type="presParOf" srcId="{F8BFA88C-EB97-4D5B-A365-3D283091DC9B}" destId="{866BEAF0-491F-479F-BE20-9F095984C7E6}" srcOrd="0" destOrd="0" presId="urn:microsoft.com/office/officeart/2005/8/layout/matrix1"/>
    <dgm:cxn modelId="{BB484E46-5D96-4A58-8759-359FCEE66B9E}" type="presParOf" srcId="{866BEAF0-491F-479F-BE20-9F095984C7E6}" destId="{DE36B29D-D076-484B-923B-2F25F5C41A0D}" srcOrd="0" destOrd="0" presId="urn:microsoft.com/office/officeart/2005/8/layout/matrix1"/>
    <dgm:cxn modelId="{DFCEB985-B747-4BE2-B1FD-4BE71A9BA8BD}" type="presParOf" srcId="{866BEAF0-491F-479F-BE20-9F095984C7E6}" destId="{205093CC-B178-45FD-B4C6-5C5848D64481}" srcOrd="1" destOrd="0" presId="urn:microsoft.com/office/officeart/2005/8/layout/matrix1"/>
    <dgm:cxn modelId="{430FD9B8-5AFA-42DA-A06D-2D2A3B49C470}" type="presParOf" srcId="{866BEAF0-491F-479F-BE20-9F095984C7E6}" destId="{AB3A897D-ED97-4543-BEFE-4B541983D385}" srcOrd="2" destOrd="0" presId="urn:microsoft.com/office/officeart/2005/8/layout/matrix1"/>
    <dgm:cxn modelId="{6C35AFA4-C75F-4D92-A1CE-D4BE23B219D5}" type="presParOf" srcId="{866BEAF0-491F-479F-BE20-9F095984C7E6}" destId="{43C62A58-FC08-4B23-B420-34A58762BF6D}" srcOrd="3" destOrd="0" presId="urn:microsoft.com/office/officeart/2005/8/layout/matrix1"/>
    <dgm:cxn modelId="{4445D9F1-1A80-46D1-AE88-8A49D01D3246}" type="presParOf" srcId="{866BEAF0-491F-479F-BE20-9F095984C7E6}" destId="{8B84C268-7B46-47A4-BCBA-96C88B8AE19B}" srcOrd="4" destOrd="0" presId="urn:microsoft.com/office/officeart/2005/8/layout/matrix1"/>
    <dgm:cxn modelId="{ADF377BC-37C2-469F-A51E-BB316AED09C7}" type="presParOf" srcId="{866BEAF0-491F-479F-BE20-9F095984C7E6}" destId="{3D5938AE-3D17-4BC1-AAC0-B59A08F5F9EC}" srcOrd="5" destOrd="0" presId="urn:microsoft.com/office/officeart/2005/8/layout/matrix1"/>
    <dgm:cxn modelId="{FDE57B06-7C0D-4A15-B3D3-C854DFA2A2E8}" type="presParOf" srcId="{866BEAF0-491F-479F-BE20-9F095984C7E6}" destId="{41FED504-BFF7-48F3-A789-DD1AF0C2F6B3}" srcOrd="6" destOrd="0" presId="urn:microsoft.com/office/officeart/2005/8/layout/matrix1"/>
    <dgm:cxn modelId="{5ACB1EC9-389C-43CC-A921-52E6D1CF7205}" type="presParOf" srcId="{866BEAF0-491F-479F-BE20-9F095984C7E6}" destId="{96A2B153-B3E0-4BBA-B94A-519E9E83A984}" srcOrd="7" destOrd="0" presId="urn:microsoft.com/office/officeart/2005/8/layout/matrix1"/>
    <dgm:cxn modelId="{43D50B30-66D7-455A-8FA6-9EAD2C36B089}" type="presParOf" srcId="{F8BFA88C-EB97-4D5B-A365-3D283091DC9B}" destId="{D9FEFA5E-B963-48BC-A740-F15483409A6D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E45140C-C326-4DAA-A267-498AD5117D68}" type="doc">
      <dgm:prSet loTypeId="urn:microsoft.com/office/officeart/2005/8/layout/vList4" loCatId="picture" qsTypeId="urn:microsoft.com/office/officeart/2005/8/quickstyle/simple5" qsCatId="simple" csTypeId="urn:microsoft.com/office/officeart/2005/8/colors/accent5_2" csCatId="accent5" phldr="1"/>
      <dgm:spPr/>
      <dgm:t>
        <a:bodyPr/>
        <a:lstStyle/>
        <a:p>
          <a:endParaRPr lang="es-CL"/>
        </a:p>
      </dgm:t>
    </dgm:pt>
    <dgm:pt modelId="{78BFB295-8F5D-4286-B72B-79142F8F0E13}">
      <dgm:prSet phldrT="[Texto]"/>
      <dgm:spPr/>
      <dgm:t>
        <a:bodyPr/>
        <a:lstStyle/>
        <a:p>
          <a:r>
            <a:rPr lang="es-MX"/>
            <a:t>Nombre de estudiante</a:t>
          </a:r>
          <a:endParaRPr lang="es-CL"/>
        </a:p>
      </dgm:t>
    </dgm:pt>
    <dgm:pt modelId="{F1885FAB-61EC-4F80-98D0-72360031AF9F}" type="parTrans" cxnId="{2AD07198-D472-4B98-B6D5-5A730374E9A2}">
      <dgm:prSet/>
      <dgm:spPr/>
      <dgm:t>
        <a:bodyPr/>
        <a:lstStyle/>
        <a:p>
          <a:endParaRPr lang="es-CL"/>
        </a:p>
      </dgm:t>
    </dgm:pt>
    <dgm:pt modelId="{E88D0928-51D4-4670-8963-60ABBB193E13}" type="sibTrans" cxnId="{2AD07198-D472-4B98-B6D5-5A730374E9A2}">
      <dgm:prSet/>
      <dgm:spPr/>
      <dgm:t>
        <a:bodyPr/>
        <a:lstStyle/>
        <a:p>
          <a:endParaRPr lang="es-CL"/>
        </a:p>
      </dgm:t>
    </dgm:pt>
    <dgm:pt modelId="{D868444B-AE34-4422-A6A5-1F7D392D0C20}">
      <dgm:prSet phldrT="[Texto]"/>
      <dgm:spPr/>
      <dgm:t>
        <a:bodyPr/>
        <a:lstStyle/>
        <a:p>
          <a:r>
            <a:rPr lang="es-MX"/>
            <a:t>Cargo</a:t>
          </a:r>
          <a:endParaRPr lang="es-CL"/>
        </a:p>
      </dgm:t>
    </dgm:pt>
    <dgm:pt modelId="{7DB88D83-6C3A-48C1-8CAD-0D11C3BEC35C}" type="parTrans" cxnId="{484B8A37-0122-4FF5-93D2-4A15DF521A17}">
      <dgm:prSet/>
      <dgm:spPr/>
      <dgm:t>
        <a:bodyPr/>
        <a:lstStyle/>
        <a:p>
          <a:endParaRPr lang="es-CL"/>
        </a:p>
      </dgm:t>
    </dgm:pt>
    <dgm:pt modelId="{74B9B1A5-94EB-40A9-BFF2-678501068FB8}" type="sibTrans" cxnId="{484B8A37-0122-4FF5-93D2-4A15DF521A17}">
      <dgm:prSet/>
      <dgm:spPr/>
      <dgm:t>
        <a:bodyPr/>
        <a:lstStyle/>
        <a:p>
          <a:endParaRPr lang="es-CL"/>
        </a:p>
      </dgm:t>
    </dgm:pt>
    <dgm:pt modelId="{02A34BC0-F8BA-4A89-87A4-4F20079DFD06}">
      <dgm:prSet phldrT="[Texto]"/>
      <dgm:spPr/>
      <dgm:t>
        <a:bodyPr/>
        <a:lstStyle/>
        <a:p>
          <a:r>
            <a:rPr lang="es-MX"/>
            <a:t>Nombre de estudiante</a:t>
          </a:r>
          <a:endParaRPr lang="es-CL"/>
        </a:p>
      </dgm:t>
    </dgm:pt>
    <dgm:pt modelId="{9ADB496F-2DB6-4F16-8C91-2EB9CDF5F2F2}" type="parTrans" cxnId="{0E2AE979-A66C-4CEC-BFF4-5B28BB7CD9EA}">
      <dgm:prSet/>
      <dgm:spPr/>
      <dgm:t>
        <a:bodyPr/>
        <a:lstStyle/>
        <a:p>
          <a:endParaRPr lang="es-CL"/>
        </a:p>
      </dgm:t>
    </dgm:pt>
    <dgm:pt modelId="{44AB630E-CD8B-4223-9F51-5EEE4E054B0A}" type="sibTrans" cxnId="{0E2AE979-A66C-4CEC-BFF4-5B28BB7CD9EA}">
      <dgm:prSet/>
      <dgm:spPr/>
      <dgm:t>
        <a:bodyPr/>
        <a:lstStyle/>
        <a:p>
          <a:endParaRPr lang="es-CL"/>
        </a:p>
      </dgm:t>
    </dgm:pt>
    <dgm:pt modelId="{99FF0D0F-282A-4030-9AF5-3B7621881539}">
      <dgm:prSet phldrT="[Texto]"/>
      <dgm:spPr/>
      <dgm:t>
        <a:bodyPr/>
        <a:lstStyle/>
        <a:p>
          <a:r>
            <a:rPr lang="es-MX"/>
            <a:t>Nombre de estudiante</a:t>
          </a:r>
          <a:endParaRPr lang="es-CL"/>
        </a:p>
      </dgm:t>
    </dgm:pt>
    <dgm:pt modelId="{A86F315C-C500-49D7-B443-1D58BD48589A}" type="parTrans" cxnId="{4FE7AF63-70AC-4ED4-8BFB-DCB2408F3318}">
      <dgm:prSet/>
      <dgm:spPr/>
      <dgm:t>
        <a:bodyPr/>
        <a:lstStyle/>
        <a:p>
          <a:endParaRPr lang="es-CL"/>
        </a:p>
      </dgm:t>
    </dgm:pt>
    <dgm:pt modelId="{1CCC8D2D-CD28-4814-B055-28ABD65CA276}" type="sibTrans" cxnId="{4FE7AF63-70AC-4ED4-8BFB-DCB2408F3318}">
      <dgm:prSet/>
      <dgm:spPr/>
      <dgm:t>
        <a:bodyPr/>
        <a:lstStyle/>
        <a:p>
          <a:endParaRPr lang="es-CL"/>
        </a:p>
      </dgm:t>
    </dgm:pt>
    <dgm:pt modelId="{2E221207-005F-49CB-81E1-6D036D64322B}">
      <dgm:prSet phldrT="[Texto]"/>
      <dgm:spPr/>
      <dgm:t>
        <a:bodyPr/>
        <a:lstStyle/>
        <a:p>
          <a:r>
            <a:rPr lang="es-MX"/>
            <a:t>Funciones desempeñadas</a:t>
          </a:r>
          <a:endParaRPr lang="es-CL"/>
        </a:p>
      </dgm:t>
    </dgm:pt>
    <dgm:pt modelId="{3728DB5E-E904-481D-A1E5-49CF4AFFC0D3}" type="sibTrans" cxnId="{1C3272C9-C630-4D60-B76B-138907BB4D41}">
      <dgm:prSet/>
      <dgm:spPr/>
      <dgm:t>
        <a:bodyPr/>
        <a:lstStyle/>
        <a:p>
          <a:endParaRPr lang="es-CL"/>
        </a:p>
      </dgm:t>
    </dgm:pt>
    <dgm:pt modelId="{B200B6AA-AA2A-4CB8-80FF-4BB54938E8A5}" type="parTrans" cxnId="{1C3272C9-C630-4D60-B76B-138907BB4D41}">
      <dgm:prSet/>
      <dgm:spPr/>
      <dgm:t>
        <a:bodyPr/>
        <a:lstStyle/>
        <a:p>
          <a:endParaRPr lang="es-CL"/>
        </a:p>
      </dgm:t>
    </dgm:pt>
    <dgm:pt modelId="{A2BD12B5-7AB5-4859-B57E-1E77C0ED35DF}">
      <dgm:prSet phldrT="[Texto]"/>
      <dgm:spPr/>
      <dgm:t>
        <a:bodyPr/>
        <a:lstStyle/>
        <a:p>
          <a:r>
            <a:rPr lang="es-MX"/>
            <a:t>Cargo</a:t>
          </a:r>
          <a:endParaRPr lang="es-CL"/>
        </a:p>
      </dgm:t>
    </dgm:pt>
    <dgm:pt modelId="{35EEEEB1-B116-40C6-8142-8F938AF38B0B}" type="sibTrans" cxnId="{D5771F2D-99A4-4884-A896-FA1E2DEFDD88}">
      <dgm:prSet/>
      <dgm:spPr/>
      <dgm:t>
        <a:bodyPr/>
        <a:lstStyle/>
        <a:p>
          <a:endParaRPr lang="es-CL"/>
        </a:p>
      </dgm:t>
    </dgm:pt>
    <dgm:pt modelId="{AC7F7F07-A811-4CCD-BBFE-DAA4D1F5EE40}" type="parTrans" cxnId="{D5771F2D-99A4-4884-A896-FA1E2DEFDD88}">
      <dgm:prSet/>
      <dgm:spPr/>
      <dgm:t>
        <a:bodyPr/>
        <a:lstStyle/>
        <a:p>
          <a:endParaRPr lang="es-CL"/>
        </a:p>
      </dgm:t>
    </dgm:pt>
    <dgm:pt modelId="{D546635F-000B-49DF-BB26-293CCA777400}">
      <dgm:prSet phldrT="[Texto]"/>
      <dgm:spPr/>
      <dgm:t>
        <a:bodyPr/>
        <a:lstStyle/>
        <a:p>
          <a:r>
            <a:rPr lang="es-MX"/>
            <a:t>Funciones desempeñadas</a:t>
          </a:r>
          <a:endParaRPr lang="es-CL"/>
        </a:p>
      </dgm:t>
    </dgm:pt>
    <dgm:pt modelId="{B01A0825-9EDF-4B9A-B345-1B486D914AD4}" type="sibTrans" cxnId="{AC0A7FF3-EEC4-470A-823E-BF7AF1556A99}">
      <dgm:prSet/>
      <dgm:spPr/>
      <dgm:t>
        <a:bodyPr/>
        <a:lstStyle/>
        <a:p>
          <a:endParaRPr lang="es-CL"/>
        </a:p>
      </dgm:t>
    </dgm:pt>
    <dgm:pt modelId="{5437D343-BECF-4620-B6C7-7088D8BBD91B}" type="parTrans" cxnId="{AC0A7FF3-EEC4-470A-823E-BF7AF1556A99}">
      <dgm:prSet/>
      <dgm:spPr/>
      <dgm:t>
        <a:bodyPr/>
        <a:lstStyle/>
        <a:p>
          <a:endParaRPr lang="es-CL"/>
        </a:p>
      </dgm:t>
    </dgm:pt>
    <dgm:pt modelId="{EA3B2395-55AF-495E-9D6B-329D2886612F}">
      <dgm:prSet phldrT="[Texto]"/>
      <dgm:spPr/>
      <dgm:t>
        <a:bodyPr/>
        <a:lstStyle/>
        <a:p>
          <a:r>
            <a:rPr lang="es-MX"/>
            <a:t>Cargo</a:t>
          </a:r>
          <a:endParaRPr lang="es-CL"/>
        </a:p>
      </dgm:t>
    </dgm:pt>
    <dgm:pt modelId="{11A4E056-7834-4F82-8A9C-B8EA31F159E3}" type="sibTrans" cxnId="{778F2DBC-81F3-476D-BD99-784E4F7153C8}">
      <dgm:prSet/>
      <dgm:spPr/>
      <dgm:t>
        <a:bodyPr/>
        <a:lstStyle/>
        <a:p>
          <a:endParaRPr lang="es-CL"/>
        </a:p>
      </dgm:t>
    </dgm:pt>
    <dgm:pt modelId="{01DA10B6-3F7A-4C8A-AACD-F605EE6CCF20}" type="parTrans" cxnId="{778F2DBC-81F3-476D-BD99-784E4F7153C8}">
      <dgm:prSet/>
      <dgm:spPr/>
      <dgm:t>
        <a:bodyPr/>
        <a:lstStyle/>
        <a:p>
          <a:endParaRPr lang="es-CL"/>
        </a:p>
      </dgm:t>
    </dgm:pt>
    <dgm:pt modelId="{55A2A9EB-4C26-43C3-B721-D475B10BC39B}">
      <dgm:prSet phldrT="[Texto]"/>
      <dgm:spPr/>
      <dgm:t>
        <a:bodyPr/>
        <a:lstStyle/>
        <a:p>
          <a:r>
            <a:rPr lang="es-MX"/>
            <a:t>Funciones desempeñadas</a:t>
          </a:r>
          <a:endParaRPr lang="es-CL"/>
        </a:p>
      </dgm:t>
    </dgm:pt>
    <dgm:pt modelId="{4EF4588A-187C-4393-9DFC-C6D80B20E995}" type="sibTrans" cxnId="{ECED70CB-7A25-48F8-9E03-51596FB1E92C}">
      <dgm:prSet/>
      <dgm:spPr/>
      <dgm:t>
        <a:bodyPr/>
        <a:lstStyle/>
        <a:p>
          <a:endParaRPr lang="es-CL"/>
        </a:p>
      </dgm:t>
    </dgm:pt>
    <dgm:pt modelId="{B8424EB2-FFE7-4867-9D5A-EE0D46E8AAFE}" type="parTrans" cxnId="{ECED70CB-7A25-48F8-9E03-51596FB1E92C}">
      <dgm:prSet/>
      <dgm:spPr/>
      <dgm:t>
        <a:bodyPr/>
        <a:lstStyle/>
        <a:p>
          <a:endParaRPr lang="es-CL"/>
        </a:p>
      </dgm:t>
    </dgm:pt>
    <dgm:pt modelId="{6E1E561E-88C1-49C6-A3F7-DE4B9AD43273}" type="pres">
      <dgm:prSet presAssocID="{BE45140C-C326-4DAA-A267-498AD5117D68}" presName="linear" presStyleCnt="0">
        <dgm:presLayoutVars>
          <dgm:dir/>
          <dgm:resizeHandles val="exact"/>
        </dgm:presLayoutVars>
      </dgm:prSet>
      <dgm:spPr/>
    </dgm:pt>
    <dgm:pt modelId="{F70979D0-5925-4EC3-AD84-986E0EC7B0D8}" type="pres">
      <dgm:prSet presAssocID="{78BFB295-8F5D-4286-B72B-79142F8F0E13}" presName="comp" presStyleCnt="0"/>
      <dgm:spPr/>
    </dgm:pt>
    <dgm:pt modelId="{54FC4CB6-0791-48D3-B2C5-2E99B8AFCFF7}" type="pres">
      <dgm:prSet presAssocID="{78BFB295-8F5D-4286-B72B-79142F8F0E13}" presName="box" presStyleLbl="node1" presStyleIdx="0" presStyleCnt="3" custLinFactNeighborX="5318" custLinFactNeighborY="-12417"/>
      <dgm:spPr/>
    </dgm:pt>
    <dgm:pt modelId="{9A7E2690-DE9C-4572-9BE5-B8C9A3B8BBB3}" type="pres">
      <dgm:prSet presAssocID="{78BFB295-8F5D-4286-B72B-79142F8F0E13}" presName="img" presStyleLbl="fgImgPlace1" presStyleIdx="0" presStyleCnt="3"/>
      <dgm:spPr/>
    </dgm:pt>
    <dgm:pt modelId="{52D125D2-FCA7-4A2D-AB39-B6BD54F251F2}" type="pres">
      <dgm:prSet presAssocID="{78BFB295-8F5D-4286-B72B-79142F8F0E13}" presName="text" presStyleLbl="node1" presStyleIdx="0" presStyleCnt="3">
        <dgm:presLayoutVars>
          <dgm:bulletEnabled val="1"/>
        </dgm:presLayoutVars>
      </dgm:prSet>
      <dgm:spPr/>
    </dgm:pt>
    <dgm:pt modelId="{E95CA29D-745B-40BA-93B6-BB607C99A2CE}" type="pres">
      <dgm:prSet presAssocID="{E88D0928-51D4-4670-8963-60ABBB193E13}" presName="spacer" presStyleCnt="0"/>
      <dgm:spPr/>
    </dgm:pt>
    <dgm:pt modelId="{41A67AC8-1DD7-4AB7-96A3-87B24035E3FA}" type="pres">
      <dgm:prSet presAssocID="{02A34BC0-F8BA-4A89-87A4-4F20079DFD06}" presName="comp" presStyleCnt="0"/>
      <dgm:spPr/>
    </dgm:pt>
    <dgm:pt modelId="{39AFE128-ACF6-44CA-B18B-64F5782CF210}" type="pres">
      <dgm:prSet presAssocID="{02A34BC0-F8BA-4A89-87A4-4F20079DFD06}" presName="box" presStyleLbl="node1" presStyleIdx="1" presStyleCnt="3"/>
      <dgm:spPr/>
    </dgm:pt>
    <dgm:pt modelId="{3F97C059-D720-4D48-953F-B84D04D0BF79}" type="pres">
      <dgm:prSet presAssocID="{02A34BC0-F8BA-4A89-87A4-4F20079DFD06}" presName="img" presStyleLbl="fgImgPlace1" presStyleIdx="1" presStyleCnt="3"/>
      <dgm:spPr/>
    </dgm:pt>
    <dgm:pt modelId="{CFFDF23F-D296-4CDF-8EE4-8A672559E207}" type="pres">
      <dgm:prSet presAssocID="{02A34BC0-F8BA-4A89-87A4-4F20079DFD06}" presName="text" presStyleLbl="node1" presStyleIdx="1" presStyleCnt="3">
        <dgm:presLayoutVars>
          <dgm:bulletEnabled val="1"/>
        </dgm:presLayoutVars>
      </dgm:prSet>
      <dgm:spPr/>
    </dgm:pt>
    <dgm:pt modelId="{40453781-DACE-4118-ADC4-2B966E9374E5}" type="pres">
      <dgm:prSet presAssocID="{44AB630E-CD8B-4223-9F51-5EEE4E054B0A}" presName="spacer" presStyleCnt="0"/>
      <dgm:spPr/>
    </dgm:pt>
    <dgm:pt modelId="{536722F8-2BA5-41A1-87DF-BBB1AF7DCA80}" type="pres">
      <dgm:prSet presAssocID="{99FF0D0F-282A-4030-9AF5-3B7621881539}" presName="comp" presStyleCnt="0"/>
      <dgm:spPr/>
    </dgm:pt>
    <dgm:pt modelId="{F36F4ED1-B414-46B8-A8C5-C0FB11F5CFBC}" type="pres">
      <dgm:prSet presAssocID="{99FF0D0F-282A-4030-9AF5-3B7621881539}" presName="box" presStyleLbl="node1" presStyleIdx="2" presStyleCnt="3"/>
      <dgm:spPr/>
    </dgm:pt>
    <dgm:pt modelId="{7C6A764B-C67C-494C-B90E-7B3C3DDE54A4}" type="pres">
      <dgm:prSet presAssocID="{99FF0D0F-282A-4030-9AF5-3B7621881539}" presName="img" presStyleLbl="fgImgPlace1" presStyleIdx="2" presStyleCnt="3"/>
      <dgm:spPr/>
    </dgm:pt>
    <dgm:pt modelId="{0E12AD21-08CC-4736-A269-DD5234F9D874}" type="pres">
      <dgm:prSet presAssocID="{99FF0D0F-282A-4030-9AF5-3B7621881539}" presName="text" presStyleLbl="node1" presStyleIdx="2" presStyleCnt="3">
        <dgm:presLayoutVars>
          <dgm:bulletEnabled val="1"/>
        </dgm:presLayoutVars>
      </dgm:prSet>
      <dgm:spPr/>
    </dgm:pt>
  </dgm:ptLst>
  <dgm:cxnLst>
    <dgm:cxn modelId="{399BD705-2380-48A3-9C48-1D49A5A32D61}" type="presOf" srcId="{2E221207-005F-49CB-81E1-6D036D64322B}" destId="{52D125D2-FCA7-4A2D-AB39-B6BD54F251F2}" srcOrd="1" destOrd="2" presId="urn:microsoft.com/office/officeart/2005/8/layout/vList4"/>
    <dgm:cxn modelId="{D2B94F0C-C779-4AC1-87E4-35116A3DED02}" type="presOf" srcId="{78BFB295-8F5D-4286-B72B-79142F8F0E13}" destId="{54FC4CB6-0791-48D3-B2C5-2E99B8AFCFF7}" srcOrd="0" destOrd="0" presId="urn:microsoft.com/office/officeart/2005/8/layout/vList4"/>
    <dgm:cxn modelId="{D5771F2D-99A4-4884-A896-FA1E2DEFDD88}" srcId="{99FF0D0F-282A-4030-9AF5-3B7621881539}" destId="{A2BD12B5-7AB5-4859-B57E-1E77C0ED35DF}" srcOrd="0" destOrd="0" parTransId="{AC7F7F07-A811-4CCD-BBFE-DAA4D1F5EE40}" sibTransId="{35EEEEB1-B116-40C6-8142-8F938AF38B0B}"/>
    <dgm:cxn modelId="{3A21ED2D-BFFE-4942-BD04-AB5B9DC419E5}" type="presOf" srcId="{99FF0D0F-282A-4030-9AF5-3B7621881539}" destId="{F36F4ED1-B414-46B8-A8C5-C0FB11F5CFBC}" srcOrd="0" destOrd="0" presId="urn:microsoft.com/office/officeart/2005/8/layout/vList4"/>
    <dgm:cxn modelId="{A6E20436-8EF1-4FFF-9C29-AC69BF1D5C4A}" type="presOf" srcId="{02A34BC0-F8BA-4A89-87A4-4F20079DFD06}" destId="{39AFE128-ACF6-44CA-B18B-64F5782CF210}" srcOrd="0" destOrd="0" presId="urn:microsoft.com/office/officeart/2005/8/layout/vList4"/>
    <dgm:cxn modelId="{484B8A37-0122-4FF5-93D2-4A15DF521A17}" srcId="{78BFB295-8F5D-4286-B72B-79142F8F0E13}" destId="{D868444B-AE34-4422-A6A5-1F7D392D0C20}" srcOrd="0" destOrd="0" parTransId="{7DB88D83-6C3A-48C1-8CAD-0D11C3BEC35C}" sibTransId="{74B9B1A5-94EB-40A9-BFF2-678501068FB8}"/>
    <dgm:cxn modelId="{040FC75B-63D6-4205-A996-7A824AA266CE}" type="presOf" srcId="{A2BD12B5-7AB5-4859-B57E-1E77C0ED35DF}" destId="{0E12AD21-08CC-4736-A269-DD5234F9D874}" srcOrd="1" destOrd="1" presId="urn:microsoft.com/office/officeart/2005/8/layout/vList4"/>
    <dgm:cxn modelId="{22F3405C-AB8E-4AC3-A83C-C551BA0831ED}" type="presOf" srcId="{55A2A9EB-4C26-43C3-B721-D475B10BC39B}" destId="{39AFE128-ACF6-44CA-B18B-64F5782CF210}" srcOrd="0" destOrd="2" presId="urn:microsoft.com/office/officeart/2005/8/layout/vList4"/>
    <dgm:cxn modelId="{7E8FC05E-FE02-4336-B1F8-3EAA05519A49}" type="presOf" srcId="{D868444B-AE34-4422-A6A5-1F7D392D0C20}" destId="{54FC4CB6-0791-48D3-B2C5-2E99B8AFCFF7}" srcOrd="0" destOrd="1" presId="urn:microsoft.com/office/officeart/2005/8/layout/vList4"/>
    <dgm:cxn modelId="{4FE7AF63-70AC-4ED4-8BFB-DCB2408F3318}" srcId="{BE45140C-C326-4DAA-A267-498AD5117D68}" destId="{99FF0D0F-282A-4030-9AF5-3B7621881539}" srcOrd="2" destOrd="0" parTransId="{A86F315C-C500-49D7-B443-1D58BD48589A}" sibTransId="{1CCC8D2D-CD28-4814-B055-28ABD65CA276}"/>
    <dgm:cxn modelId="{3F2A6752-A5BB-4F63-B720-93C45E0B4F56}" type="presOf" srcId="{D546635F-000B-49DF-BB26-293CCA777400}" destId="{F36F4ED1-B414-46B8-A8C5-C0FB11F5CFBC}" srcOrd="0" destOrd="2" presId="urn:microsoft.com/office/officeart/2005/8/layout/vList4"/>
    <dgm:cxn modelId="{DC02AD53-682D-464B-9D09-C1B6DCD5AFB0}" type="presOf" srcId="{55A2A9EB-4C26-43C3-B721-D475B10BC39B}" destId="{CFFDF23F-D296-4CDF-8EE4-8A672559E207}" srcOrd="1" destOrd="2" presId="urn:microsoft.com/office/officeart/2005/8/layout/vList4"/>
    <dgm:cxn modelId="{0E2AE979-A66C-4CEC-BFF4-5B28BB7CD9EA}" srcId="{BE45140C-C326-4DAA-A267-498AD5117D68}" destId="{02A34BC0-F8BA-4A89-87A4-4F20079DFD06}" srcOrd="1" destOrd="0" parTransId="{9ADB496F-2DB6-4F16-8C91-2EB9CDF5F2F2}" sibTransId="{44AB630E-CD8B-4223-9F51-5EEE4E054B0A}"/>
    <dgm:cxn modelId="{2AD07198-D472-4B98-B6D5-5A730374E9A2}" srcId="{BE45140C-C326-4DAA-A267-498AD5117D68}" destId="{78BFB295-8F5D-4286-B72B-79142F8F0E13}" srcOrd="0" destOrd="0" parTransId="{F1885FAB-61EC-4F80-98D0-72360031AF9F}" sibTransId="{E88D0928-51D4-4670-8963-60ABBB193E13}"/>
    <dgm:cxn modelId="{FBEF4C9A-E5D4-462C-B35F-96C87426BEAB}" type="presOf" srcId="{A2BD12B5-7AB5-4859-B57E-1E77C0ED35DF}" destId="{F36F4ED1-B414-46B8-A8C5-C0FB11F5CFBC}" srcOrd="0" destOrd="1" presId="urn:microsoft.com/office/officeart/2005/8/layout/vList4"/>
    <dgm:cxn modelId="{690A389C-25C1-485B-88F9-437236A47744}" type="presOf" srcId="{BE45140C-C326-4DAA-A267-498AD5117D68}" destId="{6E1E561E-88C1-49C6-A3F7-DE4B9AD43273}" srcOrd="0" destOrd="0" presId="urn:microsoft.com/office/officeart/2005/8/layout/vList4"/>
    <dgm:cxn modelId="{ECFD91A4-F44F-4C84-8B25-37DA0B249A1F}" type="presOf" srcId="{78BFB295-8F5D-4286-B72B-79142F8F0E13}" destId="{52D125D2-FCA7-4A2D-AB39-B6BD54F251F2}" srcOrd="1" destOrd="0" presId="urn:microsoft.com/office/officeart/2005/8/layout/vList4"/>
    <dgm:cxn modelId="{67DE09B5-392E-4661-A7AE-A0572D63DA68}" type="presOf" srcId="{99FF0D0F-282A-4030-9AF5-3B7621881539}" destId="{0E12AD21-08CC-4736-A269-DD5234F9D874}" srcOrd="1" destOrd="0" presId="urn:microsoft.com/office/officeart/2005/8/layout/vList4"/>
    <dgm:cxn modelId="{778F2DBC-81F3-476D-BD99-784E4F7153C8}" srcId="{02A34BC0-F8BA-4A89-87A4-4F20079DFD06}" destId="{EA3B2395-55AF-495E-9D6B-329D2886612F}" srcOrd="0" destOrd="0" parTransId="{01DA10B6-3F7A-4C8A-AACD-F605EE6CCF20}" sibTransId="{11A4E056-7834-4F82-8A9C-B8EA31F159E3}"/>
    <dgm:cxn modelId="{FE5360C5-555C-42B2-9E63-16D2D46F21B1}" type="presOf" srcId="{D868444B-AE34-4422-A6A5-1F7D392D0C20}" destId="{52D125D2-FCA7-4A2D-AB39-B6BD54F251F2}" srcOrd="1" destOrd="1" presId="urn:microsoft.com/office/officeart/2005/8/layout/vList4"/>
    <dgm:cxn modelId="{1C3272C9-C630-4D60-B76B-138907BB4D41}" srcId="{78BFB295-8F5D-4286-B72B-79142F8F0E13}" destId="{2E221207-005F-49CB-81E1-6D036D64322B}" srcOrd="1" destOrd="0" parTransId="{B200B6AA-AA2A-4CB8-80FF-4BB54938E8A5}" sibTransId="{3728DB5E-E904-481D-A1E5-49CF4AFFC0D3}"/>
    <dgm:cxn modelId="{B0C181C9-77EB-4775-B9E6-C6CBDA60E6EB}" type="presOf" srcId="{EA3B2395-55AF-495E-9D6B-329D2886612F}" destId="{CFFDF23F-D296-4CDF-8EE4-8A672559E207}" srcOrd="1" destOrd="1" presId="urn:microsoft.com/office/officeart/2005/8/layout/vList4"/>
    <dgm:cxn modelId="{ECED70CB-7A25-48F8-9E03-51596FB1E92C}" srcId="{02A34BC0-F8BA-4A89-87A4-4F20079DFD06}" destId="{55A2A9EB-4C26-43C3-B721-D475B10BC39B}" srcOrd="1" destOrd="0" parTransId="{B8424EB2-FFE7-4867-9D5A-EE0D46E8AAFE}" sibTransId="{4EF4588A-187C-4393-9DFC-C6D80B20E995}"/>
    <dgm:cxn modelId="{D1C04ECF-982A-425F-B2B1-9CF15BCEB83B}" type="presOf" srcId="{D546635F-000B-49DF-BB26-293CCA777400}" destId="{0E12AD21-08CC-4736-A269-DD5234F9D874}" srcOrd="1" destOrd="2" presId="urn:microsoft.com/office/officeart/2005/8/layout/vList4"/>
    <dgm:cxn modelId="{22A4C7D2-C14A-4622-8C4E-3FE51F50DCC3}" type="presOf" srcId="{02A34BC0-F8BA-4A89-87A4-4F20079DFD06}" destId="{CFFDF23F-D296-4CDF-8EE4-8A672559E207}" srcOrd="1" destOrd="0" presId="urn:microsoft.com/office/officeart/2005/8/layout/vList4"/>
    <dgm:cxn modelId="{A70C9FD5-2935-4C81-937A-B6C05F5E54BA}" type="presOf" srcId="{2E221207-005F-49CB-81E1-6D036D64322B}" destId="{54FC4CB6-0791-48D3-B2C5-2E99B8AFCFF7}" srcOrd="0" destOrd="2" presId="urn:microsoft.com/office/officeart/2005/8/layout/vList4"/>
    <dgm:cxn modelId="{AC0A7FF3-EEC4-470A-823E-BF7AF1556A99}" srcId="{99FF0D0F-282A-4030-9AF5-3B7621881539}" destId="{D546635F-000B-49DF-BB26-293CCA777400}" srcOrd="1" destOrd="0" parTransId="{5437D343-BECF-4620-B6C7-7088D8BBD91B}" sibTransId="{B01A0825-9EDF-4B9A-B345-1B486D914AD4}"/>
    <dgm:cxn modelId="{7ABE08FD-4ED4-44FB-BFBA-794B6C5FA813}" type="presOf" srcId="{EA3B2395-55AF-495E-9D6B-329D2886612F}" destId="{39AFE128-ACF6-44CA-B18B-64F5782CF210}" srcOrd="0" destOrd="1" presId="urn:microsoft.com/office/officeart/2005/8/layout/vList4"/>
    <dgm:cxn modelId="{DA463EE6-78DB-4E59-8099-EBA029F401B0}" type="presParOf" srcId="{6E1E561E-88C1-49C6-A3F7-DE4B9AD43273}" destId="{F70979D0-5925-4EC3-AD84-986E0EC7B0D8}" srcOrd="0" destOrd="0" presId="urn:microsoft.com/office/officeart/2005/8/layout/vList4"/>
    <dgm:cxn modelId="{2FE346D7-6685-4BD0-9465-988681234E35}" type="presParOf" srcId="{F70979D0-5925-4EC3-AD84-986E0EC7B0D8}" destId="{54FC4CB6-0791-48D3-B2C5-2E99B8AFCFF7}" srcOrd="0" destOrd="0" presId="urn:microsoft.com/office/officeart/2005/8/layout/vList4"/>
    <dgm:cxn modelId="{3671DC51-8308-4E14-B210-C8528BB18500}" type="presParOf" srcId="{F70979D0-5925-4EC3-AD84-986E0EC7B0D8}" destId="{9A7E2690-DE9C-4572-9BE5-B8C9A3B8BBB3}" srcOrd="1" destOrd="0" presId="urn:microsoft.com/office/officeart/2005/8/layout/vList4"/>
    <dgm:cxn modelId="{36512CCB-6AF4-4E79-94F2-3EAFE5E8BC48}" type="presParOf" srcId="{F70979D0-5925-4EC3-AD84-986E0EC7B0D8}" destId="{52D125D2-FCA7-4A2D-AB39-B6BD54F251F2}" srcOrd="2" destOrd="0" presId="urn:microsoft.com/office/officeart/2005/8/layout/vList4"/>
    <dgm:cxn modelId="{ECC56BF9-E938-422B-98CD-A358ACD6F8DC}" type="presParOf" srcId="{6E1E561E-88C1-49C6-A3F7-DE4B9AD43273}" destId="{E95CA29D-745B-40BA-93B6-BB607C99A2CE}" srcOrd="1" destOrd="0" presId="urn:microsoft.com/office/officeart/2005/8/layout/vList4"/>
    <dgm:cxn modelId="{158F6488-FF9D-4053-8FD1-E0DD5F22ECAD}" type="presParOf" srcId="{6E1E561E-88C1-49C6-A3F7-DE4B9AD43273}" destId="{41A67AC8-1DD7-4AB7-96A3-87B24035E3FA}" srcOrd="2" destOrd="0" presId="urn:microsoft.com/office/officeart/2005/8/layout/vList4"/>
    <dgm:cxn modelId="{236FF4A9-4957-4F7A-A24B-795FE34BEEFD}" type="presParOf" srcId="{41A67AC8-1DD7-4AB7-96A3-87B24035E3FA}" destId="{39AFE128-ACF6-44CA-B18B-64F5782CF210}" srcOrd="0" destOrd="0" presId="urn:microsoft.com/office/officeart/2005/8/layout/vList4"/>
    <dgm:cxn modelId="{5BD15FCC-0B87-4D85-98EC-9D897E4655EE}" type="presParOf" srcId="{41A67AC8-1DD7-4AB7-96A3-87B24035E3FA}" destId="{3F97C059-D720-4D48-953F-B84D04D0BF79}" srcOrd="1" destOrd="0" presId="urn:microsoft.com/office/officeart/2005/8/layout/vList4"/>
    <dgm:cxn modelId="{3156CEE4-28C8-4C16-85AC-EE6796DAD482}" type="presParOf" srcId="{41A67AC8-1DD7-4AB7-96A3-87B24035E3FA}" destId="{CFFDF23F-D296-4CDF-8EE4-8A672559E207}" srcOrd="2" destOrd="0" presId="urn:microsoft.com/office/officeart/2005/8/layout/vList4"/>
    <dgm:cxn modelId="{C9CD1524-D5D2-47DD-A731-469F83B73691}" type="presParOf" srcId="{6E1E561E-88C1-49C6-A3F7-DE4B9AD43273}" destId="{40453781-DACE-4118-ADC4-2B966E9374E5}" srcOrd="3" destOrd="0" presId="urn:microsoft.com/office/officeart/2005/8/layout/vList4"/>
    <dgm:cxn modelId="{D2619F68-F71E-4DB7-B3E4-C0C69EDAA7FE}" type="presParOf" srcId="{6E1E561E-88C1-49C6-A3F7-DE4B9AD43273}" destId="{536722F8-2BA5-41A1-87DF-BBB1AF7DCA80}" srcOrd="4" destOrd="0" presId="urn:microsoft.com/office/officeart/2005/8/layout/vList4"/>
    <dgm:cxn modelId="{AFABECF8-EB39-4A9E-BB52-4A457A2CDD0A}" type="presParOf" srcId="{536722F8-2BA5-41A1-87DF-BBB1AF7DCA80}" destId="{F36F4ED1-B414-46B8-A8C5-C0FB11F5CFBC}" srcOrd="0" destOrd="0" presId="urn:microsoft.com/office/officeart/2005/8/layout/vList4"/>
    <dgm:cxn modelId="{F3A74078-C1EC-4C6F-B1ED-565182E04087}" type="presParOf" srcId="{536722F8-2BA5-41A1-87DF-BBB1AF7DCA80}" destId="{7C6A764B-C67C-494C-B90E-7B3C3DDE54A4}" srcOrd="1" destOrd="0" presId="urn:microsoft.com/office/officeart/2005/8/layout/vList4"/>
    <dgm:cxn modelId="{1973AF99-46F9-4317-B911-25815C189087}" type="presParOf" srcId="{536722F8-2BA5-41A1-87DF-BBB1AF7DCA80}" destId="{0E12AD21-08CC-4736-A269-DD5234F9D874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36B29D-D076-484B-923B-2F25F5C41A0D}">
      <dsp:nvSpPr>
        <dsp:cNvPr id="0" name=""/>
        <dsp:cNvSpPr/>
      </dsp:nvSpPr>
      <dsp:spPr>
        <a:xfrm rot="16200000">
          <a:off x="1772859" y="-1772859"/>
          <a:ext cx="1632856" cy="5178576"/>
        </a:xfrm>
        <a:prstGeom prst="round1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2500" kern="1200"/>
        </a:p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kern="1200"/>
            <a:t>Perfil de egreso</a:t>
          </a:r>
          <a:endParaRPr lang="es-CL" sz="2500" kern="1200"/>
        </a:p>
      </dsp:txBody>
      <dsp:txXfrm rot="5400000">
        <a:off x="-1" y="1"/>
        <a:ext cx="5178576" cy="1224642"/>
      </dsp:txXfrm>
    </dsp:sp>
    <dsp:sp modelId="{AB3A897D-ED97-4543-BEFE-4B541983D385}">
      <dsp:nvSpPr>
        <dsp:cNvPr id="0" name=""/>
        <dsp:cNvSpPr/>
      </dsp:nvSpPr>
      <dsp:spPr>
        <a:xfrm>
          <a:off x="5178576" y="0"/>
          <a:ext cx="5178576" cy="1632856"/>
        </a:xfrm>
        <a:prstGeom prst="round1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2500" kern="1200"/>
        </a:p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kern="1200"/>
            <a:t>Intereses profesionales</a:t>
          </a:r>
          <a:endParaRPr lang="es-CL" sz="2500" kern="1200"/>
        </a:p>
      </dsp:txBody>
      <dsp:txXfrm>
        <a:off x="5178576" y="0"/>
        <a:ext cx="5178576" cy="1224642"/>
      </dsp:txXfrm>
    </dsp:sp>
    <dsp:sp modelId="{8B84C268-7B46-47A4-BCBA-96C88B8AE19B}">
      <dsp:nvSpPr>
        <dsp:cNvPr id="0" name=""/>
        <dsp:cNvSpPr/>
      </dsp:nvSpPr>
      <dsp:spPr>
        <a:xfrm rot="10800000">
          <a:off x="0" y="1632856"/>
          <a:ext cx="5178576" cy="1632856"/>
        </a:xfrm>
        <a:prstGeom prst="round1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kern="1200"/>
            <a:t>Obstaculos</a:t>
          </a:r>
          <a:endParaRPr lang="es-CL" sz="2500" kern="1200"/>
        </a:p>
      </dsp:txBody>
      <dsp:txXfrm rot="10800000">
        <a:off x="0" y="2041070"/>
        <a:ext cx="5178576" cy="1224642"/>
      </dsp:txXfrm>
    </dsp:sp>
    <dsp:sp modelId="{41FED504-BFF7-48F3-A789-DD1AF0C2F6B3}">
      <dsp:nvSpPr>
        <dsp:cNvPr id="0" name=""/>
        <dsp:cNvSpPr/>
      </dsp:nvSpPr>
      <dsp:spPr>
        <a:xfrm rot="5400000">
          <a:off x="6951435" y="-140003"/>
          <a:ext cx="1632856" cy="5178576"/>
        </a:xfrm>
        <a:prstGeom prst="round1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500" kern="1200"/>
            <a:t>Aporte</a:t>
          </a:r>
        </a:p>
      </dsp:txBody>
      <dsp:txXfrm rot="-5400000">
        <a:off x="5178575" y="2041070"/>
        <a:ext cx="5178576" cy="1224642"/>
      </dsp:txXfrm>
    </dsp:sp>
    <dsp:sp modelId="{D9FEFA5E-B963-48BC-A740-F15483409A6D}">
      <dsp:nvSpPr>
        <dsp:cNvPr id="0" name=""/>
        <dsp:cNvSpPr/>
      </dsp:nvSpPr>
      <dsp:spPr>
        <a:xfrm>
          <a:off x="3625003" y="1224642"/>
          <a:ext cx="3107145" cy="816428"/>
        </a:xfrm>
        <a:prstGeom prst="roundRect">
          <a:avLst/>
        </a:prstGeom>
        <a:gradFill rotWithShape="0">
          <a:gsLst>
            <a:gs pos="0">
              <a:schemeClr val="accent4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kern="1200"/>
            <a:t>Reflexión</a:t>
          </a:r>
          <a:endParaRPr lang="es-CL" sz="2500" kern="1200"/>
        </a:p>
      </dsp:txBody>
      <dsp:txXfrm>
        <a:off x="3664858" y="1264497"/>
        <a:ext cx="3027435" cy="7367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FC4CB6-0791-48D3-B2C5-2E99B8AFCFF7}">
      <dsp:nvSpPr>
        <dsp:cNvPr id="0" name=""/>
        <dsp:cNvSpPr/>
      </dsp:nvSpPr>
      <dsp:spPr>
        <a:xfrm>
          <a:off x="0" y="0"/>
          <a:ext cx="7633494" cy="13595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600" kern="1200"/>
            <a:t>Nombre de estudiante</a:t>
          </a:r>
          <a:endParaRPr lang="es-CL" sz="26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000" kern="1200"/>
            <a:t>Cargo</a:t>
          </a:r>
          <a:endParaRPr lang="es-CL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000" kern="1200"/>
            <a:t>Funciones desempeñadas</a:t>
          </a:r>
          <a:endParaRPr lang="es-CL" sz="2000" kern="1200"/>
        </a:p>
      </dsp:txBody>
      <dsp:txXfrm>
        <a:off x="1662653" y="0"/>
        <a:ext cx="5970840" cy="1359548"/>
      </dsp:txXfrm>
    </dsp:sp>
    <dsp:sp modelId="{9A7E2690-DE9C-4572-9BE5-B8C9A3B8BBB3}">
      <dsp:nvSpPr>
        <dsp:cNvPr id="0" name=""/>
        <dsp:cNvSpPr/>
      </dsp:nvSpPr>
      <dsp:spPr>
        <a:xfrm>
          <a:off x="135954" y="135954"/>
          <a:ext cx="1526698" cy="1087638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39AFE128-ACF6-44CA-B18B-64F5782CF210}">
      <dsp:nvSpPr>
        <dsp:cNvPr id="0" name=""/>
        <dsp:cNvSpPr/>
      </dsp:nvSpPr>
      <dsp:spPr>
        <a:xfrm>
          <a:off x="0" y="1495502"/>
          <a:ext cx="7633494" cy="13595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600" kern="1200"/>
            <a:t>Nombre de estudiante</a:t>
          </a:r>
          <a:endParaRPr lang="es-CL" sz="26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000" kern="1200"/>
            <a:t>Cargo</a:t>
          </a:r>
          <a:endParaRPr lang="es-CL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000" kern="1200"/>
            <a:t>Funciones desempeñadas</a:t>
          </a:r>
          <a:endParaRPr lang="es-CL" sz="2000" kern="1200"/>
        </a:p>
      </dsp:txBody>
      <dsp:txXfrm>
        <a:off x="1662653" y="1495502"/>
        <a:ext cx="5970840" cy="1359548"/>
      </dsp:txXfrm>
    </dsp:sp>
    <dsp:sp modelId="{3F97C059-D720-4D48-953F-B84D04D0BF79}">
      <dsp:nvSpPr>
        <dsp:cNvPr id="0" name=""/>
        <dsp:cNvSpPr/>
      </dsp:nvSpPr>
      <dsp:spPr>
        <a:xfrm>
          <a:off x="135954" y="1631457"/>
          <a:ext cx="1526698" cy="1087638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F36F4ED1-B414-46B8-A8C5-C0FB11F5CFBC}">
      <dsp:nvSpPr>
        <dsp:cNvPr id="0" name=""/>
        <dsp:cNvSpPr/>
      </dsp:nvSpPr>
      <dsp:spPr>
        <a:xfrm>
          <a:off x="0" y="2991005"/>
          <a:ext cx="7633494" cy="13595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600" kern="1200"/>
            <a:t>Nombre de estudiante</a:t>
          </a:r>
          <a:endParaRPr lang="es-CL" sz="26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000" kern="1200"/>
            <a:t>Cargo</a:t>
          </a:r>
          <a:endParaRPr lang="es-CL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000" kern="1200"/>
            <a:t>Funciones desempeñadas</a:t>
          </a:r>
          <a:endParaRPr lang="es-CL" sz="2000" kern="1200"/>
        </a:p>
      </dsp:txBody>
      <dsp:txXfrm>
        <a:off x="1662653" y="2991005"/>
        <a:ext cx="5970840" cy="1359548"/>
      </dsp:txXfrm>
    </dsp:sp>
    <dsp:sp modelId="{7C6A764B-C67C-494C-B90E-7B3C3DDE54A4}">
      <dsp:nvSpPr>
        <dsp:cNvPr id="0" name=""/>
        <dsp:cNvSpPr/>
      </dsp:nvSpPr>
      <dsp:spPr>
        <a:xfrm>
          <a:off x="135954" y="3126960"/>
          <a:ext cx="1526698" cy="1087638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342B94C6-A0AC-89AB-20B8-B3C2ED90C4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9FB8E24-1EB4-D811-C6AC-1F466A69A2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3DD758-0740-654D-95C7-5C2557348F61}" type="datetimeFigureOut">
              <a:rPr lang="es-ES_tradnl" smtClean="0"/>
              <a:t>27/11/2025</a:t>
            </a:fld>
            <a:endParaRPr lang="es-ES_tradn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C14F57A-8650-562E-96AC-CA07AC04C9C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F98777A-A43B-E149-02D3-C6BC3F81B1A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BE2524-EC0B-5347-9D16-EE3400F9660A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491712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2FC48E-71C3-B448-8946-037788D9B597}" type="datetimeFigureOut">
              <a:rPr lang="es-ES_tradnl" smtClean="0"/>
              <a:t>27/11/2025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2969C0-F669-CC43-9359-372BAF62B9FD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41648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621781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b="1"/>
              <a:t>Objetivos del proyecto</a:t>
            </a:r>
            <a:endParaRPr lang="es-CL"/>
          </a:p>
          <a:p>
            <a:r>
              <a:rPr lang="es-CL"/>
              <a:t>Escribir el Objetivo general</a:t>
            </a:r>
          </a:p>
          <a:p>
            <a:r>
              <a:rPr lang="es-CL"/>
              <a:t>Listar objetivos específicos</a:t>
            </a:r>
          </a:p>
          <a:p>
            <a:endParaRPr lang="es-ES_tradn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2969C0-F669-CC43-9359-372BAF62B9FD}" type="slidenum">
              <a:rPr lang="es-ES_tradnl" smtClean="0"/>
              <a:t>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011698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/>
              <a:t>Esta </a:t>
            </a:r>
            <a:r>
              <a:rPr lang="es-ES_tradnl" err="1"/>
              <a:t>ppt</a:t>
            </a:r>
            <a:r>
              <a:rPr lang="es-ES_tradnl"/>
              <a:t> pude ser opcional propongo que lo digan junto con sus objetivos en pro del tiempo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2969C0-F669-CC43-9359-372BAF62B9FD}" type="slidenum">
              <a:rPr lang="es-ES_tradnl" smtClean="0"/>
              <a:t>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938666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Componentes </a:t>
            </a:r>
          </a:p>
          <a:p>
            <a:r>
              <a:rPr lang="es-CL" sz="12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 decir, el resumen de aspectos relevantes . </a:t>
            </a:r>
          </a:p>
          <a:p>
            <a:endParaRPr lang="es-CL" sz="12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sz="1200">
                <a:solidFill>
                  <a:srgbClr val="002060"/>
                </a:solidFill>
                <a:latin typeface="Arial" charset="0"/>
                <a:ea typeface="Arial" charset="0"/>
                <a:cs typeface="Arial" charset="0"/>
              </a:rPr>
              <a:t>Esto implica “LISTAR”</a:t>
            </a:r>
          </a:p>
          <a:p>
            <a:r>
              <a:rPr lang="es-CL" sz="1200">
                <a:solidFill>
                  <a:srgbClr val="002060"/>
                </a:solidFill>
                <a:latin typeface="Arial" charset="0"/>
                <a:ea typeface="Arial" charset="0"/>
                <a:cs typeface="Arial" charset="0"/>
              </a:rPr>
              <a:t>Arquitectura, Componentes, Estimaciones de Costo, estudios y otros usado en el estudio, panificación y diseño del proyecto </a:t>
            </a:r>
          </a:p>
          <a:p>
            <a:endParaRPr lang="es-ES_tradn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2969C0-F669-CC43-9359-372BAF62B9FD}" type="slidenum">
              <a:rPr lang="es-ES_tradnl" smtClean="0"/>
              <a:t>8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477725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/>
              <a:t>Describir la o las herramientas de planificación utilizada y su relación con el proyecto.</a:t>
            </a:r>
          </a:p>
          <a:p>
            <a:r>
              <a:rPr lang="es-CL"/>
              <a:t>Una diapositiva.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200">
                <a:solidFill>
                  <a:schemeClr val="bg2">
                    <a:lumMod val="50000"/>
                  </a:schemeClr>
                </a:solidFill>
              </a:rPr>
              <a:t>Utilizar cronograma de inicio, indicando el cumplimiento al término del proyecto </a:t>
            </a:r>
            <a:endParaRPr lang="es-CL" sz="800">
              <a:solidFill>
                <a:schemeClr val="bg2">
                  <a:lumMod val="50000"/>
                </a:schemeClr>
              </a:solidFill>
            </a:endParaRPr>
          </a:p>
          <a:p>
            <a:endParaRPr lang="es-ES_tradn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2969C0-F669-CC43-9359-372BAF62B9FD}" type="slidenum">
              <a:rPr lang="es-ES_tradnl" smtClean="0"/>
              <a:t>11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90172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s-CL" sz="1200" b="0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En primer lugar debes considerar que tal como se mencionó anteriormente, la reflexión nos ayuda a ir consolidando nuestras competencias por cuanto somos capaces de situarnos en distintos escenario. En este sentido, se recomienda iniciar la práctica reflexiva con preguntas que te lleven a la comprensión de lo que realizaste y a la relación con otros componentes del centro de práctica en el que te desempeñas, preguntas tales</a:t>
            </a:r>
          </a:p>
          <a:p>
            <a:pPr marL="158750" indent="0">
              <a:buNone/>
            </a:pPr>
            <a:r>
              <a:rPr lang="es-CL" sz="1200" b="0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como: </a:t>
            </a:r>
          </a:p>
          <a:p>
            <a:pPr marL="158750" indent="0">
              <a:buNone/>
            </a:pPr>
            <a:r>
              <a:rPr lang="es-CL" sz="1200" b="0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¿Entendí las partes de la tarea que me encargaron y cómo se conectaban?,</a:t>
            </a:r>
          </a:p>
          <a:p>
            <a:pPr marL="158750" indent="0">
              <a:buNone/>
            </a:pPr>
            <a:r>
              <a:rPr lang="es-CL" sz="1200" b="0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¿entiendo la importancia de esta tarea en el contexto de la empresa?, </a:t>
            </a:r>
          </a:p>
          <a:p>
            <a:pPr marL="158750" indent="0">
              <a:buNone/>
            </a:pPr>
            <a:r>
              <a:rPr lang="es-CL" sz="1200" b="0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¿De qué manera esta actividad se relaciona con otras actividades? </a:t>
            </a:r>
          </a:p>
          <a:p>
            <a:pPr marL="158750" indent="0">
              <a:buNone/>
            </a:pPr>
            <a:r>
              <a:rPr lang="es-CL" sz="1200" b="0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Luego se puede pasar a preguntas más complejas que refieren al análisis y evaluación de lo que se está realizando, con preguntas como</a:t>
            </a:r>
          </a:p>
          <a:p>
            <a:pPr marL="158750" indent="0">
              <a:buNone/>
            </a:pPr>
            <a:r>
              <a:rPr lang="es-CL" sz="1200" b="0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¿Fueron eficaces las estrategias, habilidades o procedimientos que usé para desarrollar la actividad?  </a:t>
            </a:r>
          </a:p>
          <a:p>
            <a:pPr marL="158750" indent="0">
              <a:buNone/>
            </a:pPr>
            <a:r>
              <a:rPr lang="es-CL" sz="1200" b="0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¿Qué estoy aprendiendo o. aprendí ?  ¿Por qué es importante?</a:t>
            </a:r>
          </a:p>
          <a:p>
            <a:pPr marL="158750" indent="0">
              <a:buNone/>
            </a:pPr>
            <a:r>
              <a:rPr lang="es-CL" sz="1200" b="0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Finalmente, es importante reflexionar sobre cómo podría mejorar el desempeño, cómo esto aporta a mi perfil profesional, entre otras. Además de analizar cuáles son los espacios de mejora del centro de práctica y cómo desde su rol como especialista puede aportar.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/>
          </a:p>
          <a:p>
            <a:endParaRPr lang="es-ES_tradn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2969C0-F669-CC43-9359-372BAF62B9FD}" type="slidenum">
              <a:rPr lang="es-ES_tradnl" smtClean="0"/>
              <a:t>20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994696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/>
              <a:t>Opcionales a tu presentación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2969C0-F669-CC43-9359-372BAF62B9FD}" type="slidenum">
              <a:rPr lang="es-ES_tradnl" smtClean="0"/>
              <a:t>22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426675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MX"/>
              <a:t>Nombre de estudiante</a:t>
            </a:r>
            <a:endParaRPr lang="es-CL"/>
          </a:p>
          <a:p>
            <a:pPr lvl="1"/>
            <a:r>
              <a:rPr lang="es-MX"/>
              <a:t>Cargo</a:t>
            </a:r>
            <a:endParaRPr lang="es-CL"/>
          </a:p>
          <a:p>
            <a:pPr lvl="1"/>
            <a:r>
              <a:rPr lang="es-MX"/>
              <a:t>Funciones desempeñadas</a:t>
            </a:r>
            <a:endParaRPr lang="es-CL"/>
          </a:p>
          <a:p>
            <a:endParaRPr lang="es-ES_tradn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2969C0-F669-CC43-9359-372BAF62B9FD}" type="slidenum">
              <a:rPr lang="es-ES_tradnl" smtClean="0"/>
              <a:t>24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01456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64A916-2C2E-265E-D1A7-F8BA8BAA56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2B618F-FEF4-D0FB-4038-D93A262EA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43312A-AEFB-3177-E12B-386C4F429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5FE05-B94E-CC4D-AE63-F024CEEF18A6}" type="datetime1">
              <a:rPr lang="es-CL" smtClean="0"/>
              <a:t>27-11-2025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7C3C00-ADC0-ABB2-EF55-4D170DA0D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90627" y="170482"/>
            <a:ext cx="4114800" cy="309965"/>
          </a:xfrm>
        </p:spPr>
        <p:txBody>
          <a:bodyPr/>
          <a:lstStyle/>
          <a:p>
            <a:r>
              <a:rPr lang="es-CL"/>
              <a:t>PROYECTO “NOMBRE DEL PROYECTO”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B0C28A-E393-39C0-65D4-7252445FA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53887044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7B6CD-9456-B138-ECD2-C8D7A666C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74D6B0-7AF3-685F-CEAB-5529E05E8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F52F25-C2C6-7F7B-276E-37CD648AA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5047F-DDDB-E043-9700-827F2B848BBA}" type="datetime1">
              <a:rPr lang="es-CL" smtClean="0"/>
              <a:t>27-11-2025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947A73-C5CF-9FE2-967B-D4D866F9D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PROYECTO “NOMBRE DEL PROYECTO”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ECAE93-9144-BF33-1401-DF6FFF6FA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23929711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B56A89-B019-96BD-5BAD-62AE0C3AC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22B60B4-76B8-D88B-5674-F86DC3670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DE800A-255F-4AE1-5E56-606A61B37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22540-8B8E-EF44-AFDB-CC7FCC242F14}" type="datetime1">
              <a:rPr lang="es-CL" smtClean="0"/>
              <a:t>27-11-2025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FC92BF-9B9F-10CC-5BC8-BAC85DDB9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PROYECTO “NOMBRE DEL PROYECTO”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372357-062E-F22F-4B80-ED779DDD1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1426009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399D17-3BAA-B1F3-D450-274A02753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60F58E-6555-CC20-7FB5-60DB4AEFC8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2CAA47F-EB54-628D-A823-3A00718BE8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90AFF8-D9BE-4C13-0483-E843C51CA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E48FF-BF31-804C-8957-685D81D1BE15}" type="datetime1">
              <a:rPr lang="es-CL" smtClean="0"/>
              <a:t>27-11-2025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CF5C03-2790-90EB-0D65-AA62820C0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PROYECTO “NOMBRE DEL PROYECTO”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491F526-CDE5-755B-4A3F-50F807763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52846858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9CF108-6B99-8CCE-C8FD-D995F9965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B0B922A-6156-2235-AA95-A8B8C02B3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F40D8F2-325E-B2D8-EDDA-56DE9D1F20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58884F1-5F33-E36A-DEE4-9693FBE7DB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5DF08E0-1508-F512-337D-F5C8A5F0C3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553ED18-81E3-9782-22CD-40D6A1909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A8FCC-61DD-ED47-953D-48E93003D3C8}" type="datetime1">
              <a:rPr lang="es-CL" smtClean="0"/>
              <a:t>27-11-2025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78D2E67-9BFA-E800-3A7E-8900D96D4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PROYECTO “NOMBRE DEL PROYECTO”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56AEF8A-22F0-544A-1B96-40996F1A6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63044769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80A5D8-AC89-1289-2F04-0814CB9B1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703452B-17EB-394F-735B-5A921A58A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95B02-1C8A-9149-8F26-44FBF5EF6F5D}" type="datetime1">
              <a:rPr lang="es-CL" smtClean="0"/>
              <a:t>27-11-2025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60A54D4-94C4-7743-43A2-1A52792A4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PROYECTO “NOMBRE DEL PROYECTO”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9886359-BA16-2E60-D21D-C9E1AD88B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2827478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9082406-6A57-2057-24EC-1A6C257A2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1754D-E427-1845-AA91-7A8F8726F813}" type="datetime1">
              <a:rPr lang="es-CL" smtClean="0"/>
              <a:t>27-11-2025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D4737A7-3975-9225-3AAC-282F9F456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PROYECTO “NOMBRE DEL PROYECTO”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58996F-BDE4-86FA-BD9D-DFCAB9143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3576406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5B1326-48D6-CCCF-9030-3AC9A67CD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04BD84-4F55-3649-4756-7A4CE760D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F111F47-438E-ECB7-5D1F-CB07E54FD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1E9545-DD0E-6A0B-2B88-934785A7E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01242-642C-E546-B2B2-3A10C6B84BE8}" type="datetime1">
              <a:rPr lang="es-CL" smtClean="0"/>
              <a:t>27-11-2025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3CD897-12AF-A56D-CB14-1B41012DE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PROYECTO “NOMBRE DEL PROYECTO”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9257B85-275B-F539-96E6-BF6C3F487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3514770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45BFE8-4F8E-9F77-F45C-B4D870295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3CB21F6-368F-6F50-5C0D-6BE2DDE1E4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12122B-29C5-7F4E-7EFB-41EF277FC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17332B2-B78B-790B-184B-C7299CC48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A0E8C-6969-ED4F-B557-4A13166634B4}" type="datetime1">
              <a:rPr lang="es-CL" smtClean="0"/>
              <a:t>27-11-2025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1CBB3B-17B4-113F-AA5B-E804167AD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PROYECTO “NOMBRE DEL PROYECTO”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C8A1FFA-A66B-F32D-E3CE-2337B07F5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36603574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CA4049-BEF3-0AFD-A19B-45FF1D820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4FD3394-1BB2-4A78-E0C2-B81E3B0A0C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B1E014-02B1-2EA8-C324-69C065711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D1E37-06D6-964E-A5DE-22C4D0AFD0A7}" type="datetime1">
              <a:rPr lang="es-CL" smtClean="0"/>
              <a:t>27-11-2025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D9E46F-A5FD-E000-2817-06E54BC72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PROYECTO “NOMBRE DEL PROYECTO”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F151D9-94A1-87E1-B673-4D3D316B9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85804739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B72A6E5-A0E4-586A-8BAE-08F39AC9E9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8C75B9-2362-53B4-3282-7D8A22F06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97AA35-3C24-08C9-2992-BE0C70C5D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ABE33-D22C-1B4B-8C95-99FF87AE5ACF}" type="datetime1">
              <a:rPr lang="es-CL" smtClean="0"/>
              <a:t>27-11-2025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103D78-DCDD-276E-7575-A1992D704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PROYECTO “NOMBRE DEL PROYECTO”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60B15A-BAF6-5EBF-7331-0AFFFFABE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3337686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userDrawn="1">
  <p:cSld name="Blank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9548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48B6D4E-E3C2-3792-E3C4-2CBC2E052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82E89E-FB21-817B-8050-7AD81F9CE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A1C48C-F8B6-B30A-3815-D7ADD14FF2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F159DB-B23C-8F49-9C1B-A431A9325AD5}" type="datetime1">
              <a:rPr lang="es-CL" smtClean="0"/>
              <a:t>27-11-2025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09214F-88E2-1045-9D0B-C2ECD481C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CL"/>
              <a:t>PROYECTO “NOMBRE DEL PROYECTO”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38CA17-DD6E-139F-6ED9-FAD83BB727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032A9FD-2796-2B6A-9BDE-A2D7C2969767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5589"/>
            <a:ext cx="1923566" cy="740488"/>
          </a:xfrm>
          <a:prstGeom prst="rect">
            <a:avLst/>
          </a:prstGeom>
        </p:spPr>
      </p:pic>
      <p:pic>
        <p:nvPicPr>
          <p:cNvPr id="9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4C3D4805-E575-3883-970B-991A5B6AC79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3617" y="125589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670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slow">
    <p:wipe/>
  </p:transition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1523517"/>
            <a:ext cx="1219199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b="1" dirty="0"/>
              <a:t>“SITIO WEB PARA CLINICA VETERINARIA PUCARA”</a:t>
            </a:r>
          </a:p>
          <a:p>
            <a:pPr algn="ctr"/>
            <a:r>
              <a:rPr lang="es-MX" sz="2400" b="1" dirty="0"/>
              <a:t>PRESENTACIÓN FINAL CAPSTONE</a:t>
            </a:r>
            <a:endParaRPr lang="es-CL" sz="2400" b="1" dirty="0"/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E9FD5021-D689-CD28-1A56-C54BC902006B}"/>
              </a:ext>
            </a:extLst>
          </p:cNvPr>
          <p:cNvSpPr txBox="1"/>
          <p:nvPr/>
        </p:nvSpPr>
        <p:spPr>
          <a:xfrm>
            <a:off x="3112376" y="2910998"/>
            <a:ext cx="5967246" cy="38787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endParaRPr lang="es-CL" sz="1867" dirty="0"/>
          </a:p>
          <a:p>
            <a:pPr algn="ctr"/>
            <a:r>
              <a:rPr lang="es-ES" sz="1867" b="1" dirty="0"/>
              <a:t>Docente</a:t>
            </a:r>
            <a:endParaRPr lang="es-CL" sz="1867" b="1" dirty="0"/>
          </a:p>
          <a:p>
            <a:pPr algn="ctr"/>
            <a:r>
              <a:rPr lang="es-ES" sz="1867" dirty="0"/>
              <a:t>Fabian Alcántara </a:t>
            </a:r>
            <a:endParaRPr lang="es-ES" sz="1867" dirty="0">
              <a:ea typeface="Calibri"/>
              <a:cs typeface="Calibri"/>
            </a:endParaRPr>
          </a:p>
          <a:p>
            <a:pPr algn="ctr"/>
            <a:endParaRPr lang="es-CL" sz="1867" dirty="0"/>
          </a:p>
          <a:p>
            <a:pPr algn="ctr"/>
            <a:r>
              <a:rPr lang="es-ES" sz="1867" b="1" dirty="0"/>
              <a:t>Equipo alumnos</a:t>
            </a:r>
            <a:endParaRPr lang="es-CL" sz="1867" b="1" dirty="0"/>
          </a:p>
          <a:p>
            <a:pPr algn="ctr"/>
            <a:r>
              <a:rPr lang="es-ES" sz="1867" dirty="0"/>
              <a:t>Mario Garrido Apellido</a:t>
            </a:r>
          </a:p>
          <a:p>
            <a:pPr algn="ctr"/>
            <a:r>
              <a:rPr lang="es-CL" sz="1867" dirty="0"/>
              <a:t>Saúl Ávila Bustos</a:t>
            </a:r>
          </a:p>
          <a:p>
            <a:pPr algn="ctr"/>
            <a:endParaRPr lang="es-CL" sz="1867" dirty="0"/>
          </a:p>
          <a:p>
            <a:pPr algn="ctr"/>
            <a:r>
              <a:rPr lang="es-ES" sz="1867" b="1" dirty="0"/>
              <a:t>Duoc UC Sede San Bernardo </a:t>
            </a:r>
          </a:p>
          <a:p>
            <a:pPr algn="ctr"/>
            <a:r>
              <a:rPr lang="es-ES" sz="1867" dirty="0"/>
              <a:t>Escuela de Informática y Telecomunicaciones</a:t>
            </a:r>
          </a:p>
          <a:p>
            <a:pPr algn="ctr"/>
            <a:r>
              <a:rPr lang="es-ES" sz="1867" dirty="0"/>
              <a:t>Ingeniería en Informática</a:t>
            </a:r>
          </a:p>
          <a:p>
            <a:pPr algn="ctr"/>
            <a:r>
              <a:rPr lang="es-ES" sz="1867" dirty="0"/>
              <a:t>2025</a:t>
            </a:r>
            <a:endParaRPr lang="es-CL" sz="1867" dirty="0"/>
          </a:p>
          <a:p>
            <a:pPr algn="ctr"/>
            <a:endParaRPr lang="es-CL" sz="1867" dirty="0"/>
          </a:p>
          <a:p>
            <a:pPr algn="ctr"/>
            <a:endParaRPr lang="es-CL" sz="933" dirty="0"/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81F53645-C54C-D3B7-31BC-AD62D417CFD6}"/>
              </a:ext>
            </a:extLst>
          </p:cNvPr>
          <p:cNvSpPr/>
          <p:nvPr/>
        </p:nvSpPr>
        <p:spPr>
          <a:xfrm rot="16200000">
            <a:off x="6154970" y="671069"/>
            <a:ext cx="151882" cy="12192001"/>
          </a:xfrm>
          <a:custGeom>
            <a:avLst/>
            <a:gdLst/>
            <a:ahLst/>
            <a:cxnLst/>
            <a:rect l="l" t="t" r="r" b="b"/>
            <a:pathLst>
              <a:path w="587437" h="5624919">
                <a:moveTo>
                  <a:pt x="0" y="0"/>
                </a:moveTo>
                <a:lnTo>
                  <a:pt x="587437" y="0"/>
                </a:lnTo>
                <a:lnTo>
                  <a:pt x="587437" y="5624919"/>
                </a:lnTo>
                <a:lnTo>
                  <a:pt x="0" y="56249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46303" t="-3435" r="-23115094" b="-21587"/>
            </a:stretch>
          </a:blipFill>
        </p:spPr>
        <p:txBody>
          <a:bodyPr/>
          <a:lstStyle/>
          <a:p>
            <a:endParaRPr lang="es-CL" sz="933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7EC9394-3180-8AEF-8854-309EF54FB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 dirty="0"/>
              <a:t>PROYECTO “NOMBRE DEL PROYECTO”</a:t>
            </a:r>
          </a:p>
        </p:txBody>
      </p:sp>
    </p:spTree>
    <p:extLst>
      <p:ext uri="{BB962C8B-B14F-4D97-AF65-F5344CB8AC3E}">
        <p14:creationId xmlns:p14="http://schemas.microsoft.com/office/powerpoint/2010/main" val="2391963198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1B07ABA7-380A-39CD-3A5E-BEFD00A8867D}"/>
              </a:ext>
            </a:extLst>
          </p:cNvPr>
          <p:cNvSpPr txBox="1">
            <a:spLocks/>
          </p:cNvSpPr>
          <p:nvPr/>
        </p:nvSpPr>
        <p:spPr>
          <a:xfrm>
            <a:off x="895350" y="2592500"/>
            <a:ext cx="4736012" cy="2651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sz="2400" b="0" i="0" u="none" strike="noStrike" cap="non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sz="2000" b="0" i="0" u="none" strike="noStrike" cap="non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sz="1800" b="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sz="1600" b="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sz="1400" b="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sz="1200" b="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marL="3200400" marR="0" lvl="6" indent="-292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sz="1000" b="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marL="3657600" marR="0" lvl="7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sz="800" b="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marL="4114800" marR="0" lvl="8" indent="-2667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sz="600" b="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>
            <a:pPr marL="285750" indent="-285750">
              <a:buClrTx/>
              <a:buFont typeface="Courier New" panose="02070309020205020404" pitchFamily="49" charset="0"/>
              <a:buChar char="o"/>
            </a:pPr>
            <a:r>
              <a:rPr lang="es-ES" sz="16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El proyecto consiste en desarrollar una plataforma web moderna, responsive y fácil de usar</a:t>
            </a:r>
          </a:p>
          <a:p>
            <a:pPr marL="285750" indent="-285750">
              <a:buClrTx/>
              <a:buFont typeface="Courier New" panose="02070309020205020404" pitchFamily="49" charset="0"/>
              <a:buChar char="o"/>
            </a:pPr>
            <a:r>
              <a:rPr lang="es-ES" sz="16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El sistema busca resolver la dependencia actual de herramientas manuales </a:t>
            </a:r>
          </a:p>
          <a:p>
            <a:pPr marL="0" indent="0">
              <a:buNone/>
            </a:pPr>
            <a:endParaRPr lang="es-CL" sz="1600" dirty="0">
              <a:solidFill>
                <a:srgbClr val="002060"/>
              </a:solidFill>
              <a:latin typeface="Arial" charset="0"/>
              <a:ea typeface="Arial" charset="0"/>
              <a:cs typeface="Arial" charset="0"/>
            </a:endParaRPr>
          </a:p>
          <a:p>
            <a:pPr marL="285750" indent="-285750">
              <a:buFontTx/>
              <a:buChar char="-"/>
            </a:pPr>
            <a:endParaRPr lang="es-CL" sz="1600" dirty="0">
              <a:solidFill>
                <a:srgbClr val="002060"/>
              </a:solidFill>
              <a:latin typeface="Arial" charset="0"/>
              <a:ea typeface="Arial" charset="0"/>
              <a:cs typeface="Arial" charset="0"/>
            </a:endParaRPr>
          </a:p>
          <a:p>
            <a:pPr marL="0" indent="0">
              <a:buNone/>
            </a:pPr>
            <a:endParaRPr lang="es-CL" sz="2200" dirty="0">
              <a:solidFill>
                <a:srgbClr val="002060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84F02D56-3A0E-FB56-595D-0466D355D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86200" y="6261100"/>
            <a:ext cx="4114800" cy="365125"/>
          </a:xfrm>
        </p:spPr>
        <p:txBody>
          <a:bodyPr/>
          <a:lstStyle/>
          <a:p>
            <a:r>
              <a:rPr lang="es-CL" dirty="0"/>
              <a:t>PROYECTO “Sitio Web Clínica Veterinaria Pucará”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052F0E3-82B4-9445-E86E-300A214B54DC}"/>
              </a:ext>
            </a:extLst>
          </p:cNvPr>
          <p:cNvSpPr txBox="1"/>
          <p:nvPr/>
        </p:nvSpPr>
        <p:spPr>
          <a:xfrm>
            <a:off x="-152400" y="785232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b="1" dirty="0"/>
              <a:t>INTRODUCCIÓN</a:t>
            </a:r>
            <a:endParaRPr lang="es-CL" b="1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CB7E776D-E8CC-4AED-946B-119DD0E92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4650" y="1431563"/>
            <a:ext cx="3269316" cy="473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199008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FB2769D-C258-4FC0-7837-22F18EBC68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754911" y="376656"/>
            <a:ext cx="12192000" cy="8616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304704" rIns="91440" bIns="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indent="45085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tabLst>
                <a:tab pos="904875" algn="l"/>
                <a:tab pos="1717675" algn="ctr"/>
              </a:tabLst>
              <a:defRPr sz="1400" b="0" i="0" u="none" strike="noStrike" cap="none">
                <a:solidFill>
                  <a:schemeClr val="tx1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defRPr>
            </a:lvl1pPr>
            <a:lvl2pPr marR="0" lvl="1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tabLst>
                <a:tab pos="904875" algn="l"/>
                <a:tab pos="1717675" algn="ctr"/>
              </a:tabLst>
              <a:defRPr sz="1400" b="0" i="0" u="none" strike="noStrike" cap="none">
                <a:solidFill>
                  <a:schemeClr val="tx1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defRPr>
            </a:lvl2pPr>
            <a:lvl3pPr marR="0" lvl="2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tabLst>
                <a:tab pos="904875" algn="l"/>
                <a:tab pos="1717675" algn="ctr"/>
              </a:tabLst>
              <a:defRPr sz="1400" b="0" i="0" u="none" strike="noStrike" cap="none">
                <a:solidFill>
                  <a:schemeClr val="tx1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defRPr>
            </a:lvl3pPr>
            <a:lvl4pPr marR="0" lvl="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tabLst>
                <a:tab pos="904875" algn="l"/>
                <a:tab pos="1717675" algn="ctr"/>
              </a:tabLst>
              <a:defRPr sz="1400" b="0" i="0" u="none" strike="noStrike" cap="none">
                <a:solidFill>
                  <a:schemeClr val="tx1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defRPr>
            </a:lvl4pPr>
            <a:lvl5pPr marR="0" lvl="4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tabLst>
                <a:tab pos="904875" algn="l"/>
                <a:tab pos="1717675" algn="ctr"/>
              </a:tabLst>
              <a:defRPr sz="1400" b="0" i="0" u="none" strike="noStrike" cap="none">
                <a:solidFill>
                  <a:schemeClr val="tx1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defRPr>
            </a:lvl5pPr>
            <a:lvl6pPr marR="0" lvl="5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tabLst>
                <a:tab pos="904875" algn="l"/>
                <a:tab pos="1717675" algn="ctr"/>
              </a:tabLst>
              <a:defRPr sz="1400" b="0" i="0" u="none" strike="noStrike" cap="none">
                <a:solidFill>
                  <a:schemeClr val="tx1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defRPr>
            </a:lvl6pPr>
            <a:lvl7pPr marR="0" lvl="6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tabLst>
                <a:tab pos="904875" algn="l"/>
                <a:tab pos="1717675" algn="ctr"/>
              </a:tabLst>
              <a:defRPr sz="1400" b="0" i="0" u="none" strike="noStrike" cap="none">
                <a:solidFill>
                  <a:schemeClr val="tx1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defRPr>
            </a:lvl7pPr>
            <a:lvl8pPr marR="0" lvl="7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tabLst>
                <a:tab pos="904875" algn="l"/>
                <a:tab pos="1717675" algn="ctr"/>
              </a:tabLst>
              <a:defRPr sz="1400" b="0" i="0" u="none" strike="noStrike" cap="none">
                <a:solidFill>
                  <a:schemeClr val="tx1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defRPr>
            </a:lvl8pPr>
            <a:lvl9pPr marR="0" lvl="8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tabLst>
                <a:tab pos="904875" algn="l"/>
                <a:tab pos="1717675" algn="ctr"/>
              </a:tabLst>
              <a:defRPr sz="1400" b="0" i="0" u="none" strike="noStrike" cap="none">
                <a:solidFill>
                  <a:schemeClr val="tx1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defRPr>
            </a:lvl9pPr>
          </a:lstStyle>
          <a:p>
            <a:pPr algn="ctr">
              <a:buClrTx/>
              <a:buFontTx/>
              <a:buNone/>
            </a:pPr>
            <a:r>
              <a:rPr lang="es-ES" altLang="es-ES" sz="3600" b="1" dirty="0" bmk="">
                <a:latin typeface="+mn-lt"/>
                <a:ea typeface="Times New Roman" panose="02020603050405020304" pitchFamily="18" charset="0"/>
                <a:cs typeface="Arial" panose="020B0604020202020204" pitchFamily="34" charset="0"/>
              </a:rPr>
              <a:t>PROBLEMA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EF6508E-6C76-4833-916F-393C8DF9F6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703" y="1619249"/>
            <a:ext cx="3474700" cy="4376319"/>
          </a:xfrm>
          <a:prstGeom prst="rect">
            <a:avLst/>
          </a:prstGeom>
        </p:spPr>
      </p:pic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C3015D47-F627-4CA5-93D1-EBC4B4B54D08}"/>
              </a:ext>
            </a:extLst>
          </p:cNvPr>
          <p:cNvSpPr txBox="1">
            <a:spLocks/>
          </p:cNvSpPr>
          <p:nvPr/>
        </p:nvSpPr>
        <p:spPr>
          <a:xfrm>
            <a:off x="6276975" y="2262187"/>
            <a:ext cx="5048250" cy="233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sz="2400" b="0" i="0" u="none" strike="noStrike" cap="non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sz="2000" b="0" i="0" u="none" strike="noStrike" cap="non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sz="1800" b="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sz="1600" b="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sz="1400" b="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sz="1200" b="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marL="3200400" marR="0" lvl="6" indent="-292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sz="1000" b="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marL="3657600" marR="0" lvl="7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sz="800" b="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marL="4114800" marR="0" lvl="8" indent="-2667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sz="600" b="0" i="0" u="none" strike="noStrik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>
            <a:pPr marL="285750" indent="-285750">
              <a:buClrTx/>
              <a:buFont typeface="Courier New" panose="02070309020205020404" pitchFamily="49" charset="0"/>
              <a:buChar char="o"/>
            </a:pPr>
            <a:r>
              <a:rPr lang="es-ES" sz="16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La Clínica Veterinaria Pucará opera con procesos manuales </a:t>
            </a:r>
          </a:p>
          <a:p>
            <a:pPr marL="285750" indent="-285750">
              <a:buClrTx/>
              <a:buFont typeface="Courier New" panose="02070309020205020404" pitchFamily="49" charset="0"/>
              <a:buChar char="o"/>
            </a:pPr>
            <a:endParaRPr lang="es-ES" sz="1600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  <a:p>
            <a:pPr marL="285750" indent="-285750">
              <a:buClrTx/>
              <a:buFont typeface="Courier New" panose="02070309020205020404" pitchFamily="49" charset="0"/>
              <a:buChar char="o"/>
            </a:pPr>
            <a:r>
              <a:rPr lang="es-ES" sz="16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La clínica requiere una plataforma digital adaptable y eficiente, una solución a medida.</a:t>
            </a:r>
            <a:endParaRPr lang="es-CL" sz="1600" dirty="0">
              <a:solidFill>
                <a:srgbClr val="002060"/>
              </a:solidFill>
              <a:latin typeface="Arial" charset="0"/>
              <a:ea typeface="Arial" charset="0"/>
              <a:cs typeface="Arial" charset="0"/>
            </a:endParaRPr>
          </a:p>
          <a:p>
            <a:pPr marL="285750" indent="-285750">
              <a:buFontTx/>
              <a:buChar char="-"/>
            </a:pPr>
            <a:endParaRPr lang="es-CL" sz="1600" dirty="0">
              <a:solidFill>
                <a:srgbClr val="002060"/>
              </a:solidFill>
              <a:latin typeface="Arial" charset="0"/>
              <a:ea typeface="Arial" charset="0"/>
              <a:cs typeface="Arial" charset="0"/>
            </a:endParaRPr>
          </a:p>
          <a:p>
            <a:pPr marL="0" indent="0">
              <a:buNone/>
            </a:pPr>
            <a:endParaRPr lang="es-CL" sz="2200" dirty="0">
              <a:solidFill>
                <a:srgbClr val="002060"/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444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1" y="124412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b="1" dirty="0"/>
              <a:t>OBJETIVO GENERAL</a:t>
            </a:r>
            <a:endParaRPr lang="es-CL" b="1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08D4A171-2FE3-5173-34E6-9DC3D74E7376}"/>
              </a:ext>
            </a:extLst>
          </p:cNvPr>
          <p:cNvSpPr/>
          <p:nvPr/>
        </p:nvSpPr>
        <p:spPr>
          <a:xfrm>
            <a:off x="614890" y="2809875"/>
            <a:ext cx="5795436" cy="24642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Desarrollar un sistema web que centralice la información de pacientes, propietarios y atenciones, permitiendo gestión de agenda y generación automática de certificados.</a:t>
            </a:r>
            <a:endParaRPr lang="es-CL" dirty="0"/>
          </a:p>
        </p:txBody>
      </p:sp>
      <p:pic>
        <p:nvPicPr>
          <p:cNvPr id="1031" name="Picture 7" descr="Objetivo con icono de flecha Flecha golpeó el centro del objetivo | Vector  Premium">
            <a:extLst>
              <a:ext uri="{FF2B5EF4-FFF2-40B4-BE49-F238E27FC236}">
                <a16:creationId xmlns:a16="http://schemas.microsoft.com/office/drawing/2014/main" id="{EF01CDDE-575B-4F08-BED8-B05DB81F01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6484" y="2141679"/>
            <a:ext cx="3800626" cy="3800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7669782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795C7EFB-E4CB-48EB-AB50-B423C56AD9C8}"/>
              </a:ext>
            </a:extLst>
          </p:cNvPr>
          <p:cNvSpPr txBox="1"/>
          <p:nvPr/>
        </p:nvSpPr>
        <p:spPr>
          <a:xfrm>
            <a:off x="0" y="128209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600" b="1" dirty="0"/>
              <a:t>OBJETIVOS ESPECIFICOS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65A07205-B763-47DB-BA50-ADA1FF02535F}"/>
              </a:ext>
            </a:extLst>
          </p:cNvPr>
          <p:cNvSpPr/>
          <p:nvPr/>
        </p:nvSpPr>
        <p:spPr>
          <a:xfrm>
            <a:off x="6315075" y="2305050"/>
            <a:ext cx="5195729" cy="345757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Courier New" panose="02070309020205020404" pitchFamily="49" charset="0"/>
              <a:buChar char="o"/>
            </a:pPr>
            <a:endParaRPr lang="es-E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dirty="0"/>
              <a:t>Implementar fichas clínicas digitales.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dirty="0"/>
              <a:t>Crear módulo de agenda con horarios configurables.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dirty="0"/>
              <a:t>Generar certificados, recetas y documentos automáticamente.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dirty="0"/>
              <a:t>Validar el sistema con la clínica en entorno de prueba.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dirty="0"/>
              <a:t>Capacitar al personal y entregar documentación completa</a:t>
            </a:r>
            <a:endParaRPr lang="es-CL" dirty="0"/>
          </a:p>
          <a:p>
            <a:pPr algn="ctr"/>
            <a:endParaRPr lang="es-CL" dirty="0"/>
          </a:p>
        </p:txBody>
      </p:sp>
      <p:pic>
        <p:nvPicPr>
          <p:cNvPr id="3074" name="Picture 2" descr="Objetivos específicos">
            <a:extLst>
              <a:ext uri="{FF2B5EF4-FFF2-40B4-BE49-F238E27FC236}">
                <a16:creationId xmlns:a16="http://schemas.microsoft.com/office/drawing/2014/main" id="{5FD8651C-1468-4D24-9D60-D2CF4934C3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200274"/>
            <a:ext cx="2290410" cy="2944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792671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b="1" dirty="0"/>
              <a:t>ALCANCES DEL PROYECTO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C2F92AA0-86AF-AF9D-D9B9-C13118C0B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PROYECTO “NOMBRE DEL PROYECTO”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2756877-68C0-4FFC-BFEB-98515455B814}"/>
              </a:ext>
            </a:extLst>
          </p:cNvPr>
          <p:cNvSpPr txBox="1"/>
          <p:nvPr/>
        </p:nvSpPr>
        <p:spPr>
          <a:xfrm>
            <a:off x="1209673" y="3031194"/>
            <a:ext cx="50196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dirty="0"/>
              <a:t>Registro de propietarios y pacientes.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dirty="0"/>
              <a:t>Fichas clínicas digitales.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dirty="0"/>
              <a:t>Agenda de citas.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dirty="0"/>
              <a:t>Certificados y recetas médicas.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dirty="0"/>
              <a:t>Usuarios y roles.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dirty="0"/>
              <a:t>Arquitectura escalable.</a:t>
            </a:r>
          </a:p>
        </p:txBody>
      </p:sp>
      <p:pic>
        <p:nvPicPr>
          <p:cNvPr id="4098" name="Picture 2" descr="El alcance, su importancia y eficacia – deGerencia.com">
            <a:extLst>
              <a:ext uri="{FF2B5EF4-FFF2-40B4-BE49-F238E27FC236}">
                <a16:creationId xmlns:a16="http://schemas.microsoft.com/office/drawing/2014/main" id="{24B8933C-CEB3-429B-BCD9-17021E534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1852" y="2372108"/>
            <a:ext cx="4800600" cy="3404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9956469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874572F5-FD66-4465-BDB4-B1E75B6EA1E3}"/>
              </a:ext>
            </a:extLst>
          </p:cNvPr>
          <p:cNvSpPr txBox="1"/>
          <p:nvPr/>
        </p:nvSpPr>
        <p:spPr>
          <a:xfrm>
            <a:off x="3048000" y="108215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600" b="1" dirty="0"/>
              <a:t>LIMITACIONES DEL PROYECTO</a:t>
            </a:r>
            <a:endParaRPr lang="es-CL" sz="3600" b="1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69D44F2-9877-4237-844F-0871A9F150CB}"/>
              </a:ext>
            </a:extLst>
          </p:cNvPr>
          <p:cNvSpPr txBox="1"/>
          <p:nvPr/>
        </p:nvSpPr>
        <p:spPr>
          <a:xfrm>
            <a:off x="838199" y="2908460"/>
            <a:ext cx="666750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dirty="0"/>
              <a:t>No incluye módulo de inventario médico.</a:t>
            </a:r>
          </a:p>
          <a:p>
            <a:endParaRPr lang="es-E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dirty="0"/>
              <a:t>No contempla integración con sistemas externos.</a:t>
            </a:r>
          </a:p>
          <a:p>
            <a:endParaRPr lang="es-E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dirty="0"/>
              <a:t>App móvil nativa fuera del alcance (solo responsive para clientes).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089CDA1C-C9A5-4AA1-AB33-8F2DE1483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7879" y="1728490"/>
            <a:ext cx="2816371" cy="4297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354337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DCAC5-CA26-DFF1-48AB-3D748AF23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1AA39138-0A2B-3F73-8D11-B9940E55E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7FB3E2F-56B6-37A4-5A2F-EE2954751E42}"/>
              </a:ext>
            </a:extLst>
          </p:cNvPr>
          <p:cNvSpPr txBox="1"/>
          <p:nvPr/>
        </p:nvSpPr>
        <p:spPr>
          <a:xfrm>
            <a:off x="1" y="970468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600" b="1" dirty="0" bmk="">
                <a:cs typeface="Arial" panose="020B0604020202020204" pitchFamily="34" charset="0"/>
              </a:rPr>
              <a:t>PROPUESTA DE SOLUCION</a:t>
            </a:r>
            <a:endParaRPr lang="es-CL" b="1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CF061DA-89D0-114A-05FF-9CF2C26A8C7E}"/>
              </a:ext>
            </a:extLst>
          </p:cNvPr>
          <p:cNvSpPr txBox="1"/>
          <p:nvPr/>
        </p:nvSpPr>
        <p:spPr>
          <a:xfrm>
            <a:off x="657073" y="1811338"/>
            <a:ext cx="3895877" cy="34163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ES" dirty="0"/>
              <a:t>Plataforma web que integra:</a:t>
            </a:r>
          </a:p>
          <a:p>
            <a:endParaRPr lang="es-E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dirty="0"/>
              <a:t>Gestión completa de pacientes y propietarios.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dirty="0"/>
              <a:t>Registro de atenciones clínicas con historial.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dirty="0"/>
              <a:t>Agenda online con disponibilidad en tiempo real.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dirty="0"/>
              <a:t>Generación automática de certificados, recetas y presupuestos.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dirty="0"/>
              <a:t>Roles: administrador, veterinario y usuario.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6A4C115-C758-46BB-9DE4-A8AD06FDC9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1826" y="2228849"/>
            <a:ext cx="6611732" cy="2817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272095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94841-FA31-2D8C-DBF5-375861782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EBAC45A0-B54D-A699-D7AD-0FC9218EAD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55C143A6-90E7-2F59-4F1A-D7CAF3F96260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b="1" dirty="0"/>
              <a:t>METODOLOGIA</a:t>
            </a:r>
            <a:endParaRPr lang="es-CL" b="1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008634F-722A-7955-D7AD-FC944BC87CD6}"/>
              </a:ext>
            </a:extLst>
          </p:cNvPr>
          <p:cNvSpPr txBox="1"/>
          <p:nvPr/>
        </p:nvSpPr>
        <p:spPr>
          <a:xfrm>
            <a:off x="837777" y="2725756"/>
            <a:ext cx="458194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SCRUM Adaptado</a:t>
            </a:r>
          </a:p>
          <a:p>
            <a:endParaRPr lang="es-E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dirty="0" err="1"/>
              <a:t>Sprints</a:t>
            </a:r>
            <a:r>
              <a:rPr lang="es-ES" dirty="0"/>
              <a:t> quincenales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dirty="0"/>
              <a:t>Reuniones breves de avance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dirty="0"/>
              <a:t>Roles definidos: PM y Dev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dirty="0"/>
              <a:t>Entregables incrementales por sprint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dirty="0"/>
              <a:t>Validación continua con la clienta</a:t>
            </a:r>
          </a:p>
        </p:txBody>
      </p:sp>
      <p:sp>
        <p:nvSpPr>
          <p:cNvPr id="12" name="Marcador de pie de página 11">
            <a:extLst>
              <a:ext uri="{FF2B5EF4-FFF2-40B4-BE49-F238E27FC236}">
                <a16:creationId xmlns:a16="http://schemas.microsoft.com/office/drawing/2014/main" id="{65C369E9-11B7-9782-F687-3A5442D08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PROYECTO “NOMBRE DEL PROYECTO”</a:t>
            </a:r>
          </a:p>
        </p:txBody>
      </p:sp>
      <p:pic>
        <p:nvPicPr>
          <p:cNvPr id="6148" name="Picture 4" descr="Agil Scrum Animaciones – Descarga Gratis en GIF, Lottie JSON">
            <a:extLst>
              <a:ext uri="{FF2B5EF4-FFF2-40B4-BE49-F238E27FC236}">
                <a16:creationId xmlns:a16="http://schemas.microsoft.com/office/drawing/2014/main" id="{41E428CB-8429-4BF3-9CD7-60AFD6EBDF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6075" y="2356864"/>
            <a:ext cx="3810000" cy="2931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1601162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812078-C25D-46BC-AF5A-054C3E2E8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3253" y="5219606"/>
            <a:ext cx="2495549" cy="973231"/>
          </a:xfrm>
        </p:spPr>
        <p:txBody>
          <a:bodyPr>
            <a:normAutofit fontScale="55000" lnSpcReduction="20000"/>
          </a:bodyPr>
          <a:lstStyle/>
          <a:p>
            <a:pPr marL="0" indent="0" algn="ctr">
              <a:buNone/>
            </a:pPr>
            <a:r>
              <a:rPr lang="es-ES" sz="3100" b="1" dirty="0"/>
              <a:t>Mario Garrido</a:t>
            </a:r>
            <a:r>
              <a:rPr lang="es-ES" sz="3100" dirty="0"/>
              <a:t>  </a:t>
            </a:r>
          </a:p>
          <a:p>
            <a:pPr marL="0" indent="0">
              <a:buNone/>
            </a:pPr>
            <a:r>
              <a:rPr lang="es-ES" sz="3100" dirty="0"/>
              <a:t>Desarrollador principal, arquitectura, </a:t>
            </a:r>
            <a:r>
              <a:rPr lang="es-ES" sz="3100" dirty="0" err="1"/>
              <a:t>frontend</a:t>
            </a:r>
            <a:r>
              <a:rPr lang="es-ES" sz="3100" dirty="0"/>
              <a:t> y </a:t>
            </a:r>
            <a:r>
              <a:rPr lang="es-ES" sz="3100" dirty="0" err="1"/>
              <a:t>backend</a:t>
            </a:r>
            <a:r>
              <a:rPr lang="es-ES" sz="3100" dirty="0"/>
              <a:t>.</a:t>
            </a:r>
          </a:p>
          <a:p>
            <a:endParaRPr lang="es-CL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BBA38F8-0E2C-4DEC-96B7-1C6E18BB3BC9}"/>
              </a:ext>
            </a:extLst>
          </p:cNvPr>
          <p:cNvSpPr txBox="1"/>
          <p:nvPr/>
        </p:nvSpPr>
        <p:spPr>
          <a:xfrm>
            <a:off x="0" y="1202358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b="1" dirty="0"/>
              <a:t>NUESTRO EQUIPO</a:t>
            </a:r>
            <a:endParaRPr lang="es-CL" b="1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FC36E27-8BC8-43B3-ACCE-6F533B8D2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961" y="2400300"/>
            <a:ext cx="2586351" cy="2659592"/>
          </a:xfrm>
          <a:prstGeom prst="rect">
            <a:avLst/>
          </a:prstGeom>
        </p:spPr>
      </p:pic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D6C87D63-2810-46DB-953D-5DED9864DCEA}"/>
              </a:ext>
            </a:extLst>
          </p:cNvPr>
          <p:cNvSpPr txBox="1">
            <a:spLocks/>
          </p:cNvSpPr>
          <p:nvPr/>
        </p:nvSpPr>
        <p:spPr>
          <a:xfrm>
            <a:off x="7200960" y="5219606"/>
            <a:ext cx="2586351" cy="87692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ES" sz="2000" b="1" dirty="0"/>
              <a:t>Saúl Ávila</a:t>
            </a:r>
            <a:r>
              <a:rPr lang="es-ES" sz="2000" dirty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ES" sz="2000" dirty="0"/>
              <a:t> PM, documentación, toma de requerimientos, QA.</a:t>
            </a:r>
          </a:p>
          <a:p>
            <a:endParaRPr lang="es-CL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8520D23A-AF24-434D-9029-A6DF742C9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1016" y="2253611"/>
            <a:ext cx="2800024" cy="2806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244226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1" y="992902"/>
            <a:ext cx="12191999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MX" sz="3600" b="1" dirty="0"/>
              <a:t>CRONOGRAMA POR FASES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E69D9683-12DD-56AA-CB5F-A73503AAC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PROYECTO “NOMBRE DEL PROYECTO”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1298A6A-A476-416C-A859-4FEC15088D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258" y="2220021"/>
            <a:ext cx="11544300" cy="3161545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8C7866A9-C146-4AEA-B154-AD68B63390F8}"/>
              </a:ext>
            </a:extLst>
          </p:cNvPr>
          <p:cNvSpPr txBox="1"/>
          <p:nvPr/>
        </p:nvSpPr>
        <p:spPr>
          <a:xfrm>
            <a:off x="45408" y="5830373"/>
            <a:ext cx="12191999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MX" sz="2800" dirty="0"/>
              <a:t>FASES 1</a:t>
            </a:r>
          </a:p>
        </p:txBody>
      </p:sp>
    </p:spTree>
    <p:extLst>
      <p:ext uri="{BB962C8B-B14F-4D97-AF65-F5344CB8AC3E}">
        <p14:creationId xmlns:p14="http://schemas.microsoft.com/office/powerpoint/2010/main" val="3324313383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38F35A58-C0BA-4B8D-B78F-86A70EA4E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04" y="1924050"/>
            <a:ext cx="11364800" cy="3785136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B116A69E-E86A-4C2D-B761-1CC7FAF03E73}"/>
              </a:ext>
            </a:extLst>
          </p:cNvPr>
          <p:cNvSpPr txBox="1"/>
          <p:nvPr/>
        </p:nvSpPr>
        <p:spPr>
          <a:xfrm>
            <a:off x="45408" y="5830373"/>
            <a:ext cx="12191999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MX" sz="2800" dirty="0"/>
              <a:t>FASES 2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EF51E35-94E2-467B-A917-78B2E0EFF694}"/>
              </a:ext>
            </a:extLst>
          </p:cNvPr>
          <p:cNvSpPr txBox="1"/>
          <p:nvPr/>
        </p:nvSpPr>
        <p:spPr>
          <a:xfrm>
            <a:off x="1" y="992902"/>
            <a:ext cx="12191999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MX" sz="3600" b="1" dirty="0"/>
              <a:t>CRONOGRAMA POR FASES</a:t>
            </a:r>
          </a:p>
        </p:txBody>
      </p:sp>
    </p:spTree>
    <p:extLst>
      <p:ext uri="{BB962C8B-B14F-4D97-AF65-F5344CB8AC3E}">
        <p14:creationId xmlns:p14="http://schemas.microsoft.com/office/powerpoint/2010/main" val="1411492039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09CED64B-4161-40F0-8AFC-3C6BF4838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75" y="2167163"/>
            <a:ext cx="11296650" cy="2740911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D52ADE26-2965-4985-A614-62A63C83934A}"/>
              </a:ext>
            </a:extLst>
          </p:cNvPr>
          <p:cNvSpPr txBox="1"/>
          <p:nvPr/>
        </p:nvSpPr>
        <p:spPr>
          <a:xfrm>
            <a:off x="45408" y="5830373"/>
            <a:ext cx="12191999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MX" sz="2800" dirty="0"/>
              <a:t>FASES 3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55BF684-188B-4C9E-9F60-0502D61D7EA4}"/>
              </a:ext>
            </a:extLst>
          </p:cNvPr>
          <p:cNvSpPr txBox="1"/>
          <p:nvPr/>
        </p:nvSpPr>
        <p:spPr>
          <a:xfrm>
            <a:off x="1" y="992902"/>
            <a:ext cx="12191999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MX" sz="3600" b="1" dirty="0"/>
              <a:t>CRONOGRAMA POR FASES</a:t>
            </a:r>
          </a:p>
        </p:txBody>
      </p:sp>
    </p:spTree>
    <p:extLst>
      <p:ext uri="{BB962C8B-B14F-4D97-AF65-F5344CB8AC3E}">
        <p14:creationId xmlns:p14="http://schemas.microsoft.com/office/powerpoint/2010/main" val="1083638909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6A72F-3A41-8885-1F63-DB7E7A572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62521CDE-6D7E-508B-B65E-B05F1B591E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9A6F3AF-FE77-ACA5-0FFD-B0989DAA3CDC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b="1" dirty="0"/>
              <a:t>ARQUITECTURA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0CC629C-17A1-8D46-EB93-4E4E8F525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PROYECTO “NOMBRE DEL PROYECTO”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9A595A1-5A09-4332-A532-88F49B80C002}"/>
              </a:ext>
            </a:extLst>
          </p:cNvPr>
          <p:cNvSpPr txBox="1"/>
          <p:nvPr/>
        </p:nvSpPr>
        <p:spPr>
          <a:xfrm>
            <a:off x="2079374" y="2707105"/>
            <a:ext cx="8263481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/>
              <a:t>Arquitectura del Sistema – Clínica Veterinaria Pucará</a:t>
            </a:r>
            <a:endParaRPr lang="es-CL" dirty="0"/>
          </a:p>
          <a:p>
            <a:r>
              <a:rPr lang="es-CL" dirty="0"/>
              <a:t>Arquitectura </a:t>
            </a:r>
            <a:r>
              <a:rPr lang="es-CL" b="1" dirty="0"/>
              <a:t>Cliente–Servidor</a:t>
            </a:r>
            <a:r>
              <a:rPr lang="es-CL" dirty="0"/>
              <a:t>.</a:t>
            </a:r>
          </a:p>
          <a:p>
            <a:r>
              <a:rPr lang="es-CL" b="1" dirty="0" err="1"/>
              <a:t>Frontend</a:t>
            </a:r>
            <a:r>
              <a:rPr lang="es-CL" b="1" dirty="0"/>
              <a:t> SPA</a:t>
            </a:r>
            <a:r>
              <a:rPr lang="es-CL" dirty="0"/>
              <a:t> con HTML, CSS, JS y Bootstrap.</a:t>
            </a:r>
          </a:p>
          <a:p>
            <a:r>
              <a:rPr lang="es-CL" dirty="0"/>
              <a:t>Carga dinámica de vistas (mascotas, propietarios, citas, registros, etc.).</a:t>
            </a:r>
          </a:p>
          <a:p>
            <a:r>
              <a:rPr lang="es-CL" b="1" dirty="0" err="1"/>
              <a:t>Backend</a:t>
            </a:r>
            <a:r>
              <a:rPr lang="es-CL" b="1" dirty="0"/>
              <a:t> API REST</a:t>
            </a:r>
            <a:r>
              <a:rPr lang="es-CL" dirty="0"/>
              <a:t> en Node.js + Express.</a:t>
            </a:r>
          </a:p>
          <a:p>
            <a:r>
              <a:rPr lang="es-CL" b="1" dirty="0"/>
              <a:t>Base de Datos MySQL</a:t>
            </a:r>
            <a:r>
              <a:rPr lang="es-CL" dirty="0"/>
              <a:t> con tablas para mascotas, propietarios, citas y registros clínicos.</a:t>
            </a:r>
          </a:p>
          <a:p>
            <a:r>
              <a:rPr lang="es-CL" dirty="0"/>
              <a:t>Autenticación mediante </a:t>
            </a:r>
            <a:r>
              <a:rPr lang="es-CL" b="1" dirty="0"/>
              <a:t>JWT</a:t>
            </a:r>
            <a:r>
              <a:rPr lang="es-CL" dirty="0"/>
              <a:t> y protección de rutas.</a:t>
            </a:r>
          </a:p>
          <a:p>
            <a:r>
              <a:rPr lang="es-CL" dirty="0"/>
              <a:t>Flujo general:</a:t>
            </a:r>
            <a:br>
              <a:rPr lang="es-CL" dirty="0"/>
            </a:br>
            <a:r>
              <a:rPr lang="es-CL" b="1" dirty="0"/>
              <a:t>Cliente Web → API REST → MySQL</a:t>
            </a:r>
            <a:r>
              <a:rPr lang="es-CL" dirty="0"/>
              <a:t>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721745747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Node Js Advantages And Disadvantages - Codetru">
            <a:extLst>
              <a:ext uri="{FF2B5EF4-FFF2-40B4-BE49-F238E27FC236}">
                <a16:creationId xmlns:a16="http://schemas.microsoft.com/office/drawing/2014/main" id="{A8760FD0-B247-4719-9035-39B6EEE6C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8734" y="5672907"/>
            <a:ext cx="933698" cy="933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MySQL logo PNG transparent image download, size: 1280x1280px">
            <a:extLst>
              <a:ext uri="{FF2B5EF4-FFF2-40B4-BE49-F238E27FC236}">
                <a16:creationId xmlns:a16="http://schemas.microsoft.com/office/drawing/2014/main" id="{08093616-8FFE-4A77-937D-BD723A78E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9544" y="5672906"/>
            <a:ext cx="852261" cy="852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 descr="Html, Css And Javascript Logo - Html5 Css3 Js Logo Clipart - Large Size Png  Image - PikPng">
            <a:extLst>
              <a:ext uri="{FF2B5EF4-FFF2-40B4-BE49-F238E27FC236}">
                <a16:creationId xmlns:a16="http://schemas.microsoft.com/office/drawing/2014/main" id="{043F282F-F511-40B2-8015-90EFCEA80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4828" y="5591262"/>
            <a:ext cx="2397456" cy="933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F122FE9D-5202-414B-9910-64E788014F7B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b="1" dirty="0"/>
              <a:t>TECNOLOGIAS UTILIZADAS</a:t>
            </a:r>
          </a:p>
        </p:txBody>
      </p:sp>
      <p:pic>
        <p:nvPicPr>
          <p:cNvPr id="7180" name="Picture 12" descr="Bootstrap Original Wordmark PNG Logo — Download Free Transparent Logo">
            <a:extLst>
              <a:ext uri="{FF2B5EF4-FFF2-40B4-BE49-F238E27FC236}">
                <a16:creationId xmlns:a16="http://schemas.microsoft.com/office/drawing/2014/main" id="{68E08E9C-85B7-4EB2-96CA-F7C00428F5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8387" y="5795110"/>
            <a:ext cx="730058" cy="730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6F319DAC-543E-7E99-F3C3-E75D1A77B437}"/>
              </a:ext>
            </a:extLst>
          </p:cNvPr>
          <p:cNvSpPr txBox="1"/>
          <p:nvPr/>
        </p:nvSpPr>
        <p:spPr>
          <a:xfrm>
            <a:off x="1438915" y="2470691"/>
            <a:ext cx="418698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err="1"/>
              <a:t>Frontend</a:t>
            </a:r>
            <a:r>
              <a:rPr lang="es-CL" b="1" dirty="0"/>
              <a:t>:</a:t>
            </a:r>
            <a:endParaRPr lang="es-CL" dirty="0"/>
          </a:p>
          <a:p>
            <a:r>
              <a:rPr lang="es-CL" dirty="0"/>
              <a:t>HTML5, CSS3, JavaScript (ES6)</a:t>
            </a:r>
          </a:p>
          <a:p>
            <a:r>
              <a:rPr lang="es-CL" dirty="0"/>
              <a:t>Bootstrap</a:t>
            </a:r>
          </a:p>
          <a:p>
            <a:r>
              <a:rPr lang="es-CL" dirty="0" err="1"/>
              <a:t>Fetch</a:t>
            </a:r>
            <a:r>
              <a:rPr lang="es-CL" dirty="0"/>
              <a:t> API</a:t>
            </a:r>
          </a:p>
          <a:p>
            <a:r>
              <a:rPr lang="es-CL" b="1" dirty="0" err="1"/>
              <a:t>Backend</a:t>
            </a:r>
            <a:r>
              <a:rPr lang="es-CL" b="1" dirty="0"/>
              <a:t>:</a:t>
            </a:r>
            <a:endParaRPr lang="es-CL" dirty="0"/>
          </a:p>
          <a:p>
            <a:r>
              <a:rPr lang="es-CL" dirty="0"/>
              <a:t>Node.js</a:t>
            </a:r>
          </a:p>
          <a:p>
            <a:r>
              <a:rPr lang="es-CL" dirty="0"/>
              <a:t>Express.js</a:t>
            </a:r>
          </a:p>
          <a:p>
            <a:endParaRPr lang="es-CL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2D8261A-36A7-2E7A-39F0-FC6C9E9A2E36}"/>
              </a:ext>
            </a:extLst>
          </p:cNvPr>
          <p:cNvSpPr txBox="1"/>
          <p:nvPr/>
        </p:nvSpPr>
        <p:spPr>
          <a:xfrm>
            <a:off x="7006967" y="2470691"/>
            <a:ext cx="418698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/>
              <a:t>Base de Datos:</a:t>
            </a:r>
            <a:endParaRPr lang="es-CL" dirty="0"/>
          </a:p>
          <a:p>
            <a:r>
              <a:rPr lang="es-CL" dirty="0"/>
              <a:t>MySQL</a:t>
            </a:r>
          </a:p>
          <a:p>
            <a:r>
              <a:rPr lang="es-CL" b="1" dirty="0"/>
              <a:t>Otros:</a:t>
            </a:r>
            <a:endParaRPr lang="es-CL" dirty="0"/>
          </a:p>
          <a:p>
            <a:r>
              <a:rPr lang="es-CL" dirty="0"/>
              <a:t>JSON Web Tokens (JWT)</a:t>
            </a:r>
          </a:p>
          <a:p>
            <a:r>
              <a:rPr lang="es-CL" dirty="0"/>
              <a:t>Manejo de archivos (fotos de mascotas)</a:t>
            </a:r>
          </a:p>
          <a:p>
            <a:r>
              <a:rPr lang="es-CL" dirty="0" err="1"/>
              <a:t>Router</a:t>
            </a:r>
            <a:r>
              <a:rPr lang="es-CL" dirty="0"/>
              <a:t> SPA para navegación interna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37670095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00581B8B-36FF-4E74-B036-40DCA23A3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773" y="600226"/>
            <a:ext cx="9038852" cy="6220809"/>
          </a:xfrm>
          <a:prstGeom prst="rect">
            <a:avLst/>
          </a:prstGeom>
        </p:spPr>
      </p:pic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3635168" y="207550"/>
            <a:ext cx="44401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b="1" dirty="0"/>
              <a:t>MODELO DE DATOS</a:t>
            </a:r>
          </a:p>
        </p:txBody>
      </p:sp>
    </p:spTree>
    <p:extLst>
      <p:ext uri="{BB962C8B-B14F-4D97-AF65-F5344CB8AC3E}">
        <p14:creationId xmlns:p14="http://schemas.microsoft.com/office/powerpoint/2010/main" val="2752457618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4ED60-6D9C-9328-B742-A7D217313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0653CCC0-828C-D7F0-B514-4384DE9C9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3F859BD-0021-8FB6-3052-80BE144EA131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600"/>
              <a:t>Resultados del Proyecto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A87F922-E7BE-7CC7-36D6-E6E51FE38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PROYECTO “NOMBRE DEL PROYECTO”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542CEE5-3559-6D33-F468-FADAFEDDA455}"/>
              </a:ext>
            </a:extLst>
          </p:cNvPr>
          <p:cNvSpPr txBox="1"/>
          <p:nvPr/>
        </p:nvSpPr>
        <p:spPr>
          <a:xfrm>
            <a:off x="1281347" y="2518739"/>
            <a:ext cx="998157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Resultados del Proyecto – Clínica Veterinaria Pucará</a:t>
            </a:r>
            <a:endParaRPr lang="es-ES" dirty="0"/>
          </a:p>
          <a:p>
            <a:r>
              <a:rPr lang="es-ES" dirty="0"/>
              <a:t>Plataforma web completa para administración veterinaria.</a:t>
            </a:r>
          </a:p>
          <a:p>
            <a:r>
              <a:rPr lang="es-ES" dirty="0"/>
              <a:t>Módulos funcionales:</a:t>
            </a:r>
          </a:p>
          <a:p>
            <a:pPr lvl="1"/>
            <a:r>
              <a:rPr lang="es-ES" dirty="0"/>
              <a:t>Mascotas</a:t>
            </a:r>
          </a:p>
          <a:p>
            <a:pPr lvl="1"/>
            <a:r>
              <a:rPr lang="es-ES" dirty="0"/>
              <a:t>Propietarios</a:t>
            </a:r>
          </a:p>
          <a:p>
            <a:pPr lvl="1"/>
            <a:r>
              <a:rPr lang="es-ES" dirty="0"/>
              <a:t>Citas y Calendario</a:t>
            </a:r>
          </a:p>
          <a:p>
            <a:pPr lvl="1"/>
            <a:r>
              <a:rPr lang="es-ES" dirty="0"/>
              <a:t>Urgencias</a:t>
            </a:r>
          </a:p>
          <a:p>
            <a:pPr lvl="1"/>
            <a:r>
              <a:rPr lang="es-ES" dirty="0"/>
              <a:t>Registros clínicos (consulta, control, cirugía, vacunas, etc.)</a:t>
            </a:r>
          </a:p>
          <a:p>
            <a:pPr lvl="1"/>
            <a:r>
              <a:rPr lang="es-ES" dirty="0"/>
              <a:t>Histórico</a:t>
            </a:r>
          </a:p>
          <a:p>
            <a:r>
              <a:rPr lang="es-ES" dirty="0"/>
              <a:t>Sistema de </a:t>
            </a:r>
            <a:r>
              <a:rPr lang="es-ES" b="1" dirty="0" err="1"/>
              <a:t>login</a:t>
            </a:r>
            <a:r>
              <a:rPr lang="es-ES" b="1" dirty="0"/>
              <a:t>, registro y recuperación de contraseña</a:t>
            </a:r>
            <a:r>
              <a:rPr lang="es-ES" dirty="0"/>
              <a:t>.</a:t>
            </a:r>
          </a:p>
          <a:p>
            <a:r>
              <a:rPr lang="es-ES" dirty="0"/>
              <a:t>Interfaz moderna, rápida y fácil de usar.</a:t>
            </a:r>
          </a:p>
          <a:p>
            <a:r>
              <a:rPr lang="es-ES" dirty="0"/>
              <a:t>API REST modular y lista para escalar e integrar nuevas funciones (certificados, reportes, app móvil, etc.).</a:t>
            </a:r>
          </a:p>
          <a:p>
            <a:r>
              <a:rPr lang="es-CL" dirty="0"/>
              <a:t>.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26766948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-1" y="827045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b="1" dirty="0"/>
              <a:t>DEMO</a:t>
            </a:r>
            <a:endParaRPr lang="es-CL" sz="24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37CAE2D1-98AA-DBD2-405C-B2665A255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PROYECTO “NOMBRE DEL PROYECTO”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D84B45F-7E60-465C-B03D-B7B33A526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662" y="1943085"/>
            <a:ext cx="9972675" cy="4744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174681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40342-18FA-B98C-80A6-30D722009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E0418AE1-A4AD-D529-EE1F-4C3BEB35F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98BDEDDB-F1AE-3849-D380-CFCCE6605F38}"/>
              </a:ext>
            </a:extLst>
          </p:cNvPr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b="1" dirty="0"/>
              <a:t>CONCLUSION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7982A821-2168-D79C-2F9A-3657105B1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PROYECTO “NOMBRE DEL PROYECTO”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FC37B9F-2BAB-6CA1-E807-C5A9B54E915E}"/>
              </a:ext>
            </a:extLst>
          </p:cNvPr>
          <p:cNvSpPr txBox="1"/>
          <p:nvPr/>
        </p:nvSpPr>
        <p:spPr>
          <a:xfrm>
            <a:off x="1442928" y="2406976"/>
            <a:ext cx="966623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3200" dirty="0">
                <a:latin typeface="Arial" panose="020B0604020202020204" pitchFamily="34" charset="0"/>
                <a:cs typeface="Arial" panose="020B0604020202020204" pitchFamily="34" charset="0"/>
              </a:rPr>
              <a:t>Comprende del o los productos generados para el resultado final del proyecto.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3200" dirty="0">
                <a:latin typeface="Arial" panose="020B0604020202020204" pitchFamily="34" charset="0"/>
                <a:cs typeface="Arial" panose="020B0604020202020204" pitchFamily="34" charset="0"/>
              </a:rPr>
              <a:t>Resumen de su  interpretación que generó cada resultado.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3200" dirty="0">
                <a:latin typeface="Arial" panose="020B0604020202020204" pitchFamily="34" charset="0"/>
                <a:cs typeface="Arial" panose="020B0604020202020204" pitchFamily="34" charset="0"/>
              </a:rPr>
              <a:t>Es decir, aquello que se puede interpretar basado en uno o más resultados concretos.</a:t>
            </a:r>
            <a:endParaRPr lang="es-ES_tradnl" sz="3200" dirty="0"/>
          </a:p>
        </p:txBody>
      </p:sp>
    </p:spTree>
    <p:extLst>
      <p:ext uri="{BB962C8B-B14F-4D97-AF65-F5344CB8AC3E}">
        <p14:creationId xmlns:p14="http://schemas.microsoft.com/office/powerpoint/2010/main" val="932986154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62C86-56A5-421A-49EC-B6FB58F15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0FC4DE63-D86C-37ED-A3B6-DAE1F68A2B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45DB7E3-ACB5-93B9-ACEE-7C61701D3C76}"/>
              </a:ext>
            </a:extLst>
          </p:cNvPr>
          <p:cNvSpPr txBox="1"/>
          <p:nvPr/>
        </p:nvSpPr>
        <p:spPr>
          <a:xfrm>
            <a:off x="1" y="720918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/>
              <a:t>Reflexión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7559269A-F4DB-9345-3EFF-727B0A302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PROYECTO “NOMBRE DEL PROYECTO”</a:t>
            </a:r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F5151C0A-9B71-3768-11A0-0CF45CC2FA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16371828"/>
              </p:ext>
            </p:extLst>
          </p:nvPr>
        </p:nvGraphicFramePr>
        <p:xfrm>
          <a:off x="917424" y="1842643"/>
          <a:ext cx="10357152" cy="3265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B2FA0B7B-4A95-886E-1585-1702DCCCA1CF}"/>
              </a:ext>
            </a:extLst>
          </p:cNvPr>
          <p:cNvSpPr txBox="1"/>
          <p:nvPr/>
        </p:nvSpPr>
        <p:spPr>
          <a:xfrm>
            <a:off x="2958659" y="5213752"/>
            <a:ext cx="7534274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5400" b="1">
                <a:solidFill>
                  <a:schemeClr val="accent6"/>
                </a:solidFill>
                <a:latin typeface="Dreaming Outloud Pro" panose="020F0502020204030204" pitchFamily="34" charset="0"/>
                <a:cs typeface="Dreaming Outloud Pro" panose="020F0502020204030204" pitchFamily="34" charset="0"/>
              </a:rPr>
              <a:t>Ejemplo de reflexión </a:t>
            </a:r>
          </a:p>
        </p:txBody>
      </p:sp>
    </p:spTree>
    <p:extLst>
      <p:ext uri="{BB962C8B-B14F-4D97-AF65-F5344CB8AC3E}">
        <p14:creationId xmlns:p14="http://schemas.microsoft.com/office/powerpoint/2010/main" val="3461351765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/>
              <a:t>PREGUNTAS DE LA COMISIÓN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D0190D99-6462-D075-A029-8F6592FA5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PROYECTO “NOMBRE DEL PROYECTO”</a:t>
            </a:r>
          </a:p>
        </p:txBody>
      </p:sp>
    </p:spTree>
    <p:extLst>
      <p:ext uri="{BB962C8B-B14F-4D97-AF65-F5344CB8AC3E}">
        <p14:creationId xmlns:p14="http://schemas.microsoft.com/office/powerpoint/2010/main" val="4158079731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FB496-EC21-381C-224C-5030B8CD1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1CC29CB3-921A-B5F0-802B-6DB6468531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86F04551-2CD8-3F76-B777-C23B9F8DDD02}"/>
              </a:ext>
            </a:extLst>
          </p:cNvPr>
          <p:cNvSpPr txBox="1"/>
          <p:nvPr/>
        </p:nvSpPr>
        <p:spPr>
          <a:xfrm>
            <a:off x="0" y="3044279"/>
            <a:ext cx="1219199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8800"/>
              <a:t>ANEXOS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643B80C5-0531-CD8B-2A76-001459CA4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PROYECTO “NOMBRE DEL PROYECTO”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5F1CE97-B9D5-0817-F62F-2E7596D7DF1F}"/>
              </a:ext>
            </a:extLst>
          </p:cNvPr>
          <p:cNvSpPr txBox="1"/>
          <p:nvPr/>
        </p:nvSpPr>
        <p:spPr>
          <a:xfrm>
            <a:off x="5156791" y="4805916"/>
            <a:ext cx="2959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/>
              <a:t>Opcionales a tu presentación </a:t>
            </a:r>
          </a:p>
        </p:txBody>
      </p:sp>
    </p:spTree>
    <p:extLst>
      <p:ext uri="{BB962C8B-B14F-4D97-AF65-F5344CB8AC3E}">
        <p14:creationId xmlns:p14="http://schemas.microsoft.com/office/powerpoint/2010/main" val="3997773879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3850938" y="135056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>
                <a:solidFill>
                  <a:schemeClr val="bg2">
                    <a:lumMod val="50000"/>
                  </a:schemeClr>
                </a:solidFill>
              </a:rPr>
              <a:t>PROYECTO “NOMBRE DEL PROYECTO”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/>
              <a:t>DESCRIPCIÓN DEL PROYECTO</a:t>
            </a:r>
            <a:endParaRPr lang="es-CL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5CB288BD-84B1-DF16-6004-32D5F8A61FF7}"/>
              </a:ext>
            </a:extLst>
          </p:cNvPr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/>
              <a:t>Problema o dolor</a:t>
            </a:r>
          </a:p>
          <a:p>
            <a:pPr lvl="0" algn="ctr"/>
            <a:endParaRPr lang="es-MX" u="sng"/>
          </a:p>
          <a:p>
            <a:pPr algn="just"/>
            <a:r>
              <a:rPr lang="es-MX" sz="1800"/>
              <a:t>Descripción</a:t>
            </a:r>
            <a:endParaRPr lang="es-CL" sz="1800"/>
          </a:p>
          <a:p>
            <a:pPr lvl="0" algn="ctr"/>
            <a:endParaRPr lang="es-CL" sz="1800" u="sng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DC84C5C-77A0-B2A2-F0BB-8A7713B865EA}"/>
              </a:ext>
            </a:extLst>
          </p:cNvPr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/>
              <a:t>Propuesta de solución</a:t>
            </a:r>
          </a:p>
          <a:p>
            <a:pPr lvl="0" algn="ctr"/>
            <a:endParaRPr lang="es-MX" u="sng"/>
          </a:p>
          <a:p>
            <a:pPr lvl="0" algn="just"/>
            <a:r>
              <a:rPr lang="es-MX"/>
              <a:t>Descripción</a:t>
            </a:r>
            <a:endParaRPr lang="es-CL" sz="1800"/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E4B09E7F-FBE6-31BF-0C0F-DD32DBE05724}"/>
              </a:ext>
            </a:extLst>
          </p:cNvPr>
          <p:cNvSpPr/>
          <p:nvPr/>
        </p:nvSpPr>
        <p:spPr>
          <a:xfrm>
            <a:off x="5456903" y="3736258"/>
            <a:ext cx="1140542" cy="7570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7573075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CD98BAAD-E67E-3FB9-220F-BD3AA3645F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09683936"/>
              </p:ext>
            </p:extLst>
          </p:nvPr>
        </p:nvGraphicFramePr>
        <p:xfrm>
          <a:off x="4121026" y="1710819"/>
          <a:ext cx="7633494" cy="43505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/>
              <a:t>INTEGRANTES DEL PROYECTO</a:t>
            </a:r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BAAE739-7F26-470E-607B-D260BEECA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95382" y="334066"/>
            <a:ext cx="4114800" cy="309965"/>
          </a:xfrm>
        </p:spPr>
        <p:txBody>
          <a:bodyPr/>
          <a:lstStyle/>
          <a:p>
            <a:r>
              <a:rPr lang="es-CL"/>
              <a:t>PROYECTO “NOMBRE DEL PROYECTO”</a:t>
            </a:r>
          </a:p>
        </p:txBody>
      </p:sp>
    </p:spTree>
    <p:extLst>
      <p:ext uri="{BB962C8B-B14F-4D97-AF65-F5344CB8AC3E}">
        <p14:creationId xmlns:p14="http://schemas.microsoft.com/office/powerpoint/2010/main" val="2436815989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C5201-462F-BE9C-C8A6-612BB989A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B2B44149-0F1E-FBF9-CCCA-8A40527CCC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C4B9B3AA-EB95-89B7-1641-DDC8DC02DCF2}"/>
              </a:ext>
            </a:extLst>
          </p:cNvPr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/>
              <a:t>Artefactos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68D4821C-4DFA-6D0B-F32F-F20576EDD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PROYECTO “NOMBRE DEL PROYECTO”</a:t>
            </a:r>
          </a:p>
        </p:txBody>
      </p:sp>
    </p:spTree>
    <p:extLst>
      <p:ext uri="{BB962C8B-B14F-4D97-AF65-F5344CB8AC3E}">
        <p14:creationId xmlns:p14="http://schemas.microsoft.com/office/powerpoint/2010/main" val="1837487978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ADF8E-6CAB-F2B0-1E58-26F84B4E5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EBA191C2-7999-680E-17E9-E74660C0E5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5D95F258-BD18-2A6F-264C-ED9454AD7C2E}"/>
              </a:ext>
            </a:extLst>
          </p:cNvPr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/>
              <a:t>Requerimientos 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3980DC77-AFE3-717C-3A11-192DF3FDB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PROYECTO “NOMBRE DEL PROYECTO”</a:t>
            </a:r>
          </a:p>
        </p:txBody>
      </p:sp>
    </p:spTree>
    <p:extLst>
      <p:ext uri="{BB962C8B-B14F-4D97-AF65-F5344CB8AC3E}">
        <p14:creationId xmlns:p14="http://schemas.microsoft.com/office/powerpoint/2010/main" val="3222620221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/>
              <a:t>Arquitectura  del software</a:t>
            </a:r>
          </a:p>
          <a:p>
            <a:pPr algn="ctr"/>
            <a:r>
              <a:rPr lang="es-MX" sz="2400">
                <a:solidFill>
                  <a:schemeClr val="bg2">
                    <a:lumMod val="50000"/>
                  </a:schemeClr>
                </a:solidFill>
              </a:rPr>
              <a:t>*Presentar esquema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400CE75E-604D-8CB8-975A-BDDE46573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PROYECTO “NOMBRE DEL PROYECTO”</a:t>
            </a:r>
          </a:p>
        </p:txBody>
      </p:sp>
    </p:spTree>
    <p:extLst>
      <p:ext uri="{BB962C8B-B14F-4D97-AF65-F5344CB8AC3E}">
        <p14:creationId xmlns:p14="http://schemas.microsoft.com/office/powerpoint/2010/main" val="1890491460"/>
      </p:ext>
    </p:extLst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>
                <a:solidFill>
                  <a:schemeClr val="bg2">
                    <a:lumMod val="50000"/>
                  </a:schemeClr>
                </a:solidFill>
              </a:rPr>
              <a:t>PROYECTO “NOMBRE DEL PROYECTO”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/>
              <a:t>Tecnologías utilizadas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D73E3C04-5D99-DE0C-43D0-B1A156116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PROYECTO “NOMBRE DEL PROYECTO”</a:t>
            </a:r>
          </a:p>
        </p:txBody>
      </p:sp>
    </p:spTree>
    <p:extLst>
      <p:ext uri="{BB962C8B-B14F-4D97-AF65-F5344CB8AC3E}">
        <p14:creationId xmlns:p14="http://schemas.microsoft.com/office/powerpoint/2010/main" val="3405368746"/>
      </p:ext>
    </p:extLst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4"/>
          <p:cNvSpPr txBox="1"/>
          <p:nvPr/>
        </p:nvSpPr>
        <p:spPr>
          <a:xfrm>
            <a:off x="3847521" y="3030942"/>
            <a:ext cx="8049408" cy="398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99"/>
              </a:lnSpc>
            </a:pPr>
            <a:r>
              <a:rPr lang="en-US" sz="2666" b="1">
                <a:solidFill>
                  <a:srgbClr val="252525"/>
                </a:solidFill>
                <a:latin typeface="Now Bold"/>
                <a:ea typeface="Now Bold"/>
                <a:cs typeface="Now Bold"/>
                <a:sym typeface="Now Bold"/>
              </a:rPr>
              <a:t>PRIVACIDAD Y SEGURIDAD</a:t>
            </a:r>
          </a:p>
        </p:txBody>
      </p:sp>
    </p:spTree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080FE-5B36-27E7-66FF-917CF8293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84742654-C0DA-AEDE-9A35-74A12EF4FA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C8636DA-9441-117F-C062-E406B7FF00F8}"/>
              </a:ext>
            </a:extLst>
          </p:cNvPr>
          <p:cNvSpPr txBox="1"/>
          <p:nvPr/>
        </p:nvSpPr>
        <p:spPr>
          <a:xfrm>
            <a:off x="1809427" y="1825079"/>
            <a:ext cx="121919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799"/>
              </a:lnSpc>
            </a:pPr>
            <a:r>
              <a:rPr lang="en-US" sz="4400" b="1">
                <a:solidFill>
                  <a:srgbClr val="252525"/>
                </a:solidFill>
                <a:latin typeface="Now Bold"/>
                <a:ea typeface="Now Bold"/>
                <a:cs typeface="Now Bold"/>
                <a:sym typeface="Now Bold"/>
              </a:rPr>
              <a:t>INNOVACIÓN, </a:t>
            </a:r>
          </a:p>
          <a:p>
            <a:pPr>
              <a:lnSpc>
                <a:spcPts val="4799"/>
              </a:lnSpc>
            </a:pPr>
            <a:r>
              <a:rPr lang="en-US" sz="4400" b="1">
                <a:solidFill>
                  <a:srgbClr val="252525"/>
                </a:solidFill>
                <a:latin typeface="Now Bold"/>
                <a:ea typeface="Now Bold"/>
                <a:cs typeface="Now Bold"/>
                <a:sym typeface="Now Bold"/>
              </a:rPr>
              <a:t>FACTIBILIDAD Y VIABILIDAD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53B093F7-BB59-53A1-469D-8C7CE85A6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PROYECTO “NOMBRE DEL PROYECTO”</a:t>
            </a:r>
          </a:p>
        </p:txBody>
      </p:sp>
    </p:spTree>
    <p:extLst>
      <p:ext uri="{BB962C8B-B14F-4D97-AF65-F5344CB8AC3E}">
        <p14:creationId xmlns:p14="http://schemas.microsoft.com/office/powerpoint/2010/main" val="2335733073"/>
      </p:ext>
    </p:extLst>
  </p:cSld>
  <p:clrMapOvr>
    <a:masterClrMapping/>
  </p:clrMapOvr>
  <p:transition spd="slow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/>
              <a:t>Obstáculos presentados durante el desarrollo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2CFF888F-F7AD-B91E-00EE-7F90F19F8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PROYECTO “NOMBRE DEL PROYECTO”</a:t>
            </a:r>
          </a:p>
        </p:txBody>
      </p:sp>
    </p:spTree>
    <p:extLst>
      <p:ext uri="{BB962C8B-B14F-4D97-AF65-F5344CB8AC3E}">
        <p14:creationId xmlns:p14="http://schemas.microsoft.com/office/powerpoint/2010/main" val="1266268508"/>
      </p:ext>
    </p:extLst>
  </p:cSld>
  <p:clrMapOvr>
    <a:masterClrMapping/>
  </p:clrMapOvr>
  <p:transition spd="slow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7E6FF-0E2F-3EBF-4EEB-8BEE5633F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1C030713-5193-4193-6831-38D1064B4C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3734F2E2-DF9C-43D5-BCDC-72EB6562D0FB}"/>
              </a:ext>
            </a:extLst>
          </p:cNvPr>
          <p:cNvSpPr txBox="1"/>
          <p:nvPr/>
        </p:nvSpPr>
        <p:spPr>
          <a:xfrm>
            <a:off x="1809427" y="1825079"/>
            <a:ext cx="121919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799"/>
              </a:lnSpc>
            </a:pPr>
            <a:r>
              <a:rPr lang="en-US" sz="4400" b="1">
                <a:solidFill>
                  <a:srgbClr val="252525"/>
                </a:solidFill>
                <a:latin typeface="Now Bold"/>
                <a:ea typeface="Now Bold"/>
                <a:cs typeface="Now Bold"/>
                <a:sym typeface="Now Bold"/>
              </a:rPr>
              <a:t>APORTES Y BENEFICIOS</a:t>
            </a:r>
          </a:p>
          <a:p>
            <a:pPr>
              <a:lnSpc>
                <a:spcPts val="4799"/>
              </a:lnSpc>
            </a:pPr>
            <a:endParaRPr lang="en-US" sz="4400" b="1">
              <a:solidFill>
                <a:srgbClr val="252525"/>
              </a:solidFill>
              <a:latin typeface="Now Bold"/>
              <a:ea typeface="Now Bold"/>
              <a:cs typeface="Now Bold"/>
              <a:sym typeface="Now Bold"/>
            </a:endParaRP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5DBFFA7E-C42A-9A48-F0A4-827762D57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PROYECTO “NOMBRE DEL PROYECTO”</a:t>
            </a:r>
          </a:p>
        </p:txBody>
      </p:sp>
    </p:spTree>
    <p:extLst>
      <p:ext uri="{BB962C8B-B14F-4D97-AF65-F5344CB8AC3E}">
        <p14:creationId xmlns:p14="http://schemas.microsoft.com/office/powerpoint/2010/main" val="315149576"/>
      </p:ext>
    </p:extLst>
  </p:cSld>
  <p:clrMapOvr>
    <a:masterClrMapping/>
  </p:clrMapOvr>
  <p:transition spd="slow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5FB51-F87D-FF3C-7385-348E847DA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7">
            <a:extLst>
              <a:ext uri="{FF2B5EF4-FFF2-40B4-BE49-F238E27FC236}">
                <a16:creationId xmlns:a16="http://schemas.microsoft.com/office/drawing/2014/main" id="{1E8D6BCD-4A94-5CB2-5AFA-6C51F754ADEA}"/>
              </a:ext>
            </a:extLst>
          </p:cNvPr>
          <p:cNvSpPr txBox="1"/>
          <p:nvPr/>
        </p:nvSpPr>
        <p:spPr>
          <a:xfrm>
            <a:off x="1102133" y="1066567"/>
            <a:ext cx="7425583" cy="646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94"/>
              </a:lnSpc>
            </a:pPr>
            <a:r>
              <a:rPr lang="en-US" sz="3200" b="1" err="1">
                <a:solidFill>
                  <a:srgbClr val="001D5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Modelo</a:t>
            </a:r>
            <a:r>
              <a:rPr lang="en-US" sz="3200" b="1">
                <a:solidFill>
                  <a:srgbClr val="001D5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de </a:t>
            </a:r>
            <a:r>
              <a:rPr lang="en-US" sz="3200" b="1" err="1">
                <a:solidFill>
                  <a:srgbClr val="001D5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Sustentabilidad</a:t>
            </a:r>
            <a:endParaRPr lang="en-US" sz="3200" b="1">
              <a:solidFill>
                <a:srgbClr val="001D54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2A1D4EE-9B33-CB12-C865-3CD610A40569}"/>
              </a:ext>
            </a:extLst>
          </p:cNvPr>
          <p:cNvSpPr txBox="1"/>
          <p:nvPr/>
        </p:nvSpPr>
        <p:spPr>
          <a:xfrm>
            <a:off x="609600" y="1803400"/>
            <a:ext cx="9550400" cy="2175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67" i="1" dirty="0">
                <a:solidFill>
                  <a:schemeClr val="bg1">
                    <a:lumMod val="65000"/>
                  </a:schemeClr>
                </a:solidFill>
              </a:rPr>
              <a:t>(Favor elimine este texto al desarrollar su presentación)</a:t>
            </a:r>
          </a:p>
          <a:p>
            <a:pPr algn="just"/>
            <a:endParaRPr lang="es-ES" sz="1667" dirty="0"/>
          </a:p>
          <a:p>
            <a:pPr algn="just"/>
            <a:r>
              <a:rPr lang="es-ES" sz="1667" b="1" u="sng" dirty="0"/>
              <a:t>NOTA: </a:t>
            </a:r>
            <a:r>
              <a:rPr lang="es-ES" sz="1667" dirty="0"/>
              <a:t>Explicar cómo el proyecto puede mantenerse en el tiempo. Ejemplos: continuidad en la empresa, apoyo institucional, comunidad activa, escalabilidad futura. El mensaje clave es demostrar que el proyecto no termina con el curso, sino que tiene proyección.</a:t>
            </a:r>
          </a:p>
          <a:p>
            <a:pPr algn="just"/>
            <a:br>
              <a:rPr lang="es-ES" sz="1667" dirty="0"/>
            </a:br>
            <a:br>
              <a:rPr lang="es-ES" sz="1667" dirty="0"/>
            </a:br>
            <a:r>
              <a:rPr lang="es-ES" sz="1667" b="1" dirty="0">
                <a:solidFill>
                  <a:srgbClr val="FF0000"/>
                </a:solidFill>
              </a:rPr>
              <a:t>DURACIÓN: 1 MINUTO</a:t>
            </a:r>
            <a:endParaRPr lang="es-ES" sz="1667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2478310"/>
      </p:ext>
    </p:extLst>
  </p:cSld>
  <p:clrMapOvr>
    <a:masterClrMapping/>
  </p:clrMapOvr>
  <p:transition spd="slow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68F8C-AE5E-A25B-04CC-CE0796952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7">
            <a:extLst>
              <a:ext uri="{FF2B5EF4-FFF2-40B4-BE49-F238E27FC236}">
                <a16:creationId xmlns:a16="http://schemas.microsoft.com/office/drawing/2014/main" id="{B2E0E426-A6AD-3BB4-073B-1F0B53652C2A}"/>
              </a:ext>
            </a:extLst>
          </p:cNvPr>
          <p:cNvSpPr txBox="1"/>
          <p:nvPr/>
        </p:nvSpPr>
        <p:spPr>
          <a:xfrm>
            <a:off x="813375" y="934220"/>
            <a:ext cx="7425583" cy="646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94"/>
              </a:lnSpc>
            </a:pPr>
            <a:r>
              <a:rPr lang="en-US" sz="3200" b="1" err="1">
                <a:solidFill>
                  <a:srgbClr val="001D5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Modelo</a:t>
            </a:r>
            <a:r>
              <a:rPr lang="en-US" sz="3200" b="1">
                <a:solidFill>
                  <a:srgbClr val="001D5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de </a:t>
            </a:r>
            <a:r>
              <a:rPr lang="en-US" sz="3200" b="1" err="1">
                <a:solidFill>
                  <a:srgbClr val="001D5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Negocio</a:t>
            </a:r>
            <a:endParaRPr lang="en-US" sz="3200" b="1">
              <a:solidFill>
                <a:srgbClr val="001D54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A5B5B13-1E2B-36B3-B3BE-1D06D44E017D}"/>
              </a:ext>
            </a:extLst>
          </p:cNvPr>
          <p:cNvSpPr txBox="1"/>
          <p:nvPr/>
        </p:nvSpPr>
        <p:spPr>
          <a:xfrm>
            <a:off x="609600" y="1803400"/>
            <a:ext cx="9550400" cy="1918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67" i="1">
                <a:solidFill>
                  <a:schemeClr val="bg1">
                    <a:lumMod val="65000"/>
                  </a:schemeClr>
                </a:solidFill>
              </a:rPr>
              <a:t>(Favor elimine este texto al desarrollar su presentación)</a:t>
            </a:r>
          </a:p>
          <a:p>
            <a:pPr algn="just"/>
            <a:endParaRPr lang="es-ES" sz="1667"/>
          </a:p>
          <a:p>
            <a:pPr algn="just"/>
            <a:r>
              <a:rPr lang="es-ES" sz="1667" b="1" u="sng"/>
              <a:t>NOTA: </a:t>
            </a:r>
            <a:r>
              <a:rPr lang="es-ES" sz="1667"/>
              <a:t>Responder de manera simple:¿Qué es el proyecto y cómo se diferencia?¿Para quién está hecho?¿Cómo entrega valor?¿Qué costos/ahorros/generación de valor produce? Puede apoyarse en un mini esquema de modelo </a:t>
            </a:r>
            <a:r>
              <a:rPr lang="es-ES" sz="1667" err="1"/>
              <a:t>Canvas</a:t>
            </a:r>
            <a:r>
              <a:rPr lang="es-ES" sz="1667"/>
              <a:t> simplificado.</a:t>
            </a:r>
          </a:p>
          <a:p>
            <a:pPr algn="just"/>
            <a:endParaRPr lang="es-ES" sz="1667" i="1"/>
          </a:p>
          <a:p>
            <a:pPr algn="just"/>
            <a:r>
              <a:rPr lang="es-ES" sz="1667" b="1">
                <a:solidFill>
                  <a:srgbClr val="FF0000"/>
                </a:solidFill>
              </a:rPr>
              <a:t>DURACIÓN: 1 MINUTO APROX.</a:t>
            </a:r>
            <a:endParaRPr lang="es-ES" sz="1667" i="1"/>
          </a:p>
        </p:txBody>
      </p:sp>
    </p:spTree>
    <p:extLst>
      <p:ext uri="{BB962C8B-B14F-4D97-AF65-F5344CB8AC3E}">
        <p14:creationId xmlns:p14="http://schemas.microsoft.com/office/powerpoint/2010/main" val="3712313757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07de38-6240-49aa-a18d-3d687e12b195">
      <Terms xmlns="http://schemas.microsoft.com/office/infopath/2007/PartnerControls"/>
    </lcf76f155ced4ddcb4097134ff3c332f>
    <TaxCatchAll xmlns="76d44502-01ec-4767-9a78-33267ae0588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5ED6F46882F47419E8EA90B7B52D56C" ma:contentTypeVersion="11" ma:contentTypeDescription="Crear nuevo documento." ma:contentTypeScope="" ma:versionID="10e1f1c393bdce134fa782f550805e9d">
  <xsd:schema xmlns:xsd="http://www.w3.org/2001/XMLSchema" xmlns:xs="http://www.w3.org/2001/XMLSchema" xmlns:p="http://schemas.microsoft.com/office/2006/metadata/properties" xmlns:ns2="e207de38-6240-49aa-a18d-3d687e12b195" xmlns:ns3="76d44502-01ec-4767-9a78-33267ae0588f" targetNamespace="http://schemas.microsoft.com/office/2006/metadata/properties" ma:root="true" ma:fieldsID="27d443b6348fe2c3196b54c0d2566859" ns2:_="" ns3:_="">
    <xsd:import namespace="e207de38-6240-49aa-a18d-3d687e12b195"/>
    <xsd:import namespace="76d44502-01ec-4767-9a78-33267ae058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07de38-6240-49aa-a18d-3d687e12b1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Etiquetas de imagen" ma:readOnly="false" ma:fieldId="{5cf76f15-5ced-4ddc-b409-7134ff3c332f}" ma:taxonomyMulti="true" ma:sspId="e2f773bf-f00b-42a6-8b07-050935be226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d44502-01ec-4767-9a78-33267ae0588f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dd5ee15-c2f8-4f17-94c5-c09ac0bfc6ae}" ma:internalName="TaxCatchAll" ma:showField="CatchAllData" ma:web="76d44502-01ec-4767-9a78-33267ae0588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3B41038-42F1-4CC4-8B79-6C70AEFF24AE}">
  <ds:schemaRefs>
    <ds:schemaRef ds:uri="76d44502-01ec-4767-9a78-33267ae0588f"/>
    <ds:schemaRef ds:uri="e207de38-6240-49aa-a18d-3d687e12b19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374F7F8-6426-4C14-8F30-DE1C9808906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C77C354-8890-401F-947C-9D07AC3CA284}">
  <ds:schemaRefs>
    <ds:schemaRef ds:uri="76d44502-01ec-4767-9a78-33267ae0588f"/>
    <ds:schemaRef ds:uri="e207de38-6240-49aa-a18d-3d687e12b19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7544</TotalTime>
  <Words>1252</Words>
  <Application>Microsoft Office PowerPoint</Application>
  <PresentationFormat>Panorámica</PresentationFormat>
  <Paragraphs>218</Paragraphs>
  <Slides>34</Slides>
  <Notes>8</Notes>
  <HiddenSlides>3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34</vt:i4>
      </vt:variant>
    </vt:vector>
  </HeadingPairs>
  <TitlesOfParts>
    <vt:vector size="43" baseType="lpstr">
      <vt:lpstr>Aptos</vt:lpstr>
      <vt:lpstr>Arial</vt:lpstr>
      <vt:lpstr>Calibri</vt:lpstr>
      <vt:lpstr>Calibri Light</vt:lpstr>
      <vt:lpstr>Courier New</vt:lpstr>
      <vt:lpstr>Dreaming Outloud Pro</vt:lpstr>
      <vt:lpstr>HK Grotesk Bold</vt:lpstr>
      <vt:lpstr>Now Bold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Gerardo Galan Cruz</dc:creator>
  <cp:lastModifiedBy>Mario Garrido</cp:lastModifiedBy>
  <cp:revision>32</cp:revision>
  <dcterms:created xsi:type="dcterms:W3CDTF">2023-10-28T21:12:11Z</dcterms:created>
  <dcterms:modified xsi:type="dcterms:W3CDTF">2025-11-27T21:55:08Z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0x01010015ED6F46882F47419E8EA90B7B52D56C</vt:lpwstr>
  </property>
  <property fmtid="{D5CDD505-2E9C-101B-9397-08002B2CF9AE}" pid="3" name="MediaServiceImageTags">
    <vt:lpwstr/>
  </property>
</Properties>
</file>